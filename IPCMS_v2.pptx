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120640" cy="6858000"/>
          </a:xfrm>
          <a:prstGeom prst="rect">
            <a:avLst/>
          </a:prstGeom>
          <a:solidFill>
            <a:srgbClr val="0E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80160" y="4754880"/>
            <a:ext cx="2926080" cy="292608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108960" y="-1097280"/>
            <a:ext cx="2377440" cy="2377440"/>
          </a:xfrm>
          <a:prstGeom prst="rect">
            <a:avLst/>
          </a:prstGeom>
          <a:solidFill>
            <a:srgbClr val="06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457200"/>
            <a:ext cx="2286000" cy="347472"/>
          </a:xfrm>
          <a:prstGeom prst="roundRect">
            <a:avLst>
              <a:gd name="adj" fmla="val 50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57200"/>
            <a:ext cx="2286000" cy="347472"/>
          </a:xfrm>
          <a:prstGeom prst="rect">
            <a:avLst/>
          </a:prstGeom>
          <a:noFill/>
        </p:spPr>
        <p:txBody>
          <a:bodyPr wrap="square" lIns="36000" rIns="36000" tIns="18000" bIns="18000" anchor="ctr">
            <a:spAutoFit/>
          </a:bodyPr>
          <a:lstStyle/>
          <a:p>
            <a:pPr algn="ctr">
              <a:lnSpc>
                <a:spcPct val="120000"/>
              </a:lnSpc>
            </a:pPr>
            <a:r>
              <a:rPr sz="950" b="1" i="0">
                <a:solidFill>
                  <a:srgbClr val="0F172A"/>
                </a:solidFill>
                <a:latin typeface="Calibri"/>
              </a:rPr>
              <a:t>AI  •  HEALTHCARE  •  PYTHON</a:t>
            </a:r>
          </a:p>
        </p:txBody>
      </p:sp>
      <p:sp>
        <p:nvSpPr>
          <p:cNvPr id="8" name="TextBox 7"/>
          <p:cNvSpPr txBox="1"/>
          <p:nvPr/>
        </p:nvSpPr>
        <p:spPr>
          <a:xfrm>
            <a:off x="548640" y="960120"/>
            <a:ext cx="2286000" cy="274320"/>
          </a:xfrm>
          <a:prstGeom prst="rect">
            <a:avLst/>
          </a:prstGeom>
          <a:noFill/>
        </p:spPr>
        <p:txBody>
          <a:bodyPr wrap="square" lIns="36000" rIns="36000" tIns="18000" bIns="18000" anchor="t">
            <a:spAutoFit/>
          </a:bodyPr>
          <a:lstStyle/>
          <a:p>
            <a:pPr algn="l">
              <a:lnSpc>
                <a:spcPct val="120000"/>
              </a:lnSpc>
            </a:pPr>
            <a:r>
              <a:rPr sz="1100" b="1" i="0">
                <a:solidFill>
                  <a:srgbClr val="14B8A6"/>
                </a:solidFill>
                <a:latin typeface="Calibri"/>
              </a:rPr>
              <a:t>PROJECT SHOWCASE</a:t>
            </a:r>
          </a:p>
        </p:txBody>
      </p:sp>
      <p:sp>
        <p:nvSpPr>
          <p:cNvPr id="9" name="TextBox 8"/>
          <p:cNvSpPr txBox="1"/>
          <p:nvPr/>
        </p:nvSpPr>
        <p:spPr>
          <a:xfrm>
            <a:off x="3017520" y="960120"/>
            <a:ext cx="1828800" cy="274320"/>
          </a:xfrm>
          <a:prstGeom prst="rect">
            <a:avLst/>
          </a:prstGeom>
          <a:noFill/>
        </p:spPr>
        <p:txBody>
          <a:bodyPr wrap="square" lIns="36000" rIns="36000" tIns="18000" bIns="18000" anchor="t">
            <a:spAutoFit/>
          </a:bodyPr>
          <a:lstStyle/>
          <a:p>
            <a:pPr algn="r">
              <a:lnSpc>
                <a:spcPct val="120000"/>
              </a:lnSpc>
            </a:pPr>
            <a:r>
              <a:rPr sz="1100" b="0" i="1">
                <a:solidFill>
                  <a:srgbClr val="CCFBF1"/>
                </a:solidFill>
                <a:latin typeface="Calibri"/>
              </a:rPr>
              <a:t>v1.0 · 2026</a:t>
            </a:r>
          </a:p>
        </p:txBody>
      </p:sp>
      <p:sp>
        <p:nvSpPr>
          <p:cNvPr id="10" name="TextBox 9"/>
          <p:cNvSpPr txBox="1"/>
          <p:nvPr/>
        </p:nvSpPr>
        <p:spPr>
          <a:xfrm>
            <a:off x="548640" y="1371600"/>
            <a:ext cx="4572000" cy="457200"/>
          </a:xfrm>
          <a:prstGeom prst="rect">
            <a:avLst/>
          </a:prstGeom>
          <a:noFill/>
        </p:spPr>
        <p:txBody>
          <a:bodyPr wrap="square" lIns="36000" rIns="36000" tIns="18000" bIns="18000" anchor="t">
            <a:spAutoFit/>
          </a:bodyPr>
          <a:lstStyle/>
          <a:p>
            <a:pPr algn="l">
              <a:lnSpc>
                <a:spcPct val="100000"/>
              </a:lnSpc>
            </a:pPr>
            <a:r>
              <a:rPr sz="3200" b="1" i="0">
                <a:solidFill>
                  <a:srgbClr val="FFFFFF"/>
                </a:solidFill>
                <a:latin typeface="Calibri"/>
              </a:rPr>
              <a:t>Integrated Patient</a:t>
            </a:r>
          </a:p>
        </p:txBody>
      </p:sp>
      <p:sp>
        <p:nvSpPr>
          <p:cNvPr id="11" name="TextBox 10"/>
          <p:cNvSpPr txBox="1"/>
          <p:nvPr/>
        </p:nvSpPr>
        <p:spPr>
          <a:xfrm>
            <a:off x="548640" y="1965960"/>
            <a:ext cx="4572000" cy="457200"/>
          </a:xfrm>
          <a:prstGeom prst="rect">
            <a:avLst/>
          </a:prstGeom>
          <a:noFill/>
        </p:spPr>
        <p:txBody>
          <a:bodyPr wrap="square" lIns="36000" rIns="36000" tIns="18000" bIns="18000" anchor="t">
            <a:spAutoFit/>
          </a:bodyPr>
          <a:lstStyle/>
          <a:p>
            <a:pPr algn="l">
              <a:lnSpc>
                <a:spcPct val="100000"/>
              </a:lnSpc>
            </a:pPr>
            <a:r>
              <a:rPr sz="3200" b="1" i="0">
                <a:solidFill>
                  <a:srgbClr val="FFFFFF"/>
                </a:solidFill>
                <a:latin typeface="Calibri"/>
              </a:rPr>
              <a:t>Care Management</a:t>
            </a:r>
          </a:p>
        </p:txBody>
      </p:sp>
      <p:sp>
        <p:nvSpPr>
          <p:cNvPr id="12" name="TextBox 11"/>
          <p:cNvSpPr txBox="1"/>
          <p:nvPr/>
        </p:nvSpPr>
        <p:spPr>
          <a:xfrm>
            <a:off x="548640" y="2560320"/>
            <a:ext cx="4572000" cy="457200"/>
          </a:xfrm>
          <a:prstGeom prst="rect">
            <a:avLst/>
          </a:prstGeom>
          <a:noFill/>
        </p:spPr>
        <p:txBody>
          <a:bodyPr wrap="square" lIns="36000" rIns="36000" tIns="18000" bIns="18000" anchor="t">
            <a:spAutoFit/>
          </a:bodyPr>
          <a:lstStyle/>
          <a:p>
            <a:pPr algn="l">
              <a:lnSpc>
                <a:spcPct val="100000"/>
              </a:lnSpc>
            </a:pPr>
            <a:r>
              <a:rPr sz="3200" b="1" i="0">
                <a:solidFill>
                  <a:srgbClr val="14B8A6"/>
                </a:solidFill>
                <a:latin typeface="Calibri"/>
              </a:rPr>
              <a:t>System</a:t>
            </a:r>
          </a:p>
        </p:txBody>
      </p:sp>
      <p:cxnSp>
        <p:nvCxnSpPr>
          <p:cNvPr id="13" name="Connector 12"/>
          <p:cNvCxnSpPr/>
          <p:nvPr/>
        </p:nvCxnSpPr>
        <p:spPr>
          <a:xfrm>
            <a:off x="548640" y="3246120"/>
            <a:ext cx="2743200" cy="0"/>
          </a:xfrm>
          <a:prstGeom prst="line">
            <a:avLst/>
          </a:prstGeom>
          <a:ln w="31750">
            <a:solidFill>
              <a:srgbClr val="14B8A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8640" y="3383280"/>
            <a:ext cx="4572000" cy="365760"/>
          </a:xfrm>
          <a:prstGeom prst="rect">
            <a:avLst/>
          </a:prstGeom>
          <a:noFill/>
        </p:spPr>
        <p:txBody>
          <a:bodyPr wrap="square" lIns="36000" rIns="36000" tIns="18000" bIns="18000" anchor="t">
            <a:spAutoFit/>
          </a:bodyPr>
          <a:lstStyle/>
          <a:p>
            <a:pPr algn="l">
              <a:lnSpc>
                <a:spcPct val="120000"/>
              </a:lnSpc>
            </a:pPr>
            <a:r>
              <a:rPr sz="1200" b="0" i="1">
                <a:solidFill>
                  <a:srgbClr val="CCFBF1"/>
                </a:solidFill>
                <a:latin typeface="Calibri"/>
              </a:rPr>
              <a:t>IPCMS · Where AI meets everyday clinical care</a:t>
            </a:r>
          </a:p>
        </p:txBody>
      </p:sp>
      <p:sp>
        <p:nvSpPr>
          <p:cNvPr id="15" name="Rounded Rectangle 14"/>
          <p:cNvSpPr/>
          <p:nvPr/>
        </p:nvSpPr>
        <p:spPr>
          <a:xfrm>
            <a:off x="548640" y="4114800"/>
            <a:ext cx="1417320" cy="1051560"/>
          </a:xfrm>
          <a:prstGeom prst="roundRect">
            <a:avLst>
              <a:gd name="adj" fmla="val 12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206240"/>
            <a:ext cx="1417320" cy="502920"/>
          </a:xfrm>
          <a:prstGeom prst="rect">
            <a:avLst/>
          </a:prstGeom>
          <a:noFill/>
        </p:spPr>
        <p:txBody>
          <a:bodyPr wrap="square" lIns="36000" rIns="36000" tIns="18000" bIns="18000" anchor="ctr">
            <a:spAutoFit/>
          </a:bodyPr>
          <a:lstStyle/>
          <a:p>
            <a:pPr algn="ctr">
              <a:lnSpc>
                <a:spcPct val="120000"/>
              </a:lnSpc>
            </a:pPr>
            <a:r>
              <a:rPr sz="2200" b="1" i="0">
                <a:solidFill>
                  <a:srgbClr val="0F172A"/>
                </a:solidFill>
                <a:latin typeface="Calibri"/>
              </a:rPr>
              <a:t>3</a:t>
            </a:r>
          </a:p>
        </p:txBody>
      </p:sp>
      <p:sp>
        <p:nvSpPr>
          <p:cNvPr id="17" name="TextBox 16"/>
          <p:cNvSpPr txBox="1"/>
          <p:nvPr/>
        </p:nvSpPr>
        <p:spPr>
          <a:xfrm>
            <a:off x="548640" y="4681728"/>
            <a:ext cx="1417320" cy="457200"/>
          </a:xfrm>
          <a:prstGeom prst="rect">
            <a:avLst/>
          </a:prstGeom>
          <a:noFill/>
        </p:spPr>
        <p:txBody>
          <a:bodyPr wrap="square" lIns="36000" rIns="36000" tIns="18000" bIns="18000" anchor="t">
            <a:spAutoFit/>
          </a:bodyPr>
          <a:lstStyle/>
          <a:p>
            <a:pPr algn="ctr">
              <a:lnSpc>
                <a:spcPct val="110000"/>
              </a:lnSpc>
            </a:pPr>
            <a:r>
              <a:rPr sz="900" b="0" i="0">
                <a:solidFill>
                  <a:srgbClr val="0F172A"/>
                </a:solidFill>
                <a:latin typeface="Calibri"/>
              </a:rPr>
              <a:t>role-aware</a:t>
            </a:r>
          </a:p>
          <a:p>
            <a:pPr algn="ctr">
              <a:lnSpc>
                <a:spcPct val="110000"/>
              </a:lnSpc>
            </a:pPr>
            <a:r>
              <a:rPr sz="900" b="0" i="0">
                <a:solidFill>
                  <a:srgbClr val="0F172A"/>
                </a:solidFill>
                <a:latin typeface="Calibri"/>
              </a:rPr>
              <a:t>dashboards</a:t>
            </a:r>
          </a:p>
        </p:txBody>
      </p:sp>
      <p:sp>
        <p:nvSpPr>
          <p:cNvPr id="18" name="Rounded Rectangle 17"/>
          <p:cNvSpPr/>
          <p:nvPr/>
        </p:nvSpPr>
        <p:spPr>
          <a:xfrm>
            <a:off x="2103120" y="4114800"/>
            <a:ext cx="1417320" cy="1051560"/>
          </a:xfrm>
          <a:prstGeom prst="roundRect">
            <a:avLst>
              <a:gd name="adj" fmla="val 12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03120" y="4206240"/>
            <a:ext cx="1417320" cy="502920"/>
          </a:xfrm>
          <a:prstGeom prst="rect">
            <a:avLst/>
          </a:prstGeom>
          <a:noFill/>
        </p:spPr>
        <p:txBody>
          <a:bodyPr wrap="square" lIns="36000" rIns="36000" tIns="18000" bIns="18000" anchor="ctr">
            <a:spAutoFit/>
          </a:bodyPr>
          <a:lstStyle/>
          <a:p>
            <a:pPr algn="ctr">
              <a:lnSpc>
                <a:spcPct val="120000"/>
              </a:lnSpc>
            </a:pPr>
            <a:r>
              <a:rPr sz="2200" b="1" i="0">
                <a:solidFill>
                  <a:srgbClr val="0F172A"/>
                </a:solidFill>
                <a:latin typeface="Calibri"/>
              </a:rPr>
              <a:t>4</a:t>
            </a:r>
          </a:p>
        </p:txBody>
      </p:sp>
      <p:sp>
        <p:nvSpPr>
          <p:cNvPr id="20" name="TextBox 19"/>
          <p:cNvSpPr txBox="1"/>
          <p:nvPr/>
        </p:nvSpPr>
        <p:spPr>
          <a:xfrm>
            <a:off x="2103120" y="4681728"/>
            <a:ext cx="1417320" cy="457200"/>
          </a:xfrm>
          <a:prstGeom prst="rect">
            <a:avLst/>
          </a:prstGeom>
          <a:noFill/>
        </p:spPr>
        <p:txBody>
          <a:bodyPr wrap="square" lIns="36000" rIns="36000" tIns="18000" bIns="18000" anchor="t">
            <a:spAutoFit/>
          </a:bodyPr>
          <a:lstStyle/>
          <a:p>
            <a:pPr algn="ctr">
              <a:lnSpc>
                <a:spcPct val="110000"/>
              </a:lnSpc>
            </a:pPr>
            <a:r>
              <a:rPr sz="900" b="0" i="0">
                <a:solidFill>
                  <a:srgbClr val="0F172A"/>
                </a:solidFill>
                <a:latin typeface="Calibri"/>
              </a:rPr>
              <a:t>AI features</a:t>
            </a:r>
          </a:p>
          <a:p>
            <a:pPr algn="ctr">
              <a:lnSpc>
                <a:spcPct val="110000"/>
              </a:lnSpc>
            </a:pPr>
            <a:r>
              <a:rPr sz="900" b="0" i="0">
                <a:solidFill>
                  <a:srgbClr val="0F172A"/>
                </a:solidFill>
                <a:latin typeface="Calibri"/>
              </a:rPr>
              <a:t>built in</a:t>
            </a:r>
          </a:p>
        </p:txBody>
      </p:sp>
      <p:sp>
        <p:nvSpPr>
          <p:cNvPr id="21" name="Rounded Rectangle 20"/>
          <p:cNvSpPr/>
          <p:nvPr/>
        </p:nvSpPr>
        <p:spPr>
          <a:xfrm>
            <a:off x="3657600" y="4114800"/>
            <a:ext cx="1417320" cy="1051560"/>
          </a:xfrm>
          <a:prstGeom prst="roundRect">
            <a:avLst>
              <a:gd name="adj" fmla="val 12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0" y="4206240"/>
            <a:ext cx="1417320" cy="502920"/>
          </a:xfrm>
          <a:prstGeom prst="rect">
            <a:avLst/>
          </a:prstGeom>
          <a:noFill/>
        </p:spPr>
        <p:txBody>
          <a:bodyPr wrap="square" lIns="36000" rIns="36000" tIns="18000" bIns="18000" anchor="ctr">
            <a:spAutoFit/>
          </a:bodyPr>
          <a:lstStyle/>
          <a:p>
            <a:pPr algn="ctr">
              <a:lnSpc>
                <a:spcPct val="120000"/>
              </a:lnSpc>
            </a:pPr>
            <a:r>
              <a:rPr sz="2200" b="1" i="0">
                <a:solidFill>
                  <a:srgbClr val="0F172A"/>
                </a:solidFill>
                <a:latin typeface="Calibri"/>
              </a:rPr>
              <a:t>20+</a:t>
            </a:r>
          </a:p>
        </p:txBody>
      </p:sp>
      <p:sp>
        <p:nvSpPr>
          <p:cNvPr id="23" name="TextBox 22"/>
          <p:cNvSpPr txBox="1"/>
          <p:nvPr/>
        </p:nvSpPr>
        <p:spPr>
          <a:xfrm>
            <a:off x="3657600" y="4681728"/>
            <a:ext cx="1417320" cy="457200"/>
          </a:xfrm>
          <a:prstGeom prst="rect">
            <a:avLst/>
          </a:prstGeom>
          <a:noFill/>
        </p:spPr>
        <p:txBody>
          <a:bodyPr wrap="square" lIns="36000" rIns="36000" tIns="18000" bIns="18000" anchor="t">
            <a:spAutoFit/>
          </a:bodyPr>
          <a:lstStyle/>
          <a:p>
            <a:pPr algn="ctr">
              <a:lnSpc>
                <a:spcPct val="110000"/>
              </a:lnSpc>
            </a:pPr>
            <a:r>
              <a:rPr sz="900" b="0" i="0">
                <a:solidFill>
                  <a:srgbClr val="0F172A"/>
                </a:solidFill>
                <a:latin typeface="Calibri"/>
              </a:rPr>
              <a:t>libraries</a:t>
            </a:r>
          </a:p>
          <a:p>
            <a:pPr algn="ctr">
              <a:lnSpc>
                <a:spcPct val="110000"/>
              </a:lnSpc>
            </a:pPr>
            <a:r>
              <a:rPr sz="900" b="0" i="0">
                <a:solidFill>
                  <a:srgbClr val="0F172A"/>
                </a:solidFill>
                <a:latin typeface="Calibri"/>
              </a:rPr>
              <a:t>documented</a:t>
            </a:r>
          </a:p>
        </p:txBody>
      </p:sp>
      <p:sp>
        <p:nvSpPr>
          <p:cNvPr id="24" name="TextBox 23"/>
          <p:cNvSpPr txBox="1"/>
          <p:nvPr/>
        </p:nvSpPr>
        <p:spPr>
          <a:xfrm>
            <a:off x="548640" y="5532120"/>
            <a:ext cx="4572000" cy="228600"/>
          </a:xfrm>
          <a:prstGeom prst="rect">
            <a:avLst/>
          </a:prstGeom>
          <a:noFill/>
        </p:spPr>
        <p:txBody>
          <a:bodyPr wrap="square" lIns="36000" rIns="36000" tIns="18000" bIns="18000" anchor="t">
            <a:spAutoFit/>
          </a:bodyPr>
          <a:lstStyle/>
          <a:p>
            <a:pPr algn="l">
              <a:lnSpc>
                <a:spcPct val="120000"/>
              </a:lnSpc>
            </a:pPr>
            <a:r>
              <a:rPr sz="900" b="1" i="0">
                <a:solidFill>
                  <a:srgbClr val="CCFBF1"/>
                </a:solidFill>
                <a:latin typeface="Calibri"/>
              </a:rPr>
              <a:t>BUILT BY</a:t>
            </a:r>
          </a:p>
        </p:txBody>
      </p:sp>
      <p:sp>
        <p:nvSpPr>
          <p:cNvPr id="25" name="TextBox 24"/>
          <p:cNvSpPr txBox="1"/>
          <p:nvPr/>
        </p:nvSpPr>
        <p:spPr>
          <a:xfrm>
            <a:off x="548640" y="5760720"/>
            <a:ext cx="4572000" cy="274320"/>
          </a:xfrm>
          <a:prstGeom prst="rect">
            <a:avLst/>
          </a:prstGeom>
          <a:noFill/>
        </p:spPr>
        <p:txBody>
          <a:bodyPr wrap="square" lIns="36000" rIns="36000" tIns="18000" bIns="18000" anchor="t">
            <a:spAutoFit/>
          </a:bodyPr>
          <a:lstStyle/>
          <a:p>
            <a:pPr algn="l">
              <a:lnSpc>
                <a:spcPct val="120000"/>
              </a:lnSpc>
            </a:pPr>
            <a:r>
              <a:rPr sz="1300" b="1" i="0">
                <a:solidFill>
                  <a:srgbClr val="FFFFFF"/>
                </a:solidFill>
                <a:latin typeface="Calibri"/>
              </a:rPr>
              <a:t>Nikhil  •  Aug 2026</a:t>
            </a:r>
          </a:p>
        </p:txBody>
      </p:sp>
      <p:sp>
        <p:nvSpPr>
          <p:cNvPr id="26" name="TextBox 25"/>
          <p:cNvSpPr txBox="1"/>
          <p:nvPr/>
        </p:nvSpPr>
        <p:spPr>
          <a:xfrm>
            <a:off x="548640" y="6080760"/>
            <a:ext cx="4572000" cy="274320"/>
          </a:xfrm>
          <a:prstGeom prst="rect">
            <a:avLst/>
          </a:prstGeom>
          <a:noFill/>
        </p:spPr>
        <p:txBody>
          <a:bodyPr wrap="square" lIns="36000" rIns="36000" tIns="18000" bIns="18000" anchor="t">
            <a:spAutoFit/>
          </a:bodyPr>
          <a:lstStyle/>
          <a:p>
            <a:pPr algn="l">
              <a:lnSpc>
                <a:spcPct val="120000"/>
              </a:lnSpc>
            </a:pPr>
            <a:r>
              <a:rPr sz="950" b="0" i="1">
                <a:solidFill>
                  <a:srgbClr val="CCFBF1"/>
                </a:solidFill>
                <a:latin typeface="Calibri"/>
              </a:rPr>
              <a:t>Streamlit · LangChain · Groq · Gemini · MySQL</a:t>
            </a:r>
          </a:p>
        </p:txBody>
      </p:sp>
      <p:sp>
        <p:nvSpPr>
          <p:cNvPr id="27" name="Rectangle 26"/>
          <p:cNvSpPr/>
          <p:nvPr/>
        </p:nvSpPr>
        <p:spPr>
          <a:xfrm>
            <a:off x="5486400" y="457200"/>
            <a:ext cx="6400800" cy="594360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0" y="457200"/>
            <a:ext cx="6400800" cy="12801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60720" y="777240"/>
            <a:ext cx="5943600" cy="365760"/>
          </a:xfrm>
          <a:prstGeom prst="rect">
            <a:avLst/>
          </a:prstGeom>
          <a:noFill/>
        </p:spPr>
        <p:txBody>
          <a:bodyPr wrap="square" lIns="36000" rIns="36000" tIns="18000" bIns="18000" anchor="t">
            <a:spAutoFit/>
          </a:bodyPr>
          <a:lstStyle/>
          <a:p>
            <a:pPr algn="l">
              <a:lnSpc>
                <a:spcPct val="120000"/>
              </a:lnSpc>
            </a:pPr>
            <a:r>
              <a:rPr sz="1800" b="1" i="0">
                <a:solidFill>
                  <a:srgbClr val="0F172A"/>
                </a:solidFill>
                <a:latin typeface="Calibri"/>
              </a:rPr>
              <a:t>Inside this deck</a:t>
            </a:r>
          </a:p>
        </p:txBody>
      </p:sp>
      <p:sp>
        <p:nvSpPr>
          <p:cNvPr id="30" name="TextBox 29"/>
          <p:cNvSpPr txBox="1"/>
          <p:nvPr/>
        </p:nvSpPr>
        <p:spPr>
          <a:xfrm>
            <a:off x="5760720" y="1143000"/>
            <a:ext cx="5943600" cy="457200"/>
          </a:xfrm>
          <a:prstGeom prst="rect">
            <a:avLst/>
          </a:prstGeom>
          <a:noFill/>
        </p:spPr>
        <p:txBody>
          <a:bodyPr wrap="square" lIns="36000" rIns="36000" tIns="18000" bIns="18000" anchor="t">
            <a:spAutoFit/>
          </a:bodyPr>
          <a:lstStyle/>
          <a:p>
            <a:pPr algn="l">
              <a:lnSpc>
                <a:spcPct val="125000"/>
              </a:lnSpc>
            </a:pPr>
            <a:r>
              <a:rPr sz="1050" b="0" i="1">
                <a:solidFill>
                  <a:srgbClr val="64748B"/>
                </a:solidFill>
                <a:latin typeface="Calibri"/>
              </a:rPr>
              <a:t>14 slides — definitions, working, AI layers, the full library list, features, and the rough edges.</a:t>
            </a:r>
          </a:p>
        </p:txBody>
      </p:sp>
      <p:sp>
        <p:nvSpPr>
          <p:cNvPr id="31" name="Rounded Rectangle 30"/>
          <p:cNvSpPr/>
          <p:nvPr/>
        </p:nvSpPr>
        <p:spPr>
          <a:xfrm>
            <a:off x="10789920" y="777240"/>
            <a:ext cx="914400" cy="365760"/>
          </a:xfrm>
          <a:prstGeom prst="roundRect">
            <a:avLst>
              <a:gd name="adj" fmla="val 50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789920" y="777240"/>
            <a:ext cx="914400" cy="365760"/>
          </a:xfrm>
          <a:prstGeom prst="rect">
            <a:avLst/>
          </a:prstGeom>
          <a:noFill/>
        </p:spPr>
        <p:txBody>
          <a:bodyPr wrap="square" lIns="36000" rIns="36000" tIns="18000" bIns="18000" anchor="ctr">
            <a:spAutoFit/>
          </a:bodyPr>
          <a:lstStyle/>
          <a:p>
            <a:pPr algn="ctr">
              <a:lnSpc>
                <a:spcPct val="120000"/>
              </a:lnSpc>
            </a:pPr>
            <a:r>
              <a:rPr sz="1000" b="1" i="0">
                <a:solidFill>
                  <a:srgbClr val="0F172A"/>
                </a:solidFill>
                <a:latin typeface="Calibri"/>
              </a:rPr>
              <a:t>14 SLIDES</a:t>
            </a:r>
          </a:p>
        </p:txBody>
      </p:sp>
      <p:sp>
        <p:nvSpPr>
          <p:cNvPr id="33" name="Rounded Rectangle 32"/>
          <p:cNvSpPr/>
          <p:nvPr/>
        </p:nvSpPr>
        <p:spPr>
          <a:xfrm>
            <a:off x="5760720" y="1828800"/>
            <a:ext cx="1874519" cy="1051560"/>
          </a:xfrm>
          <a:prstGeom prst="roundRect">
            <a:avLst>
              <a:gd name="adj" fmla="val 15000"/>
            </a:avLst>
          </a:prstGeom>
          <a:solidFill>
            <a:srgbClr val="E0F2FE"/>
          </a:solidFill>
          <a:ln w="9525">
            <a:solidFill>
              <a:srgbClr val="0E4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97880" y="1965960"/>
            <a:ext cx="365760" cy="365760"/>
          </a:xfrm>
          <a:prstGeom prst="roundRect">
            <a:avLst>
              <a:gd name="adj" fmla="val 50000"/>
            </a:avLst>
          </a:prstGeom>
          <a:solidFill>
            <a:srgbClr val="0E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897880" y="1965960"/>
            <a:ext cx="365760" cy="365760"/>
          </a:xfrm>
          <a:prstGeom prst="rect">
            <a:avLst/>
          </a:prstGeom>
          <a:noFill/>
        </p:spPr>
        <p:txBody>
          <a:bodyPr wrap="square" lIns="36000" rIns="36000" tIns="18000" bIns="18000" anchor="ctr">
            <a:spAutoFit/>
          </a:bodyPr>
          <a:lstStyle/>
          <a:p>
            <a:pPr algn="ctr">
              <a:lnSpc>
                <a:spcPct val="120000"/>
              </a:lnSpc>
            </a:pPr>
            <a:r>
              <a:rPr sz="900" b="1" i="0">
                <a:solidFill>
                  <a:srgbClr val="FFFFFF"/>
                </a:solidFill>
                <a:latin typeface="Calibri"/>
              </a:rPr>
              <a:t>01</a:t>
            </a:r>
          </a:p>
        </p:txBody>
      </p:sp>
      <p:sp>
        <p:nvSpPr>
          <p:cNvPr id="36" name="TextBox 35"/>
          <p:cNvSpPr txBox="1"/>
          <p:nvPr/>
        </p:nvSpPr>
        <p:spPr>
          <a:xfrm>
            <a:off x="6355080" y="1965960"/>
            <a:ext cx="1234439" cy="777240"/>
          </a:xfrm>
          <a:prstGeom prst="rect">
            <a:avLst/>
          </a:prstGeom>
          <a:noFill/>
        </p:spPr>
        <p:txBody>
          <a:bodyPr wrap="square" lIns="36000" rIns="36000" tIns="18000" bIns="18000" anchor="ctr">
            <a:spAutoFit/>
          </a:bodyPr>
          <a:lstStyle/>
          <a:p>
            <a:pPr algn="l">
              <a:lnSpc>
                <a:spcPct val="120000"/>
              </a:lnSpc>
            </a:pPr>
            <a:r>
              <a:rPr sz="1100" b="1" i="0">
                <a:solidFill>
                  <a:srgbClr val="0E4F8A"/>
                </a:solidFill>
                <a:latin typeface="Calibri"/>
              </a:rPr>
              <a:t>What it is</a:t>
            </a:r>
          </a:p>
        </p:txBody>
      </p:sp>
      <p:sp>
        <p:nvSpPr>
          <p:cNvPr id="37" name="Rounded Rectangle 36"/>
          <p:cNvSpPr/>
          <p:nvPr/>
        </p:nvSpPr>
        <p:spPr>
          <a:xfrm>
            <a:off x="7772399" y="1828800"/>
            <a:ext cx="1874519" cy="1051560"/>
          </a:xfrm>
          <a:prstGeom prst="roundRect">
            <a:avLst>
              <a:gd name="adj" fmla="val 15000"/>
            </a:avLst>
          </a:prstGeom>
          <a:solidFill>
            <a:srgbClr val="E0F2FE"/>
          </a:solidFill>
          <a:ln w="9525">
            <a:solidFill>
              <a:srgbClr val="066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909559" y="1965960"/>
            <a:ext cx="365760" cy="365760"/>
          </a:xfrm>
          <a:prstGeom prst="roundRect">
            <a:avLst>
              <a:gd name="adj" fmla="val 50000"/>
            </a:avLst>
          </a:prstGeom>
          <a:solidFill>
            <a:srgbClr val="06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09559" y="1965960"/>
            <a:ext cx="365760" cy="365760"/>
          </a:xfrm>
          <a:prstGeom prst="rect">
            <a:avLst/>
          </a:prstGeom>
          <a:noFill/>
        </p:spPr>
        <p:txBody>
          <a:bodyPr wrap="square" lIns="36000" rIns="36000" tIns="18000" bIns="18000" anchor="ctr">
            <a:spAutoFit/>
          </a:bodyPr>
          <a:lstStyle/>
          <a:p>
            <a:pPr algn="ctr">
              <a:lnSpc>
                <a:spcPct val="120000"/>
              </a:lnSpc>
            </a:pPr>
            <a:r>
              <a:rPr sz="900" b="1" i="0">
                <a:solidFill>
                  <a:srgbClr val="FFFFFF"/>
                </a:solidFill>
                <a:latin typeface="Calibri"/>
              </a:rPr>
              <a:t>02</a:t>
            </a:r>
          </a:p>
        </p:txBody>
      </p:sp>
      <p:sp>
        <p:nvSpPr>
          <p:cNvPr id="40" name="TextBox 39"/>
          <p:cNvSpPr txBox="1"/>
          <p:nvPr/>
        </p:nvSpPr>
        <p:spPr>
          <a:xfrm>
            <a:off x="8366759" y="1965960"/>
            <a:ext cx="1234439" cy="777240"/>
          </a:xfrm>
          <a:prstGeom prst="rect">
            <a:avLst/>
          </a:prstGeom>
          <a:noFill/>
        </p:spPr>
        <p:txBody>
          <a:bodyPr wrap="square" lIns="36000" rIns="36000" tIns="18000" bIns="18000" anchor="ctr">
            <a:spAutoFit/>
          </a:bodyPr>
          <a:lstStyle/>
          <a:p>
            <a:pPr algn="l">
              <a:lnSpc>
                <a:spcPct val="120000"/>
              </a:lnSpc>
            </a:pPr>
            <a:r>
              <a:rPr sz="1100" b="1" i="0">
                <a:solidFill>
                  <a:srgbClr val="066FA8"/>
                </a:solidFill>
                <a:latin typeface="Calibri"/>
              </a:rPr>
              <a:t>How it works</a:t>
            </a:r>
          </a:p>
        </p:txBody>
      </p:sp>
      <p:sp>
        <p:nvSpPr>
          <p:cNvPr id="41" name="Rounded Rectangle 40"/>
          <p:cNvSpPr/>
          <p:nvPr/>
        </p:nvSpPr>
        <p:spPr>
          <a:xfrm>
            <a:off x="9784078" y="1828800"/>
            <a:ext cx="1874519" cy="1051560"/>
          </a:xfrm>
          <a:prstGeom prst="roundRect">
            <a:avLst>
              <a:gd name="adj" fmla="val 15000"/>
            </a:avLst>
          </a:prstGeom>
          <a:solidFill>
            <a:srgbClr val="E0F2FE"/>
          </a:solidFill>
          <a:ln w="9525">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921238" y="1965960"/>
            <a:ext cx="365760" cy="365760"/>
          </a:xfrm>
          <a:prstGeom prst="roundRect">
            <a:avLst>
              <a:gd name="adj" fmla="val 50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921238" y="1965960"/>
            <a:ext cx="365760" cy="365760"/>
          </a:xfrm>
          <a:prstGeom prst="rect">
            <a:avLst/>
          </a:prstGeom>
          <a:noFill/>
        </p:spPr>
        <p:txBody>
          <a:bodyPr wrap="square" lIns="36000" rIns="36000" tIns="18000" bIns="18000" anchor="ctr">
            <a:spAutoFit/>
          </a:bodyPr>
          <a:lstStyle/>
          <a:p>
            <a:pPr algn="ctr">
              <a:lnSpc>
                <a:spcPct val="120000"/>
              </a:lnSpc>
            </a:pPr>
            <a:r>
              <a:rPr sz="900" b="1" i="0">
                <a:solidFill>
                  <a:srgbClr val="FFFFFF"/>
                </a:solidFill>
                <a:latin typeface="Calibri"/>
              </a:rPr>
              <a:t>03</a:t>
            </a:r>
          </a:p>
        </p:txBody>
      </p:sp>
      <p:sp>
        <p:nvSpPr>
          <p:cNvPr id="44" name="TextBox 43"/>
          <p:cNvSpPr txBox="1"/>
          <p:nvPr/>
        </p:nvSpPr>
        <p:spPr>
          <a:xfrm>
            <a:off x="10378438" y="1965960"/>
            <a:ext cx="1234439" cy="777240"/>
          </a:xfrm>
          <a:prstGeom prst="rect">
            <a:avLst/>
          </a:prstGeom>
          <a:noFill/>
        </p:spPr>
        <p:txBody>
          <a:bodyPr wrap="square" lIns="36000" rIns="36000" tIns="18000" bIns="18000" anchor="ctr">
            <a:spAutoFit/>
          </a:bodyPr>
          <a:lstStyle/>
          <a:p>
            <a:pPr algn="l">
              <a:lnSpc>
                <a:spcPct val="120000"/>
              </a:lnSpc>
            </a:pPr>
            <a:r>
              <a:rPr sz="1100" b="1" i="0">
                <a:solidFill>
                  <a:srgbClr val="14B8A6"/>
                </a:solidFill>
                <a:latin typeface="Calibri"/>
              </a:rPr>
              <a:t>Components</a:t>
            </a:r>
          </a:p>
        </p:txBody>
      </p:sp>
      <p:sp>
        <p:nvSpPr>
          <p:cNvPr id="45" name="Rounded Rectangle 44"/>
          <p:cNvSpPr/>
          <p:nvPr/>
        </p:nvSpPr>
        <p:spPr>
          <a:xfrm>
            <a:off x="5760720" y="3063240"/>
            <a:ext cx="1874519" cy="1051560"/>
          </a:xfrm>
          <a:prstGeom prst="roundRect">
            <a:avLst>
              <a:gd name="adj" fmla="val 15000"/>
            </a:avLst>
          </a:prstGeom>
          <a:solidFill>
            <a:srgbClr val="E0F2FE"/>
          </a:solidFill>
          <a:ln w="952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5897880" y="3200400"/>
            <a:ext cx="365760" cy="365760"/>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897880" y="3200400"/>
            <a:ext cx="365760" cy="365760"/>
          </a:xfrm>
          <a:prstGeom prst="rect">
            <a:avLst/>
          </a:prstGeom>
          <a:noFill/>
        </p:spPr>
        <p:txBody>
          <a:bodyPr wrap="square" lIns="36000" rIns="36000" tIns="18000" bIns="18000" anchor="ctr">
            <a:spAutoFit/>
          </a:bodyPr>
          <a:lstStyle/>
          <a:p>
            <a:pPr algn="ctr">
              <a:lnSpc>
                <a:spcPct val="120000"/>
              </a:lnSpc>
            </a:pPr>
            <a:r>
              <a:rPr sz="900" b="1" i="0">
                <a:solidFill>
                  <a:srgbClr val="FFFFFF"/>
                </a:solidFill>
                <a:latin typeface="Calibri"/>
              </a:rPr>
              <a:t>04</a:t>
            </a:r>
          </a:p>
        </p:txBody>
      </p:sp>
      <p:sp>
        <p:nvSpPr>
          <p:cNvPr id="48" name="TextBox 47"/>
          <p:cNvSpPr txBox="1"/>
          <p:nvPr/>
        </p:nvSpPr>
        <p:spPr>
          <a:xfrm>
            <a:off x="6355080" y="3200400"/>
            <a:ext cx="1234439" cy="777240"/>
          </a:xfrm>
          <a:prstGeom prst="rect">
            <a:avLst/>
          </a:prstGeom>
          <a:noFill/>
        </p:spPr>
        <p:txBody>
          <a:bodyPr wrap="square" lIns="36000" rIns="36000" tIns="18000" bIns="18000" anchor="ctr">
            <a:spAutoFit/>
          </a:bodyPr>
          <a:lstStyle/>
          <a:p>
            <a:pPr algn="l">
              <a:lnSpc>
                <a:spcPct val="120000"/>
              </a:lnSpc>
            </a:pPr>
            <a:r>
              <a:rPr sz="1100" b="1" i="0">
                <a:solidFill>
                  <a:srgbClr val="7C3AED"/>
                </a:solidFill>
                <a:latin typeface="Calibri"/>
              </a:rPr>
              <a:t>AI implementations</a:t>
            </a:r>
          </a:p>
        </p:txBody>
      </p:sp>
      <p:sp>
        <p:nvSpPr>
          <p:cNvPr id="49" name="Rounded Rectangle 48"/>
          <p:cNvSpPr/>
          <p:nvPr/>
        </p:nvSpPr>
        <p:spPr>
          <a:xfrm>
            <a:off x="7772399" y="3063240"/>
            <a:ext cx="1874519" cy="1051560"/>
          </a:xfrm>
          <a:prstGeom prst="roundRect">
            <a:avLst>
              <a:gd name="adj" fmla="val 15000"/>
            </a:avLst>
          </a:prstGeom>
          <a:solidFill>
            <a:srgbClr val="E0F2FE"/>
          </a:solidFill>
          <a:ln w="9525">
            <a:solidFill>
              <a:srgbClr val="DB27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7909559" y="3200400"/>
            <a:ext cx="365760" cy="365760"/>
          </a:xfrm>
          <a:prstGeom prst="roundRect">
            <a:avLst>
              <a:gd name="adj" fmla="val 50000"/>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909559" y="3200400"/>
            <a:ext cx="365760" cy="365760"/>
          </a:xfrm>
          <a:prstGeom prst="rect">
            <a:avLst/>
          </a:prstGeom>
          <a:noFill/>
        </p:spPr>
        <p:txBody>
          <a:bodyPr wrap="square" lIns="36000" rIns="36000" tIns="18000" bIns="18000" anchor="ctr">
            <a:spAutoFit/>
          </a:bodyPr>
          <a:lstStyle/>
          <a:p>
            <a:pPr algn="ctr">
              <a:lnSpc>
                <a:spcPct val="120000"/>
              </a:lnSpc>
            </a:pPr>
            <a:r>
              <a:rPr sz="900" b="1" i="0">
                <a:solidFill>
                  <a:srgbClr val="FFFFFF"/>
                </a:solidFill>
                <a:latin typeface="Calibri"/>
              </a:rPr>
              <a:t>05</a:t>
            </a:r>
          </a:p>
        </p:txBody>
      </p:sp>
      <p:sp>
        <p:nvSpPr>
          <p:cNvPr id="52" name="TextBox 51"/>
          <p:cNvSpPr txBox="1"/>
          <p:nvPr/>
        </p:nvSpPr>
        <p:spPr>
          <a:xfrm>
            <a:off x="8366759" y="3200400"/>
            <a:ext cx="1234439" cy="777240"/>
          </a:xfrm>
          <a:prstGeom prst="rect">
            <a:avLst/>
          </a:prstGeom>
          <a:noFill/>
        </p:spPr>
        <p:txBody>
          <a:bodyPr wrap="square" lIns="36000" rIns="36000" tIns="18000" bIns="18000" anchor="ctr">
            <a:spAutoFit/>
          </a:bodyPr>
          <a:lstStyle/>
          <a:p>
            <a:pPr algn="l">
              <a:lnSpc>
                <a:spcPct val="120000"/>
              </a:lnSpc>
            </a:pPr>
            <a:r>
              <a:rPr sz="1100" b="1" i="0">
                <a:solidFill>
                  <a:srgbClr val="DB2777"/>
                </a:solidFill>
                <a:latin typeface="Calibri"/>
              </a:rPr>
              <a:t>Stack &amp; libraries</a:t>
            </a:r>
          </a:p>
        </p:txBody>
      </p:sp>
      <p:sp>
        <p:nvSpPr>
          <p:cNvPr id="53" name="Rounded Rectangle 52"/>
          <p:cNvSpPr/>
          <p:nvPr/>
        </p:nvSpPr>
        <p:spPr>
          <a:xfrm>
            <a:off x="9784078" y="3063240"/>
            <a:ext cx="1874519" cy="1051560"/>
          </a:xfrm>
          <a:prstGeom prst="roundRect">
            <a:avLst>
              <a:gd name="adj" fmla="val 15000"/>
            </a:avLst>
          </a:prstGeom>
          <a:solidFill>
            <a:srgbClr val="E0F2FE"/>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9921238" y="3200400"/>
            <a:ext cx="365760" cy="365760"/>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921238" y="3200400"/>
            <a:ext cx="365760" cy="365760"/>
          </a:xfrm>
          <a:prstGeom prst="rect">
            <a:avLst/>
          </a:prstGeom>
          <a:noFill/>
        </p:spPr>
        <p:txBody>
          <a:bodyPr wrap="square" lIns="36000" rIns="36000" tIns="18000" bIns="18000" anchor="ctr">
            <a:spAutoFit/>
          </a:bodyPr>
          <a:lstStyle/>
          <a:p>
            <a:pPr algn="ctr">
              <a:lnSpc>
                <a:spcPct val="120000"/>
              </a:lnSpc>
            </a:pPr>
            <a:r>
              <a:rPr sz="900" b="1" i="0">
                <a:solidFill>
                  <a:srgbClr val="FFFFFF"/>
                </a:solidFill>
                <a:latin typeface="Calibri"/>
              </a:rPr>
              <a:t>06</a:t>
            </a:r>
          </a:p>
        </p:txBody>
      </p:sp>
      <p:sp>
        <p:nvSpPr>
          <p:cNvPr id="56" name="TextBox 55"/>
          <p:cNvSpPr txBox="1"/>
          <p:nvPr/>
        </p:nvSpPr>
        <p:spPr>
          <a:xfrm>
            <a:off x="10378438" y="3200400"/>
            <a:ext cx="1234439" cy="777240"/>
          </a:xfrm>
          <a:prstGeom prst="rect">
            <a:avLst/>
          </a:prstGeom>
          <a:noFill/>
        </p:spPr>
        <p:txBody>
          <a:bodyPr wrap="square" lIns="36000" rIns="36000" tIns="18000" bIns="18000" anchor="ctr">
            <a:spAutoFit/>
          </a:bodyPr>
          <a:lstStyle/>
          <a:p>
            <a:pPr algn="l">
              <a:lnSpc>
                <a:spcPct val="120000"/>
              </a:lnSpc>
            </a:pPr>
            <a:r>
              <a:rPr sz="1100" b="1" i="0">
                <a:solidFill>
                  <a:srgbClr val="EA580C"/>
                </a:solidFill>
                <a:latin typeface="Calibri"/>
              </a:rPr>
              <a:t>Difficulties</a:t>
            </a:r>
          </a:p>
        </p:txBody>
      </p:sp>
      <p:cxnSp>
        <p:nvCxnSpPr>
          <p:cNvPr id="57" name="Connector 56"/>
          <p:cNvCxnSpPr/>
          <p:nvPr/>
        </p:nvCxnSpPr>
        <p:spPr>
          <a:xfrm>
            <a:off x="5760720" y="5440680"/>
            <a:ext cx="5760720"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760720" y="5532120"/>
            <a:ext cx="5943600" cy="274320"/>
          </a:xfrm>
          <a:prstGeom prst="rect">
            <a:avLst/>
          </a:prstGeom>
          <a:noFill/>
        </p:spPr>
        <p:txBody>
          <a:bodyPr wrap="square" lIns="36000" rIns="36000" tIns="18000" bIns="18000" anchor="t">
            <a:spAutoFit/>
          </a:bodyPr>
          <a:lstStyle/>
          <a:p>
            <a:pPr algn="l">
              <a:lnSpc>
                <a:spcPct val="120000"/>
              </a:lnSpc>
            </a:pPr>
            <a:r>
              <a:rPr sz="1000" b="0" i="1">
                <a:solidFill>
                  <a:srgbClr val="64748B"/>
                </a:solidFill>
                <a:latin typeface="Calibri"/>
              </a:rPr>
              <a:t>Curated by hand · Drafted with AI · Reviewed by the author</a:t>
            </a:r>
          </a:p>
        </p:txBody>
      </p:sp>
      <p:sp>
        <p:nvSpPr>
          <p:cNvPr id="59" name="TextBox 58"/>
          <p:cNvSpPr txBox="1"/>
          <p:nvPr/>
        </p:nvSpPr>
        <p:spPr>
          <a:xfrm>
            <a:off x="5760720" y="5852160"/>
            <a:ext cx="5943600" cy="274320"/>
          </a:xfrm>
          <a:prstGeom prst="rect">
            <a:avLst/>
          </a:prstGeom>
          <a:noFill/>
        </p:spPr>
        <p:txBody>
          <a:bodyPr wrap="square" lIns="36000" rIns="36000" tIns="18000" bIns="18000" anchor="t">
            <a:spAutoFit/>
          </a:bodyPr>
          <a:lstStyle/>
          <a:p>
            <a:pPr algn="l">
              <a:lnSpc>
                <a:spcPct val="120000"/>
              </a:lnSpc>
            </a:pPr>
            <a:r>
              <a:rPr sz="950" b="0" i="0">
                <a:solidFill>
                  <a:srgbClr val="64748B"/>
                </a:solidFill>
                <a:latin typeface="Calibri"/>
              </a:rPr>
              <a:t>For 3rd-year / final-year project showcase</a:t>
            </a:r>
          </a:p>
        </p:txBody>
      </p:sp>
      <p:sp>
        <p:nvSpPr>
          <p:cNvPr id="60" name="TextBox 59"/>
          <p:cNvSpPr txBox="1"/>
          <p:nvPr/>
        </p:nvSpPr>
        <p:spPr>
          <a:xfrm>
            <a:off x="5760720" y="6126480"/>
            <a:ext cx="5943600" cy="274320"/>
          </a:xfrm>
          <a:prstGeom prst="rect">
            <a:avLst/>
          </a:prstGeom>
          <a:noFill/>
        </p:spPr>
        <p:txBody>
          <a:bodyPr wrap="square" lIns="36000" rIns="36000" tIns="18000" bIns="18000" anchor="t">
            <a:spAutoFit/>
          </a:bodyPr>
          <a:lstStyle/>
          <a:p>
            <a:pPr algn="l">
              <a:lnSpc>
                <a:spcPct val="120000"/>
              </a:lnSpc>
            </a:pPr>
            <a:r>
              <a:rPr sz="1000" b="1" i="0">
                <a:solidFill>
                  <a:srgbClr val="14B8A6"/>
                </a:solidFill>
                <a:latin typeface="Calibri"/>
              </a:rPr>
              <a:t>swipe →</a:t>
            </a:r>
          </a:p>
        </p:txBody>
      </p:sp>
      <p:sp>
        <p:nvSpPr>
          <p:cNvPr id="61" name="Rectangle 60"/>
          <p:cNvSpPr/>
          <p:nvPr/>
        </p:nvSpPr>
        <p:spPr>
          <a:xfrm>
            <a:off x="0" y="6565392"/>
            <a:ext cx="12191695" cy="29260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65760" y="6601968"/>
            <a:ext cx="8229600" cy="228600"/>
          </a:xfrm>
          <a:prstGeom prst="rect">
            <a:avLst/>
          </a:prstGeom>
          <a:noFill/>
        </p:spPr>
        <p:txBody>
          <a:bodyPr wrap="square" lIns="36000" rIns="36000" tIns="18000" bIns="18000" anchor="t">
            <a:spAutoFit/>
          </a:bodyPr>
          <a:lstStyle/>
          <a:p>
            <a:pPr algn="l">
              <a:lnSpc>
                <a:spcPct val="120000"/>
              </a:lnSpc>
            </a:pPr>
            <a:r>
              <a:rPr sz="900" b="0" i="1">
                <a:solidFill>
                  <a:srgbClr val="64748B"/>
                </a:solidFill>
                <a:latin typeface="Calibri"/>
              </a:rPr>
              <a:t>IPCMS — Integrated Patient Care Management System</a:t>
            </a:r>
          </a:p>
        </p:txBody>
      </p:sp>
      <p:sp>
        <p:nvSpPr>
          <p:cNvPr id="63" name="TextBox 62"/>
          <p:cNvSpPr txBox="1"/>
          <p:nvPr/>
        </p:nvSpPr>
        <p:spPr>
          <a:xfrm>
            <a:off x="10607040" y="6601968"/>
            <a:ext cx="1280160" cy="228600"/>
          </a:xfrm>
          <a:prstGeom prst="rect">
            <a:avLst/>
          </a:prstGeom>
          <a:noFill/>
        </p:spPr>
        <p:txBody>
          <a:bodyPr wrap="square" lIns="36000" rIns="36000" tIns="18000" bIns="18000" anchor="t">
            <a:spAutoFit/>
          </a:bodyPr>
          <a:lstStyle/>
          <a:p>
            <a:pPr algn="r">
              <a:lnSpc>
                <a:spcPct val="120000"/>
              </a:lnSpc>
            </a:pPr>
            <a:r>
              <a:rPr sz="900" b="0" i="0">
                <a:solidFill>
                  <a:srgbClr val="64748B"/>
                </a:solidFill>
                <a:latin typeface="Calibri"/>
              </a:rPr>
              <a:t>1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972800" cy="256032"/>
          </a:xfrm>
          <a:prstGeom prst="rect">
            <a:avLst/>
          </a:prstGeom>
          <a:noFill/>
        </p:spPr>
        <p:txBody>
          <a:bodyPr wrap="square" lIns="36000" rIns="36000" tIns="18000" bIns="18000" anchor="t">
            <a:spAutoFit/>
          </a:bodyPr>
          <a:lstStyle/>
          <a:p>
            <a:pPr algn="l">
              <a:lnSpc>
                <a:spcPct val="120000"/>
              </a:lnSpc>
            </a:pPr>
            <a:r>
              <a:rPr sz="1000" b="1" i="0">
                <a:solidFill>
                  <a:srgbClr val="14B8A6"/>
                </a:solidFill>
                <a:latin typeface="Calibri"/>
              </a:rPr>
              <a:t>SECTION 01</a:t>
            </a:r>
          </a:p>
        </p:txBody>
      </p:sp>
      <p:sp>
        <p:nvSpPr>
          <p:cNvPr id="5" name="TextBox 4"/>
          <p:cNvSpPr txBox="1"/>
          <p:nvPr/>
        </p:nvSpPr>
        <p:spPr>
          <a:xfrm>
            <a:off x="713232" y="713232"/>
            <a:ext cx="11155680" cy="502920"/>
          </a:xfrm>
          <a:prstGeom prst="rect">
            <a:avLst/>
          </a:prstGeom>
          <a:noFill/>
        </p:spPr>
        <p:txBody>
          <a:bodyPr wrap="square" lIns="36000" rIns="36000" tIns="18000" bIns="18000" anchor="t">
            <a:spAutoFit/>
          </a:bodyPr>
          <a:lstStyle/>
          <a:p>
            <a:pPr algn="l">
              <a:lnSpc>
                <a:spcPct val="120000"/>
              </a:lnSpc>
            </a:pPr>
            <a:r>
              <a:rPr sz="2600" b="1" i="0">
                <a:solidFill>
                  <a:srgbClr val="0F172A"/>
                </a:solidFill>
                <a:latin typeface="Calibri"/>
              </a:rPr>
              <a:t>What is IPCMS?</a:t>
            </a:r>
          </a:p>
        </p:txBody>
      </p:sp>
      <p:sp>
        <p:nvSpPr>
          <p:cNvPr id="6" name="TextBox 5"/>
          <p:cNvSpPr txBox="1"/>
          <p:nvPr/>
        </p:nvSpPr>
        <p:spPr>
          <a:xfrm>
            <a:off x="713232" y="1234440"/>
            <a:ext cx="11155680" cy="365760"/>
          </a:xfrm>
          <a:prstGeom prst="rect">
            <a:avLst/>
          </a:prstGeom>
          <a:noFill/>
        </p:spPr>
        <p:txBody>
          <a:bodyPr wrap="square" lIns="36000" rIns="36000" tIns="18000" bIns="18000" anchor="t">
            <a:spAutoFit/>
          </a:bodyPr>
          <a:lstStyle/>
          <a:p>
            <a:pPr algn="l">
              <a:lnSpc>
                <a:spcPct val="120000"/>
              </a:lnSpc>
            </a:pPr>
            <a:r>
              <a:rPr sz="1200" b="0" i="1">
                <a:solidFill>
                  <a:srgbClr val="64748B"/>
                </a:solidFill>
                <a:latin typeface="Calibri"/>
              </a:rPr>
              <a:t>A working definition, the way I'd explain it to a friend.</a:t>
            </a:r>
          </a:p>
        </p:txBody>
      </p:sp>
      <p:cxnSp>
        <p:nvCxnSpPr>
          <p:cNvPr id="7" name="Connector 6"/>
          <p:cNvCxnSpPr/>
          <p:nvPr/>
        </p:nvCxnSpPr>
        <p:spPr>
          <a:xfrm>
            <a:off x="713232" y="1627632"/>
            <a:ext cx="10808208"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02920" y="1828800"/>
            <a:ext cx="5486400" cy="4526280"/>
          </a:xfrm>
          <a:prstGeom prst="roundRect">
            <a:avLst>
              <a:gd name="adj" fmla="val 4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28800"/>
            <a:ext cx="164592" cy="452628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965960"/>
            <a:ext cx="4937760" cy="365760"/>
          </a:xfrm>
          <a:prstGeom prst="rect">
            <a:avLst/>
          </a:prstGeom>
          <a:noFill/>
        </p:spPr>
        <p:txBody>
          <a:bodyPr wrap="square" lIns="36000" rIns="36000" tIns="18000" bIns="18000" anchor="t">
            <a:spAutoFit/>
          </a:bodyPr>
          <a:lstStyle/>
          <a:p>
            <a:pPr algn="l">
              <a:lnSpc>
                <a:spcPct val="120000"/>
              </a:lnSpc>
            </a:pPr>
            <a:r>
              <a:rPr sz="1100" b="1" i="0">
                <a:solidFill>
                  <a:srgbClr val="14B8A6"/>
                </a:solidFill>
                <a:latin typeface="Calibri"/>
              </a:rPr>
              <a:t>IN ONE SENTENCE</a:t>
            </a:r>
          </a:p>
        </p:txBody>
      </p:sp>
      <p:sp>
        <p:nvSpPr>
          <p:cNvPr id="11" name="TextBox 10"/>
          <p:cNvSpPr txBox="1"/>
          <p:nvPr/>
        </p:nvSpPr>
        <p:spPr>
          <a:xfrm>
            <a:off x="868680" y="2331720"/>
            <a:ext cx="4937760" cy="1828800"/>
          </a:xfrm>
          <a:prstGeom prst="rect">
            <a:avLst/>
          </a:prstGeom>
          <a:noFill/>
        </p:spPr>
        <p:txBody>
          <a:bodyPr wrap="square" lIns="36000" rIns="36000" tIns="18000" bIns="18000" anchor="t">
            <a:spAutoFit/>
          </a:bodyPr>
          <a:lstStyle/>
          <a:p>
            <a:pPr algn="l">
              <a:lnSpc>
                <a:spcPct val="140000"/>
              </a:lnSpc>
            </a:pPr>
            <a:r>
              <a:rPr sz="1400" b="0" i="0">
                <a:solidFill>
                  <a:srgbClr val="0F172A"/>
                </a:solidFill>
                <a:latin typeface="Calibri"/>
              </a:rPr>
              <a:t>IPCMS is a web-based hospital workflow app that lets patients, doctors and admins work off the same data — with an AI layer that helps everyone make better, faster decisions.</a:t>
            </a:r>
          </a:p>
        </p:txBody>
      </p:sp>
      <p:cxnSp>
        <p:nvCxnSpPr>
          <p:cNvPr id="12" name="Connector 11"/>
          <p:cNvCxnSpPr/>
          <p:nvPr/>
        </p:nvCxnSpPr>
        <p:spPr>
          <a:xfrm>
            <a:off x="868680" y="4297680"/>
            <a:ext cx="4937760" cy="0"/>
          </a:xfrm>
          <a:prstGeom prst="line">
            <a:avLst/>
          </a:prstGeom>
          <a:ln w="6350">
            <a:solidFill>
              <a:srgbClr val="CBD5E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68680" y="4434840"/>
            <a:ext cx="4937760" cy="365760"/>
          </a:xfrm>
          <a:prstGeom prst="rect">
            <a:avLst/>
          </a:prstGeom>
          <a:noFill/>
        </p:spPr>
        <p:txBody>
          <a:bodyPr wrap="square" lIns="36000" rIns="36000" tIns="18000" bIns="18000" anchor="t">
            <a:spAutoFit/>
          </a:bodyPr>
          <a:lstStyle/>
          <a:p>
            <a:pPr algn="l">
              <a:lnSpc>
                <a:spcPct val="120000"/>
              </a:lnSpc>
            </a:pPr>
            <a:r>
              <a:rPr sz="1100" b="1" i="0">
                <a:solidFill>
                  <a:srgbClr val="0E4F8A"/>
                </a:solidFill>
                <a:latin typeface="Calibri"/>
              </a:rPr>
              <a:t>LONGER VERSION</a:t>
            </a:r>
          </a:p>
        </p:txBody>
      </p:sp>
      <p:sp>
        <p:nvSpPr>
          <p:cNvPr id="14" name="TextBox 13"/>
          <p:cNvSpPr txBox="1"/>
          <p:nvPr/>
        </p:nvSpPr>
        <p:spPr>
          <a:xfrm>
            <a:off x="868680" y="4800600"/>
            <a:ext cx="4937760" cy="1463040"/>
          </a:xfrm>
          <a:prstGeom prst="rect">
            <a:avLst/>
          </a:prstGeom>
          <a:noFill/>
        </p:spPr>
        <p:txBody>
          <a:bodyPr wrap="square" lIns="36000" rIns="36000" tIns="18000" bIns="18000">
            <a:spAutoFit/>
          </a:bodyPr>
          <a:lstStyle/>
          <a:p>
            <a:pPr algn="l">
              <a:lnSpc>
                <a:spcPct val="125000"/>
              </a:lnSpc>
              <a:spcBef>
                <a:spcPts val="300"/>
              </a:spcBef>
              <a:spcAft>
                <a:spcPts val="200"/>
              </a:spcAft>
            </a:pPr>
            <a:r>
              <a:rPr sz="1100">
                <a:solidFill>
                  <a:srgbClr val="334E68"/>
                </a:solidFill>
                <a:latin typeface="Calibri"/>
              </a:rPr>
              <a:t>•  End-to-end OPD/IPD flow: register, book, consult, prescribe, follow-up.</a:t>
            </a:r>
          </a:p>
          <a:p>
            <a:pPr algn="l">
              <a:lnSpc>
                <a:spcPct val="125000"/>
              </a:lnSpc>
              <a:spcBef>
                <a:spcPts val="300"/>
              </a:spcBef>
              <a:spcAft>
                <a:spcPts val="200"/>
              </a:spcAft>
            </a:pPr>
            <a:r>
              <a:rPr sz="1100">
                <a:solidFill>
                  <a:srgbClr val="334E68"/>
                </a:solidFill>
                <a:latin typeface="Calibri"/>
              </a:rPr>
              <a:t>•  Three role-aware dashboards — what a patient sees is not what a doctor sees.</a:t>
            </a:r>
          </a:p>
          <a:p>
            <a:pPr algn="l">
              <a:lnSpc>
                <a:spcPct val="125000"/>
              </a:lnSpc>
              <a:spcBef>
                <a:spcPts val="300"/>
              </a:spcBef>
              <a:spcAft>
                <a:spcPts val="200"/>
              </a:spcAft>
            </a:pPr>
            <a:r>
              <a:rPr sz="1100">
                <a:solidFill>
                  <a:srgbClr val="334E68"/>
                </a:solidFill>
                <a:latin typeface="Calibri"/>
              </a:rPr>
              <a:t>•  Two AI assistants — a floating voice chatbot and a database-aware care copilot.</a:t>
            </a:r>
          </a:p>
        </p:txBody>
      </p:sp>
      <p:sp>
        <p:nvSpPr>
          <p:cNvPr id="15" name="TextBox 14"/>
          <p:cNvSpPr txBox="1"/>
          <p:nvPr/>
        </p:nvSpPr>
        <p:spPr>
          <a:xfrm>
            <a:off x="6400800" y="1828800"/>
            <a:ext cx="5394960" cy="365760"/>
          </a:xfrm>
          <a:prstGeom prst="rect">
            <a:avLst/>
          </a:prstGeom>
          <a:noFill/>
        </p:spPr>
        <p:txBody>
          <a:bodyPr wrap="square" lIns="36000" rIns="36000" tIns="18000" bIns="18000" anchor="t">
            <a:spAutoFit/>
          </a:bodyPr>
          <a:lstStyle/>
          <a:p>
            <a:pPr algn="l">
              <a:lnSpc>
                <a:spcPct val="120000"/>
              </a:lnSpc>
            </a:pPr>
            <a:r>
              <a:rPr sz="1400" b="1" i="0">
                <a:solidFill>
                  <a:srgbClr val="0E4F8A"/>
                </a:solidFill>
                <a:latin typeface="Calibri"/>
              </a:rPr>
              <a:t>What problem it tries to solve</a:t>
            </a:r>
          </a:p>
        </p:txBody>
      </p:sp>
      <p:sp>
        <p:nvSpPr>
          <p:cNvPr id="16" name="Rounded Rectangle 15"/>
          <p:cNvSpPr/>
          <p:nvPr/>
        </p:nvSpPr>
        <p:spPr>
          <a:xfrm>
            <a:off x="6400800" y="2286000"/>
            <a:ext cx="5394960" cy="914400"/>
          </a:xfrm>
          <a:prstGeom prst="roundRect">
            <a:avLst>
              <a:gd name="adj" fmla="val 6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00800" y="2286000"/>
            <a:ext cx="457200" cy="914400"/>
          </a:xfrm>
          <a:prstGeom prst="roundRect">
            <a:avLst>
              <a:gd name="adj" fmla="val 6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2286000"/>
            <a:ext cx="457200" cy="914400"/>
          </a:xfrm>
          <a:prstGeom prst="rect">
            <a:avLst/>
          </a:prstGeom>
          <a:noFill/>
        </p:spPr>
        <p:txBody>
          <a:bodyPr wrap="square" lIns="36000" rIns="36000" tIns="18000" bIns="18000" anchor="ctr">
            <a:spAutoFit/>
          </a:bodyPr>
          <a:lstStyle/>
          <a:p>
            <a:pPr algn="ctr">
              <a:lnSpc>
                <a:spcPct val="120000"/>
              </a:lnSpc>
            </a:pPr>
            <a:r>
              <a:rPr sz="1300" b="1" i="0">
                <a:solidFill>
                  <a:srgbClr val="0F172A"/>
                </a:solidFill>
                <a:latin typeface="Calibri"/>
              </a:rPr>
              <a:t>01</a:t>
            </a:r>
          </a:p>
        </p:txBody>
      </p:sp>
      <p:sp>
        <p:nvSpPr>
          <p:cNvPr id="19" name="TextBox 18"/>
          <p:cNvSpPr txBox="1"/>
          <p:nvPr/>
        </p:nvSpPr>
        <p:spPr>
          <a:xfrm>
            <a:off x="6995160" y="2395728"/>
            <a:ext cx="4663440" cy="320040"/>
          </a:xfrm>
          <a:prstGeom prst="rect">
            <a:avLst/>
          </a:prstGeom>
          <a:noFill/>
        </p:spPr>
        <p:txBody>
          <a:bodyPr wrap="square" lIns="36000" rIns="36000" tIns="18000" bIns="18000" anchor="t">
            <a:spAutoFit/>
          </a:bodyPr>
          <a:lstStyle/>
          <a:p>
            <a:pPr algn="l">
              <a:lnSpc>
                <a:spcPct val="120000"/>
              </a:lnSpc>
            </a:pPr>
            <a:r>
              <a:rPr sz="1200" b="1" i="0">
                <a:solidFill>
                  <a:srgbClr val="0F172A"/>
                </a:solidFill>
                <a:latin typeface="Calibri"/>
              </a:rPr>
              <a:t>Scattered records</a:t>
            </a:r>
          </a:p>
        </p:txBody>
      </p:sp>
      <p:sp>
        <p:nvSpPr>
          <p:cNvPr id="20" name="TextBox 19"/>
          <p:cNvSpPr txBox="1"/>
          <p:nvPr/>
        </p:nvSpPr>
        <p:spPr>
          <a:xfrm>
            <a:off x="6995160" y="2724912"/>
            <a:ext cx="4663440" cy="457200"/>
          </a:xfrm>
          <a:prstGeom prst="rect">
            <a:avLst/>
          </a:prstGeom>
          <a:noFill/>
        </p:spPr>
        <p:txBody>
          <a:bodyPr wrap="square" lIns="36000" rIns="36000" tIns="18000" bIns="18000" anchor="t">
            <a:spAutoFit/>
          </a:bodyPr>
          <a:lstStyle/>
          <a:p>
            <a:pPr algn="l">
              <a:lnSpc>
                <a:spcPct val="120000"/>
              </a:lnSpc>
            </a:pPr>
            <a:r>
              <a:rPr sz="1000" b="0" i="1">
                <a:solidFill>
                  <a:srgbClr val="64748B"/>
                </a:solidFill>
                <a:latin typeface="Calibri"/>
              </a:rPr>
              <a:t>Patient history lives in different places for every doctor.</a:t>
            </a:r>
          </a:p>
        </p:txBody>
      </p:sp>
      <p:sp>
        <p:nvSpPr>
          <p:cNvPr id="21" name="Rounded Rectangle 20"/>
          <p:cNvSpPr/>
          <p:nvPr/>
        </p:nvSpPr>
        <p:spPr>
          <a:xfrm>
            <a:off x="6400800" y="3273552"/>
            <a:ext cx="5394960" cy="914400"/>
          </a:xfrm>
          <a:prstGeom prst="roundRect">
            <a:avLst>
              <a:gd name="adj" fmla="val 6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00800" y="3273552"/>
            <a:ext cx="457200" cy="914400"/>
          </a:xfrm>
          <a:prstGeom prst="roundRect">
            <a:avLst>
              <a:gd name="adj" fmla="val 6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273552"/>
            <a:ext cx="457200" cy="914400"/>
          </a:xfrm>
          <a:prstGeom prst="rect">
            <a:avLst/>
          </a:prstGeom>
          <a:noFill/>
        </p:spPr>
        <p:txBody>
          <a:bodyPr wrap="square" lIns="36000" rIns="36000" tIns="18000" bIns="18000" anchor="ctr">
            <a:spAutoFit/>
          </a:bodyPr>
          <a:lstStyle/>
          <a:p>
            <a:pPr algn="ctr">
              <a:lnSpc>
                <a:spcPct val="120000"/>
              </a:lnSpc>
            </a:pPr>
            <a:r>
              <a:rPr sz="1300" b="1" i="0">
                <a:solidFill>
                  <a:srgbClr val="0F172A"/>
                </a:solidFill>
                <a:latin typeface="Calibri"/>
              </a:rPr>
              <a:t>02</a:t>
            </a:r>
          </a:p>
        </p:txBody>
      </p:sp>
      <p:sp>
        <p:nvSpPr>
          <p:cNvPr id="24" name="TextBox 23"/>
          <p:cNvSpPr txBox="1"/>
          <p:nvPr/>
        </p:nvSpPr>
        <p:spPr>
          <a:xfrm>
            <a:off x="6995160" y="3383280"/>
            <a:ext cx="4663440" cy="320040"/>
          </a:xfrm>
          <a:prstGeom prst="rect">
            <a:avLst/>
          </a:prstGeom>
          <a:noFill/>
        </p:spPr>
        <p:txBody>
          <a:bodyPr wrap="square" lIns="36000" rIns="36000" tIns="18000" bIns="18000" anchor="t">
            <a:spAutoFit/>
          </a:bodyPr>
          <a:lstStyle/>
          <a:p>
            <a:pPr algn="l">
              <a:lnSpc>
                <a:spcPct val="120000"/>
              </a:lnSpc>
            </a:pPr>
            <a:r>
              <a:rPr sz="1200" b="1" i="0">
                <a:solidFill>
                  <a:srgbClr val="0F172A"/>
                </a:solidFill>
                <a:latin typeface="Calibri"/>
              </a:rPr>
              <a:t>Manual triage</a:t>
            </a:r>
          </a:p>
        </p:txBody>
      </p:sp>
      <p:sp>
        <p:nvSpPr>
          <p:cNvPr id="25" name="TextBox 24"/>
          <p:cNvSpPr txBox="1"/>
          <p:nvPr/>
        </p:nvSpPr>
        <p:spPr>
          <a:xfrm>
            <a:off x="6995160" y="3712464"/>
            <a:ext cx="4663440" cy="457200"/>
          </a:xfrm>
          <a:prstGeom prst="rect">
            <a:avLst/>
          </a:prstGeom>
          <a:noFill/>
        </p:spPr>
        <p:txBody>
          <a:bodyPr wrap="square" lIns="36000" rIns="36000" tIns="18000" bIns="18000" anchor="t">
            <a:spAutoFit/>
          </a:bodyPr>
          <a:lstStyle/>
          <a:p>
            <a:pPr algn="l">
              <a:lnSpc>
                <a:spcPct val="120000"/>
              </a:lnSpc>
            </a:pPr>
            <a:r>
              <a:rPr sz="1000" b="0" i="1">
                <a:solidFill>
                  <a:srgbClr val="64748B"/>
                </a:solidFill>
                <a:latin typeface="Calibri"/>
              </a:rPr>
              <a:t>Reception reads forms and routes people by hand.</a:t>
            </a:r>
          </a:p>
        </p:txBody>
      </p:sp>
      <p:sp>
        <p:nvSpPr>
          <p:cNvPr id="26" name="Rounded Rectangle 25"/>
          <p:cNvSpPr/>
          <p:nvPr/>
        </p:nvSpPr>
        <p:spPr>
          <a:xfrm>
            <a:off x="6400800" y="4261104"/>
            <a:ext cx="5394960" cy="914400"/>
          </a:xfrm>
          <a:prstGeom prst="roundRect">
            <a:avLst>
              <a:gd name="adj" fmla="val 6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400800" y="4261104"/>
            <a:ext cx="457200" cy="914400"/>
          </a:xfrm>
          <a:prstGeom prst="roundRect">
            <a:avLst>
              <a:gd name="adj" fmla="val 6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4261104"/>
            <a:ext cx="457200" cy="914400"/>
          </a:xfrm>
          <a:prstGeom prst="rect">
            <a:avLst/>
          </a:prstGeom>
          <a:noFill/>
        </p:spPr>
        <p:txBody>
          <a:bodyPr wrap="square" lIns="36000" rIns="36000" tIns="18000" bIns="18000" anchor="ctr">
            <a:spAutoFit/>
          </a:bodyPr>
          <a:lstStyle/>
          <a:p>
            <a:pPr algn="ctr">
              <a:lnSpc>
                <a:spcPct val="120000"/>
              </a:lnSpc>
            </a:pPr>
            <a:r>
              <a:rPr sz="1300" b="1" i="0">
                <a:solidFill>
                  <a:srgbClr val="0F172A"/>
                </a:solidFill>
                <a:latin typeface="Calibri"/>
              </a:rPr>
              <a:t>03</a:t>
            </a:r>
          </a:p>
        </p:txBody>
      </p:sp>
      <p:sp>
        <p:nvSpPr>
          <p:cNvPr id="29" name="TextBox 28"/>
          <p:cNvSpPr txBox="1"/>
          <p:nvPr/>
        </p:nvSpPr>
        <p:spPr>
          <a:xfrm>
            <a:off x="6995160" y="4370832"/>
            <a:ext cx="4663440" cy="320040"/>
          </a:xfrm>
          <a:prstGeom prst="rect">
            <a:avLst/>
          </a:prstGeom>
          <a:noFill/>
        </p:spPr>
        <p:txBody>
          <a:bodyPr wrap="square" lIns="36000" rIns="36000" tIns="18000" bIns="18000" anchor="t">
            <a:spAutoFit/>
          </a:bodyPr>
          <a:lstStyle/>
          <a:p>
            <a:pPr algn="l">
              <a:lnSpc>
                <a:spcPct val="120000"/>
              </a:lnSpc>
            </a:pPr>
            <a:r>
              <a:rPr sz="1200" b="1" i="0">
                <a:solidFill>
                  <a:srgbClr val="0F172A"/>
                </a:solidFill>
                <a:latin typeface="Calibri"/>
              </a:rPr>
              <a:t>Generic advice</a:t>
            </a:r>
          </a:p>
        </p:txBody>
      </p:sp>
      <p:sp>
        <p:nvSpPr>
          <p:cNvPr id="30" name="TextBox 29"/>
          <p:cNvSpPr txBox="1"/>
          <p:nvPr/>
        </p:nvSpPr>
        <p:spPr>
          <a:xfrm>
            <a:off x="6995160" y="4700016"/>
            <a:ext cx="4663440" cy="457200"/>
          </a:xfrm>
          <a:prstGeom prst="rect">
            <a:avLst/>
          </a:prstGeom>
          <a:noFill/>
        </p:spPr>
        <p:txBody>
          <a:bodyPr wrap="square" lIns="36000" rIns="36000" tIns="18000" bIns="18000" anchor="t">
            <a:spAutoFit/>
          </a:bodyPr>
          <a:lstStyle/>
          <a:p>
            <a:pPr algn="l">
              <a:lnSpc>
                <a:spcPct val="120000"/>
              </a:lnSpc>
            </a:pPr>
            <a:r>
              <a:rPr sz="1000" b="0" i="1">
                <a:solidFill>
                  <a:srgbClr val="64748B"/>
                </a:solidFill>
                <a:latin typeface="Calibri"/>
              </a:rPr>
              <a:t>Patients Google symptoms; doctors can't scale 1-to-1 chat.</a:t>
            </a:r>
          </a:p>
        </p:txBody>
      </p:sp>
      <p:sp>
        <p:nvSpPr>
          <p:cNvPr id="31" name="Rounded Rectangle 30"/>
          <p:cNvSpPr/>
          <p:nvPr/>
        </p:nvSpPr>
        <p:spPr>
          <a:xfrm>
            <a:off x="6400800" y="5248656"/>
            <a:ext cx="5394960" cy="914400"/>
          </a:xfrm>
          <a:prstGeom prst="roundRect">
            <a:avLst>
              <a:gd name="adj" fmla="val 6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400800" y="5248656"/>
            <a:ext cx="457200" cy="914400"/>
          </a:xfrm>
          <a:prstGeom prst="roundRect">
            <a:avLst>
              <a:gd name="adj" fmla="val 6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5248656"/>
            <a:ext cx="457200" cy="914400"/>
          </a:xfrm>
          <a:prstGeom prst="rect">
            <a:avLst/>
          </a:prstGeom>
          <a:noFill/>
        </p:spPr>
        <p:txBody>
          <a:bodyPr wrap="square" lIns="36000" rIns="36000" tIns="18000" bIns="18000" anchor="ctr">
            <a:spAutoFit/>
          </a:bodyPr>
          <a:lstStyle/>
          <a:p>
            <a:pPr algn="ctr">
              <a:lnSpc>
                <a:spcPct val="120000"/>
              </a:lnSpc>
            </a:pPr>
            <a:r>
              <a:rPr sz="1300" b="1" i="0">
                <a:solidFill>
                  <a:srgbClr val="0F172A"/>
                </a:solidFill>
                <a:latin typeface="Calibri"/>
              </a:rPr>
              <a:t>04</a:t>
            </a:r>
          </a:p>
        </p:txBody>
      </p:sp>
      <p:sp>
        <p:nvSpPr>
          <p:cNvPr id="34" name="TextBox 33"/>
          <p:cNvSpPr txBox="1"/>
          <p:nvPr/>
        </p:nvSpPr>
        <p:spPr>
          <a:xfrm>
            <a:off x="6995160" y="5358384"/>
            <a:ext cx="4663440" cy="320040"/>
          </a:xfrm>
          <a:prstGeom prst="rect">
            <a:avLst/>
          </a:prstGeom>
          <a:noFill/>
        </p:spPr>
        <p:txBody>
          <a:bodyPr wrap="square" lIns="36000" rIns="36000" tIns="18000" bIns="18000" anchor="t">
            <a:spAutoFit/>
          </a:bodyPr>
          <a:lstStyle/>
          <a:p>
            <a:pPr algn="l">
              <a:lnSpc>
                <a:spcPct val="120000"/>
              </a:lnSpc>
            </a:pPr>
            <a:r>
              <a:rPr sz="1200" b="1" i="0">
                <a:solidFill>
                  <a:srgbClr val="0F172A"/>
                </a:solidFill>
                <a:latin typeface="Calibri"/>
              </a:rPr>
              <a:t>Slow onboarding</a:t>
            </a:r>
          </a:p>
        </p:txBody>
      </p:sp>
      <p:sp>
        <p:nvSpPr>
          <p:cNvPr id="35" name="TextBox 34"/>
          <p:cNvSpPr txBox="1"/>
          <p:nvPr/>
        </p:nvSpPr>
        <p:spPr>
          <a:xfrm>
            <a:off x="6995160" y="5687568"/>
            <a:ext cx="4663440" cy="457200"/>
          </a:xfrm>
          <a:prstGeom prst="rect">
            <a:avLst/>
          </a:prstGeom>
          <a:noFill/>
        </p:spPr>
        <p:txBody>
          <a:bodyPr wrap="square" lIns="36000" rIns="36000" tIns="18000" bIns="18000" anchor="t">
            <a:spAutoFit/>
          </a:bodyPr>
          <a:lstStyle/>
          <a:p>
            <a:pPr algn="l">
              <a:lnSpc>
                <a:spcPct val="120000"/>
              </a:lnSpc>
            </a:pPr>
            <a:r>
              <a:rPr sz="1000" b="0" i="1">
                <a:solidFill>
                  <a:srgbClr val="64748B"/>
                </a:solidFill>
                <a:latin typeface="Calibri"/>
              </a:rPr>
              <a:t>Doctors, admins and patients each need a fast, role-specific start.</a:t>
            </a:r>
          </a:p>
        </p:txBody>
      </p:sp>
      <p:sp>
        <p:nvSpPr>
          <p:cNvPr id="36" name="Rectangle 35"/>
          <p:cNvSpPr/>
          <p:nvPr/>
        </p:nvSpPr>
        <p:spPr>
          <a:xfrm>
            <a:off x="0" y="6565392"/>
            <a:ext cx="12191695" cy="29260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6601968"/>
            <a:ext cx="8229600" cy="228600"/>
          </a:xfrm>
          <a:prstGeom prst="rect">
            <a:avLst/>
          </a:prstGeom>
          <a:noFill/>
        </p:spPr>
        <p:txBody>
          <a:bodyPr wrap="square" lIns="36000" rIns="36000" tIns="18000" bIns="18000" anchor="t">
            <a:spAutoFit/>
          </a:bodyPr>
          <a:lstStyle/>
          <a:p>
            <a:pPr algn="l">
              <a:lnSpc>
                <a:spcPct val="120000"/>
              </a:lnSpc>
            </a:pPr>
            <a:r>
              <a:rPr sz="900" b="0" i="1">
                <a:solidFill>
                  <a:srgbClr val="64748B"/>
                </a:solidFill>
                <a:latin typeface="Calibri"/>
              </a:rPr>
              <a:t>IPCMS — Integrated Patient Care Management System</a:t>
            </a:r>
          </a:p>
        </p:txBody>
      </p:sp>
      <p:sp>
        <p:nvSpPr>
          <p:cNvPr id="38" name="TextBox 37"/>
          <p:cNvSpPr txBox="1"/>
          <p:nvPr/>
        </p:nvSpPr>
        <p:spPr>
          <a:xfrm>
            <a:off x="10607040" y="6601968"/>
            <a:ext cx="1280160" cy="228600"/>
          </a:xfrm>
          <a:prstGeom prst="rect">
            <a:avLst/>
          </a:prstGeom>
          <a:noFill/>
        </p:spPr>
        <p:txBody>
          <a:bodyPr wrap="square" lIns="36000" rIns="36000" tIns="18000" bIns="18000" anchor="t">
            <a:spAutoFit/>
          </a:bodyPr>
          <a:lstStyle/>
          <a:p>
            <a:pPr algn="r">
              <a:lnSpc>
                <a:spcPct val="120000"/>
              </a:lnSpc>
            </a:pPr>
            <a:r>
              <a:rPr sz="900" b="0" i="0">
                <a:solidFill>
                  <a:srgbClr val="64748B"/>
                </a:solidFill>
                <a:latin typeface="Calibri"/>
              </a:rP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972800" cy="256032"/>
          </a:xfrm>
          <a:prstGeom prst="rect">
            <a:avLst/>
          </a:prstGeom>
          <a:noFill/>
        </p:spPr>
        <p:txBody>
          <a:bodyPr wrap="square" lIns="36000" rIns="36000" tIns="18000" bIns="18000" anchor="t">
            <a:spAutoFit/>
          </a:bodyPr>
          <a:lstStyle/>
          <a:p>
            <a:pPr algn="l">
              <a:lnSpc>
                <a:spcPct val="120000"/>
              </a:lnSpc>
            </a:pPr>
            <a:r>
              <a:rPr sz="1000" b="1" i="0">
                <a:solidFill>
                  <a:srgbClr val="14B8A6"/>
                </a:solidFill>
                <a:latin typeface="Calibri"/>
              </a:rPr>
              <a:t>SECTION 02</a:t>
            </a:r>
          </a:p>
        </p:txBody>
      </p:sp>
      <p:sp>
        <p:nvSpPr>
          <p:cNvPr id="5" name="TextBox 4"/>
          <p:cNvSpPr txBox="1"/>
          <p:nvPr/>
        </p:nvSpPr>
        <p:spPr>
          <a:xfrm>
            <a:off x="713232" y="713232"/>
            <a:ext cx="11155680" cy="502920"/>
          </a:xfrm>
          <a:prstGeom prst="rect">
            <a:avLst/>
          </a:prstGeom>
          <a:noFill/>
        </p:spPr>
        <p:txBody>
          <a:bodyPr wrap="square" lIns="36000" rIns="36000" tIns="18000" bIns="18000" anchor="t">
            <a:spAutoFit/>
          </a:bodyPr>
          <a:lstStyle/>
          <a:p>
            <a:pPr algn="l">
              <a:lnSpc>
                <a:spcPct val="120000"/>
              </a:lnSpc>
            </a:pPr>
            <a:r>
              <a:rPr sz="2600" b="1" i="0">
                <a:solidFill>
                  <a:srgbClr val="0F172A"/>
                </a:solidFill>
                <a:latin typeface="Calibri"/>
              </a:rPr>
              <a:t>How it works</a:t>
            </a:r>
          </a:p>
        </p:txBody>
      </p:sp>
      <p:sp>
        <p:nvSpPr>
          <p:cNvPr id="6" name="TextBox 5"/>
          <p:cNvSpPr txBox="1"/>
          <p:nvPr/>
        </p:nvSpPr>
        <p:spPr>
          <a:xfrm>
            <a:off x="713232" y="1234440"/>
            <a:ext cx="11155680" cy="365760"/>
          </a:xfrm>
          <a:prstGeom prst="rect">
            <a:avLst/>
          </a:prstGeom>
          <a:noFill/>
        </p:spPr>
        <p:txBody>
          <a:bodyPr wrap="square" lIns="36000" rIns="36000" tIns="18000" bIns="18000" anchor="t">
            <a:spAutoFit/>
          </a:bodyPr>
          <a:lstStyle/>
          <a:p>
            <a:pPr algn="l">
              <a:lnSpc>
                <a:spcPct val="120000"/>
              </a:lnSpc>
            </a:pPr>
            <a:r>
              <a:rPr sz="1200" b="0" i="1">
                <a:solidFill>
                  <a:srgbClr val="64748B"/>
                </a:solidFill>
                <a:latin typeface="Calibri"/>
              </a:rPr>
              <a:t>The journey of a single appointment, end to end.</a:t>
            </a:r>
          </a:p>
        </p:txBody>
      </p:sp>
      <p:cxnSp>
        <p:nvCxnSpPr>
          <p:cNvPr id="7" name="Connector 6"/>
          <p:cNvCxnSpPr/>
          <p:nvPr/>
        </p:nvCxnSpPr>
        <p:spPr>
          <a:xfrm>
            <a:off x="713232" y="1627632"/>
            <a:ext cx="10808208"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02920" y="2103120"/>
            <a:ext cx="1920240" cy="2103120"/>
          </a:xfrm>
          <a:prstGeom prst="roundRect">
            <a:avLst>
              <a:gd name="adj" fmla="val 8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8720" y="1828800"/>
            <a:ext cx="548640" cy="548640"/>
          </a:xfrm>
          <a:prstGeom prst="roundRect">
            <a:avLst>
              <a:gd name="adj" fmla="val 50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1828800"/>
            <a:ext cx="548640" cy="548640"/>
          </a:xfrm>
          <a:prstGeom prst="rect">
            <a:avLst/>
          </a:prstGeom>
          <a:noFill/>
        </p:spPr>
        <p:txBody>
          <a:bodyPr wrap="square" lIns="36000" rIns="36000" tIns="18000" bIns="18000" anchor="ctr">
            <a:spAutoFit/>
          </a:bodyPr>
          <a:lstStyle/>
          <a:p>
            <a:pPr algn="ctr">
              <a:lnSpc>
                <a:spcPct val="120000"/>
              </a:lnSpc>
            </a:pPr>
            <a:r>
              <a:rPr sz="1400" b="1" i="0">
                <a:solidFill>
                  <a:srgbClr val="0F172A"/>
                </a:solidFill>
                <a:latin typeface="Calibri"/>
              </a:rPr>
              <a:t>01</a:t>
            </a:r>
          </a:p>
        </p:txBody>
      </p:sp>
      <p:sp>
        <p:nvSpPr>
          <p:cNvPr id="11" name="TextBox 10"/>
          <p:cNvSpPr txBox="1"/>
          <p:nvPr/>
        </p:nvSpPr>
        <p:spPr>
          <a:xfrm>
            <a:off x="502920" y="2606040"/>
            <a:ext cx="1920240" cy="365760"/>
          </a:xfrm>
          <a:prstGeom prst="rect">
            <a:avLst/>
          </a:prstGeom>
          <a:noFill/>
        </p:spPr>
        <p:txBody>
          <a:bodyPr wrap="square" lIns="36000" rIns="36000" tIns="18000" bIns="18000" anchor="t">
            <a:spAutoFit/>
          </a:bodyPr>
          <a:lstStyle/>
          <a:p>
            <a:pPr algn="ctr">
              <a:lnSpc>
                <a:spcPct val="120000"/>
              </a:lnSpc>
            </a:pPr>
            <a:r>
              <a:rPr sz="1400" b="1" i="0">
                <a:solidFill>
                  <a:srgbClr val="0E4F8A"/>
                </a:solidFill>
                <a:latin typeface="Calibri"/>
              </a:rPr>
              <a:t>Sign in</a:t>
            </a:r>
          </a:p>
        </p:txBody>
      </p:sp>
      <p:sp>
        <p:nvSpPr>
          <p:cNvPr id="12" name="TextBox 11"/>
          <p:cNvSpPr txBox="1"/>
          <p:nvPr/>
        </p:nvSpPr>
        <p:spPr>
          <a:xfrm>
            <a:off x="640080" y="3017520"/>
            <a:ext cx="1645920" cy="1143000"/>
          </a:xfrm>
          <a:prstGeom prst="rect">
            <a:avLst/>
          </a:prstGeom>
          <a:noFill/>
        </p:spPr>
        <p:txBody>
          <a:bodyPr wrap="square" lIns="36000" rIns="36000" tIns="18000" bIns="18000" anchor="t">
            <a:spAutoFit/>
          </a:bodyPr>
          <a:lstStyle/>
          <a:p>
            <a:pPr algn="ctr">
              <a:lnSpc>
                <a:spcPct val="130000"/>
              </a:lnSpc>
            </a:pPr>
            <a:r>
              <a:rPr sz="1000" b="0" i="0">
                <a:solidFill>
                  <a:srgbClr val="334E68"/>
                </a:solidFill>
                <a:latin typeface="Calibri"/>
              </a:rPr>
              <a:t>Email + password OR Google OAuth.</a:t>
            </a:r>
          </a:p>
          <a:p>
            <a:pPr algn="ctr">
              <a:lnSpc>
                <a:spcPct val="130000"/>
              </a:lnSpc>
            </a:pPr>
            <a:r>
              <a:rPr sz="1000" b="0" i="0">
                <a:solidFill>
                  <a:srgbClr val="334E68"/>
                </a:solidFill>
                <a:latin typeface="Calibri"/>
              </a:rPr>
              <a:t>Role detected from DB.</a:t>
            </a:r>
          </a:p>
        </p:txBody>
      </p:sp>
      <p:cxnSp>
        <p:nvCxnSpPr>
          <p:cNvPr id="13" name="Connector 12"/>
          <p:cNvCxnSpPr/>
          <p:nvPr/>
        </p:nvCxnSpPr>
        <p:spPr>
          <a:xfrm>
            <a:off x="2459736.0" y="3108960"/>
            <a:ext cx="315468.0" cy="0"/>
          </a:xfrm>
          <a:prstGeom prst="line">
            <a:avLst/>
          </a:prstGeom>
          <a:ln w="19050">
            <a:solidFill>
              <a:srgbClr val="14B8A6"/>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11780" y="2103120"/>
            <a:ext cx="1920240" cy="2103120"/>
          </a:xfrm>
          <a:prstGeom prst="roundRect">
            <a:avLst>
              <a:gd name="adj" fmla="val 8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97580" y="1828800"/>
            <a:ext cx="548640" cy="548640"/>
          </a:xfrm>
          <a:prstGeom prst="roundRect">
            <a:avLst>
              <a:gd name="adj" fmla="val 50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97580" y="1828800"/>
            <a:ext cx="548640" cy="548640"/>
          </a:xfrm>
          <a:prstGeom prst="rect">
            <a:avLst/>
          </a:prstGeom>
          <a:noFill/>
        </p:spPr>
        <p:txBody>
          <a:bodyPr wrap="square" lIns="36000" rIns="36000" tIns="18000" bIns="18000" anchor="ctr">
            <a:spAutoFit/>
          </a:bodyPr>
          <a:lstStyle/>
          <a:p>
            <a:pPr algn="ctr">
              <a:lnSpc>
                <a:spcPct val="120000"/>
              </a:lnSpc>
            </a:pPr>
            <a:r>
              <a:rPr sz="1400" b="1" i="0">
                <a:solidFill>
                  <a:srgbClr val="0F172A"/>
                </a:solidFill>
                <a:latin typeface="Calibri"/>
              </a:rPr>
              <a:t>02</a:t>
            </a:r>
          </a:p>
        </p:txBody>
      </p:sp>
      <p:sp>
        <p:nvSpPr>
          <p:cNvPr id="17" name="TextBox 16"/>
          <p:cNvSpPr txBox="1"/>
          <p:nvPr/>
        </p:nvSpPr>
        <p:spPr>
          <a:xfrm>
            <a:off x="2811780" y="2606040"/>
            <a:ext cx="1920240" cy="365760"/>
          </a:xfrm>
          <a:prstGeom prst="rect">
            <a:avLst/>
          </a:prstGeom>
          <a:noFill/>
        </p:spPr>
        <p:txBody>
          <a:bodyPr wrap="square" lIns="36000" rIns="36000" tIns="18000" bIns="18000" anchor="t">
            <a:spAutoFit/>
          </a:bodyPr>
          <a:lstStyle/>
          <a:p>
            <a:pPr algn="ctr">
              <a:lnSpc>
                <a:spcPct val="120000"/>
              </a:lnSpc>
            </a:pPr>
            <a:r>
              <a:rPr sz="1400" b="1" i="0">
                <a:solidFill>
                  <a:srgbClr val="0E4F8A"/>
                </a:solidFill>
                <a:latin typeface="Calibri"/>
              </a:rPr>
              <a:t>Pick a doctor</a:t>
            </a:r>
          </a:p>
        </p:txBody>
      </p:sp>
      <p:sp>
        <p:nvSpPr>
          <p:cNvPr id="18" name="TextBox 17"/>
          <p:cNvSpPr txBox="1"/>
          <p:nvPr/>
        </p:nvSpPr>
        <p:spPr>
          <a:xfrm>
            <a:off x="2948940" y="3017520"/>
            <a:ext cx="1645920" cy="1143000"/>
          </a:xfrm>
          <a:prstGeom prst="rect">
            <a:avLst/>
          </a:prstGeom>
          <a:noFill/>
        </p:spPr>
        <p:txBody>
          <a:bodyPr wrap="square" lIns="36000" rIns="36000" tIns="18000" bIns="18000" anchor="t">
            <a:spAutoFit/>
          </a:bodyPr>
          <a:lstStyle/>
          <a:p>
            <a:pPr algn="ctr">
              <a:lnSpc>
                <a:spcPct val="130000"/>
              </a:lnSpc>
            </a:pPr>
            <a:r>
              <a:rPr sz="1000" b="0" i="0">
                <a:solidFill>
                  <a:srgbClr val="334E68"/>
                </a:solidFill>
                <a:latin typeface="Calibri"/>
              </a:rPr>
              <a:t>Patient browses specialties,</a:t>
            </a:r>
          </a:p>
          <a:p>
            <a:pPr algn="ctr">
              <a:lnSpc>
                <a:spcPct val="130000"/>
              </a:lnSpc>
            </a:pPr>
            <a:r>
              <a:rPr sz="1000" b="0" i="0">
                <a:solidFill>
                  <a:srgbClr val="334E68"/>
                </a:solidFill>
                <a:latin typeface="Calibri"/>
              </a:rPr>
              <a:t>slots and picks a time.</a:t>
            </a:r>
          </a:p>
        </p:txBody>
      </p:sp>
      <p:cxnSp>
        <p:nvCxnSpPr>
          <p:cNvPr id="19" name="Connector 18"/>
          <p:cNvCxnSpPr/>
          <p:nvPr/>
        </p:nvCxnSpPr>
        <p:spPr>
          <a:xfrm>
            <a:off x="4768596.0" y="3108960"/>
            <a:ext cx="315468.0" cy="0"/>
          </a:xfrm>
          <a:prstGeom prst="line">
            <a:avLst/>
          </a:prstGeom>
          <a:ln w="19050">
            <a:solidFill>
              <a:srgbClr val="14B8A6"/>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20640" y="2103120"/>
            <a:ext cx="1920240" cy="2103120"/>
          </a:xfrm>
          <a:prstGeom prst="roundRect">
            <a:avLst>
              <a:gd name="adj" fmla="val 8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806440" y="1828800"/>
            <a:ext cx="548640" cy="548640"/>
          </a:xfrm>
          <a:prstGeom prst="roundRect">
            <a:avLst>
              <a:gd name="adj" fmla="val 50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06440" y="1828800"/>
            <a:ext cx="548640" cy="548640"/>
          </a:xfrm>
          <a:prstGeom prst="rect">
            <a:avLst/>
          </a:prstGeom>
          <a:noFill/>
        </p:spPr>
        <p:txBody>
          <a:bodyPr wrap="square" lIns="36000" rIns="36000" tIns="18000" bIns="18000" anchor="ctr">
            <a:spAutoFit/>
          </a:bodyPr>
          <a:lstStyle/>
          <a:p>
            <a:pPr algn="ctr">
              <a:lnSpc>
                <a:spcPct val="120000"/>
              </a:lnSpc>
            </a:pPr>
            <a:r>
              <a:rPr sz="1400" b="1" i="0">
                <a:solidFill>
                  <a:srgbClr val="0F172A"/>
                </a:solidFill>
                <a:latin typeface="Calibri"/>
              </a:rPr>
              <a:t>03</a:t>
            </a:r>
          </a:p>
        </p:txBody>
      </p:sp>
      <p:sp>
        <p:nvSpPr>
          <p:cNvPr id="23" name="TextBox 22"/>
          <p:cNvSpPr txBox="1"/>
          <p:nvPr/>
        </p:nvSpPr>
        <p:spPr>
          <a:xfrm>
            <a:off x="5120640" y="2606040"/>
            <a:ext cx="1920240" cy="365760"/>
          </a:xfrm>
          <a:prstGeom prst="rect">
            <a:avLst/>
          </a:prstGeom>
          <a:noFill/>
        </p:spPr>
        <p:txBody>
          <a:bodyPr wrap="square" lIns="36000" rIns="36000" tIns="18000" bIns="18000" anchor="t">
            <a:spAutoFit/>
          </a:bodyPr>
          <a:lstStyle/>
          <a:p>
            <a:pPr algn="ctr">
              <a:lnSpc>
                <a:spcPct val="120000"/>
              </a:lnSpc>
            </a:pPr>
            <a:r>
              <a:rPr sz="1400" b="1" i="0">
                <a:solidFill>
                  <a:srgbClr val="0E4F8A"/>
                </a:solidFill>
                <a:latin typeface="Calibri"/>
              </a:rPr>
              <a:t>AI pre-check</a:t>
            </a:r>
          </a:p>
        </p:txBody>
      </p:sp>
      <p:sp>
        <p:nvSpPr>
          <p:cNvPr id="24" name="TextBox 23"/>
          <p:cNvSpPr txBox="1"/>
          <p:nvPr/>
        </p:nvSpPr>
        <p:spPr>
          <a:xfrm>
            <a:off x="5257800" y="3017520"/>
            <a:ext cx="1645920" cy="1143000"/>
          </a:xfrm>
          <a:prstGeom prst="rect">
            <a:avLst/>
          </a:prstGeom>
          <a:noFill/>
        </p:spPr>
        <p:txBody>
          <a:bodyPr wrap="square" lIns="36000" rIns="36000" tIns="18000" bIns="18000" anchor="t">
            <a:spAutoFit/>
          </a:bodyPr>
          <a:lstStyle/>
          <a:p>
            <a:pPr algn="ctr">
              <a:lnSpc>
                <a:spcPct val="130000"/>
              </a:lnSpc>
            </a:pPr>
            <a:r>
              <a:rPr sz="1000" b="0" i="0">
                <a:solidFill>
                  <a:srgbClr val="334E68"/>
                </a:solidFill>
                <a:latin typeface="Calibri"/>
              </a:rPr>
              <a:t>Care copilot reads the patient's</a:t>
            </a:r>
          </a:p>
          <a:p>
            <a:pPr algn="ctr">
              <a:lnSpc>
                <a:spcPct val="130000"/>
              </a:lnSpc>
            </a:pPr>
            <a:r>
              <a:rPr sz="1000" b="0" i="0">
                <a:solidFill>
                  <a:srgbClr val="334E68"/>
                </a:solidFill>
                <a:latin typeface="Calibri"/>
              </a:rPr>
              <a:t>history + symptom prompt.</a:t>
            </a:r>
          </a:p>
        </p:txBody>
      </p:sp>
      <p:cxnSp>
        <p:nvCxnSpPr>
          <p:cNvPr id="25" name="Connector 24"/>
          <p:cNvCxnSpPr/>
          <p:nvPr/>
        </p:nvCxnSpPr>
        <p:spPr>
          <a:xfrm>
            <a:off x="7077456.0" y="3108960"/>
            <a:ext cx="315468.0" cy="0"/>
          </a:xfrm>
          <a:prstGeom prst="line">
            <a:avLst/>
          </a:prstGeom>
          <a:ln w="19050">
            <a:solidFill>
              <a:srgbClr val="14B8A6"/>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429500" y="2103120"/>
            <a:ext cx="1920240" cy="2103120"/>
          </a:xfrm>
          <a:prstGeom prst="roundRect">
            <a:avLst>
              <a:gd name="adj" fmla="val 8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15300" y="1828800"/>
            <a:ext cx="548640" cy="548640"/>
          </a:xfrm>
          <a:prstGeom prst="roundRect">
            <a:avLst>
              <a:gd name="adj" fmla="val 50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15300" y="1828800"/>
            <a:ext cx="548640" cy="548640"/>
          </a:xfrm>
          <a:prstGeom prst="rect">
            <a:avLst/>
          </a:prstGeom>
          <a:noFill/>
        </p:spPr>
        <p:txBody>
          <a:bodyPr wrap="square" lIns="36000" rIns="36000" tIns="18000" bIns="18000" anchor="ctr">
            <a:spAutoFit/>
          </a:bodyPr>
          <a:lstStyle/>
          <a:p>
            <a:pPr algn="ctr">
              <a:lnSpc>
                <a:spcPct val="120000"/>
              </a:lnSpc>
            </a:pPr>
            <a:r>
              <a:rPr sz="1400" b="1" i="0">
                <a:solidFill>
                  <a:srgbClr val="0F172A"/>
                </a:solidFill>
                <a:latin typeface="Calibri"/>
              </a:rPr>
              <a:t>04</a:t>
            </a:r>
          </a:p>
        </p:txBody>
      </p:sp>
      <p:sp>
        <p:nvSpPr>
          <p:cNvPr id="29" name="TextBox 28"/>
          <p:cNvSpPr txBox="1"/>
          <p:nvPr/>
        </p:nvSpPr>
        <p:spPr>
          <a:xfrm>
            <a:off x="7429500" y="2606040"/>
            <a:ext cx="1920240" cy="365760"/>
          </a:xfrm>
          <a:prstGeom prst="rect">
            <a:avLst/>
          </a:prstGeom>
          <a:noFill/>
        </p:spPr>
        <p:txBody>
          <a:bodyPr wrap="square" lIns="36000" rIns="36000" tIns="18000" bIns="18000" anchor="t">
            <a:spAutoFit/>
          </a:bodyPr>
          <a:lstStyle/>
          <a:p>
            <a:pPr algn="ctr">
              <a:lnSpc>
                <a:spcPct val="120000"/>
              </a:lnSpc>
            </a:pPr>
            <a:r>
              <a:rPr sz="1400" b="1" i="0">
                <a:solidFill>
                  <a:srgbClr val="0E4F8A"/>
                </a:solidFill>
                <a:latin typeface="Calibri"/>
              </a:rPr>
              <a:t>Consultation</a:t>
            </a:r>
          </a:p>
        </p:txBody>
      </p:sp>
      <p:sp>
        <p:nvSpPr>
          <p:cNvPr id="30" name="TextBox 29"/>
          <p:cNvSpPr txBox="1"/>
          <p:nvPr/>
        </p:nvSpPr>
        <p:spPr>
          <a:xfrm>
            <a:off x="7566660" y="3017520"/>
            <a:ext cx="1645920" cy="1143000"/>
          </a:xfrm>
          <a:prstGeom prst="rect">
            <a:avLst/>
          </a:prstGeom>
          <a:noFill/>
        </p:spPr>
        <p:txBody>
          <a:bodyPr wrap="square" lIns="36000" rIns="36000" tIns="18000" bIns="18000" anchor="t">
            <a:spAutoFit/>
          </a:bodyPr>
          <a:lstStyle/>
          <a:p>
            <a:pPr algn="ctr">
              <a:lnSpc>
                <a:spcPct val="130000"/>
              </a:lnSpc>
            </a:pPr>
            <a:r>
              <a:rPr sz="1000" b="0" i="0">
                <a:solidFill>
                  <a:srgbClr val="334E68"/>
                </a:solidFill>
                <a:latin typeface="Calibri"/>
              </a:rPr>
              <a:t>Doctor reviews AI summary,</a:t>
            </a:r>
          </a:p>
          <a:p>
            <a:pPr algn="ctr">
              <a:lnSpc>
                <a:spcPct val="130000"/>
              </a:lnSpc>
            </a:pPr>
            <a:r>
              <a:rPr sz="1000" b="0" i="0">
                <a:solidFill>
                  <a:srgbClr val="334E68"/>
                </a:solidFill>
                <a:latin typeface="Calibri"/>
              </a:rPr>
              <a:t>notes, prescribes meds.</a:t>
            </a:r>
          </a:p>
        </p:txBody>
      </p:sp>
      <p:cxnSp>
        <p:nvCxnSpPr>
          <p:cNvPr id="31" name="Connector 30"/>
          <p:cNvCxnSpPr/>
          <p:nvPr/>
        </p:nvCxnSpPr>
        <p:spPr>
          <a:xfrm>
            <a:off x="9386316.0" y="3108960"/>
            <a:ext cx="315468.0" cy="0"/>
          </a:xfrm>
          <a:prstGeom prst="line">
            <a:avLst/>
          </a:prstGeom>
          <a:ln w="19050">
            <a:solidFill>
              <a:srgbClr val="14B8A6"/>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738360" y="2103120"/>
            <a:ext cx="1920240" cy="2103120"/>
          </a:xfrm>
          <a:prstGeom prst="roundRect">
            <a:avLst>
              <a:gd name="adj" fmla="val 8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0424160" y="1828800"/>
            <a:ext cx="548640" cy="548640"/>
          </a:xfrm>
          <a:prstGeom prst="roundRect">
            <a:avLst>
              <a:gd name="adj" fmla="val 50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0" y="1828800"/>
            <a:ext cx="548640" cy="548640"/>
          </a:xfrm>
          <a:prstGeom prst="rect">
            <a:avLst/>
          </a:prstGeom>
          <a:noFill/>
        </p:spPr>
        <p:txBody>
          <a:bodyPr wrap="square" lIns="36000" rIns="36000" tIns="18000" bIns="18000" anchor="ctr">
            <a:spAutoFit/>
          </a:bodyPr>
          <a:lstStyle/>
          <a:p>
            <a:pPr algn="ctr">
              <a:lnSpc>
                <a:spcPct val="120000"/>
              </a:lnSpc>
            </a:pPr>
            <a:r>
              <a:rPr sz="1400" b="1" i="0">
                <a:solidFill>
                  <a:srgbClr val="0F172A"/>
                </a:solidFill>
                <a:latin typeface="Calibri"/>
              </a:rPr>
              <a:t>05</a:t>
            </a:r>
          </a:p>
        </p:txBody>
      </p:sp>
      <p:sp>
        <p:nvSpPr>
          <p:cNvPr id="35" name="TextBox 34"/>
          <p:cNvSpPr txBox="1"/>
          <p:nvPr/>
        </p:nvSpPr>
        <p:spPr>
          <a:xfrm>
            <a:off x="9738360" y="2606040"/>
            <a:ext cx="1920240" cy="365760"/>
          </a:xfrm>
          <a:prstGeom prst="rect">
            <a:avLst/>
          </a:prstGeom>
          <a:noFill/>
        </p:spPr>
        <p:txBody>
          <a:bodyPr wrap="square" lIns="36000" rIns="36000" tIns="18000" bIns="18000" anchor="t">
            <a:spAutoFit/>
          </a:bodyPr>
          <a:lstStyle/>
          <a:p>
            <a:pPr algn="ctr">
              <a:lnSpc>
                <a:spcPct val="120000"/>
              </a:lnSpc>
            </a:pPr>
            <a:r>
              <a:rPr sz="1400" b="1" i="0">
                <a:solidFill>
                  <a:srgbClr val="0E4F8A"/>
                </a:solidFill>
                <a:latin typeface="Calibri"/>
              </a:rPr>
              <a:t>Follow-up</a:t>
            </a:r>
          </a:p>
        </p:txBody>
      </p:sp>
      <p:sp>
        <p:nvSpPr>
          <p:cNvPr id="36" name="TextBox 35"/>
          <p:cNvSpPr txBox="1"/>
          <p:nvPr/>
        </p:nvSpPr>
        <p:spPr>
          <a:xfrm>
            <a:off x="9875520" y="3017520"/>
            <a:ext cx="1645920" cy="1143000"/>
          </a:xfrm>
          <a:prstGeom prst="rect">
            <a:avLst/>
          </a:prstGeom>
          <a:noFill/>
        </p:spPr>
        <p:txBody>
          <a:bodyPr wrap="square" lIns="36000" rIns="36000" tIns="18000" bIns="18000" anchor="t">
            <a:spAutoFit/>
          </a:bodyPr>
          <a:lstStyle/>
          <a:p>
            <a:pPr algn="ctr">
              <a:lnSpc>
                <a:spcPct val="130000"/>
              </a:lnSpc>
            </a:pPr>
            <a:r>
              <a:rPr sz="1000" b="0" i="0">
                <a:solidFill>
                  <a:srgbClr val="334E68"/>
                </a:solidFill>
                <a:latin typeface="Calibri"/>
              </a:rPr>
              <a:t>Email receipt + chat ref.</a:t>
            </a:r>
          </a:p>
          <a:p>
            <a:pPr algn="ctr">
              <a:lnSpc>
                <a:spcPct val="130000"/>
              </a:lnSpc>
            </a:pPr>
            <a:r>
              <a:rPr sz="1000" b="0" i="0">
                <a:solidFill>
                  <a:srgbClr val="334E68"/>
                </a:solidFill>
                <a:latin typeface="Calibri"/>
              </a:rPr>
              <a:t>Voice chatbot stays 24×7.</a:t>
            </a:r>
          </a:p>
        </p:txBody>
      </p:sp>
      <p:sp>
        <p:nvSpPr>
          <p:cNvPr id="37" name="Rounded Rectangle 36"/>
          <p:cNvSpPr/>
          <p:nvPr/>
        </p:nvSpPr>
        <p:spPr>
          <a:xfrm>
            <a:off x="502920" y="4617720"/>
            <a:ext cx="11155680" cy="1828800"/>
          </a:xfrm>
          <a:prstGeom prst="roundRect">
            <a:avLst>
              <a:gd name="adj" fmla="val 6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4709160"/>
            <a:ext cx="10607040" cy="365760"/>
          </a:xfrm>
          <a:prstGeom prst="rect">
            <a:avLst/>
          </a:prstGeom>
          <a:noFill/>
        </p:spPr>
        <p:txBody>
          <a:bodyPr wrap="square" lIns="36000" rIns="36000" tIns="18000" bIns="18000" anchor="t">
            <a:spAutoFit/>
          </a:bodyPr>
          <a:lstStyle/>
          <a:p>
            <a:pPr algn="l">
              <a:lnSpc>
                <a:spcPct val="120000"/>
              </a:lnSpc>
            </a:pPr>
            <a:r>
              <a:rPr sz="1300" b="1" i="0">
                <a:solidFill>
                  <a:srgbClr val="0E4F8A"/>
                </a:solidFill>
                <a:latin typeface="Calibri"/>
              </a:rPr>
              <a:t>Under the hood — what's moving where</a:t>
            </a:r>
          </a:p>
        </p:txBody>
      </p:sp>
      <p:sp>
        <p:nvSpPr>
          <p:cNvPr id="39" name="TextBox 38"/>
          <p:cNvSpPr txBox="1"/>
          <p:nvPr/>
        </p:nvSpPr>
        <p:spPr>
          <a:xfrm>
            <a:off x="777240" y="5074920"/>
            <a:ext cx="10607040" cy="1371600"/>
          </a:xfrm>
          <a:prstGeom prst="rect">
            <a:avLst/>
          </a:prstGeom>
          <a:noFill/>
        </p:spPr>
        <p:txBody>
          <a:bodyPr wrap="square" lIns="36000" rIns="36000" tIns="18000" bIns="18000">
            <a:spAutoFit/>
          </a:bodyPr>
          <a:lstStyle/>
          <a:p>
            <a:pPr algn="l">
              <a:lnSpc>
                <a:spcPct val="125000"/>
              </a:lnSpc>
              <a:spcBef>
                <a:spcPts val="300"/>
              </a:spcBef>
              <a:spcAft>
                <a:spcPts val="200"/>
              </a:spcAft>
            </a:pPr>
            <a:r>
              <a:rPr sz="1100">
                <a:solidFill>
                  <a:srgbClr val="334E68"/>
                </a:solidFill>
                <a:latin typeface="Calibri"/>
              </a:rPr>
              <a:t>•  Browser  →  Streamlit (Python)  →  PyMySQL  →  MySQL (users, doctors, slots, visits, prescriptions).</a:t>
            </a:r>
          </a:p>
          <a:p>
            <a:pPr algn="l">
              <a:lnSpc>
                <a:spcPct val="125000"/>
              </a:lnSpc>
              <a:spcBef>
                <a:spcPts val="300"/>
              </a:spcBef>
              <a:spcAft>
                <a:spcPts val="200"/>
              </a:spcAft>
            </a:pPr>
            <a:r>
              <a:rPr sz="1100">
                <a:solidFill>
                  <a:srgbClr val="334E68"/>
                </a:solidFill>
                <a:latin typeface="Calibri"/>
              </a:rPr>
              <a:t>•  Two AI side-paths: LangChain + Groq for the in-app care copilot, and a Gemini/Groq voice widget for always-on help.</a:t>
            </a:r>
          </a:p>
          <a:p>
            <a:pPr algn="l">
              <a:lnSpc>
                <a:spcPct val="125000"/>
              </a:lnSpc>
              <a:spcBef>
                <a:spcPts val="300"/>
              </a:spcBef>
              <a:spcAft>
                <a:spcPts val="200"/>
              </a:spcAft>
            </a:pPr>
            <a:r>
              <a:rPr sz="1100">
                <a:solidFill>
                  <a:srgbClr val="334E68"/>
                </a:solidFill>
                <a:latin typeface="Calibri"/>
              </a:rPr>
              <a:t>•  Outbound: Gmail SMTP delivers doctor credentials; ReportLab + pdfplumber export medical records.</a:t>
            </a:r>
          </a:p>
        </p:txBody>
      </p:sp>
      <p:sp>
        <p:nvSpPr>
          <p:cNvPr id="40" name="Rectangle 39"/>
          <p:cNvSpPr/>
          <p:nvPr/>
        </p:nvSpPr>
        <p:spPr>
          <a:xfrm>
            <a:off x="0" y="6565392"/>
            <a:ext cx="12191695" cy="29260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601968"/>
            <a:ext cx="8229600" cy="228600"/>
          </a:xfrm>
          <a:prstGeom prst="rect">
            <a:avLst/>
          </a:prstGeom>
          <a:noFill/>
        </p:spPr>
        <p:txBody>
          <a:bodyPr wrap="square" lIns="36000" rIns="36000" tIns="18000" bIns="18000" anchor="t">
            <a:spAutoFit/>
          </a:bodyPr>
          <a:lstStyle/>
          <a:p>
            <a:pPr algn="l">
              <a:lnSpc>
                <a:spcPct val="120000"/>
              </a:lnSpc>
            </a:pPr>
            <a:r>
              <a:rPr sz="900" b="0" i="1">
                <a:solidFill>
                  <a:srgbClr val="64748B"/>
                </a:solidFill>
                <a:latin typeface="Calibri"/>
              </a:rPr>
              <a:t>IPCMS — Integrated Patient Care Management System</a:t>
            </a:r>
          </a:p>
        </p:txBody>
      </p:sp>
      <p:sp>
        <p:nvSpPr>
          <p:cNvPr id="42" name="TextBox 41"/>
          <p:cNvSpPr txBox="1"/>
          <p:nvPr/>
        </p:nvSpPr>
        <p:spPr>
          <a:xfrm>
            <a:off x="10607040" y="6601968"/>
            <a:ext cx="1280160" cy="228600"/>
          </a:xfrm>
          <a:prstGeom prst="rect">
            <a:avLst/>
          </a:prstGeom>
          <a:noFill/>
        </p:spPr>
        <p:txBody>
          <a:bodyPr wrap="square" lIns="36000" rIns="36000" tIns="18000" bIns="18000" anchor="t">
            <a:spAutoFit/>
          </a:bodyPr>
          <a:lstStyle/>
          <a:p>
            <a:pPr algn="r">
              <a:lnSpc>
                <a:spcPct val="120000"/>
              </a:lnSpc>
            </a:pPr>
            <a:r>
              <a:rPr sz="900" b="0" i="0">
                <a:solidFill>
                  <a:srgbClr val="64748B"/>
                </a:solidFill>
                <a:latin typeface="Calibri"/>
              </a:rP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972800" cy="256032"/>
          </a:xfrm>
          <a:prstGeom prst="rect">
            <a:avLst/>
          </a:prstGeom>
          <a:noFill/>
        </p:spPr>
        <p:txBody>
          <a:bodyPr wrap="square" lIns="36000" rIns="36000" tIns="18000" bIns="18000" anchor="t">
            <a:spAutoFit/>
          </a:bodyPr>
          <a:lstStyle/>
          <a:p>
            <a:pPr algn="l">
              <a:lnSpc>
                <a:spcPct val="120000"/>
              </a:lnSpc>
            </a:pPr>
            <a:r>
              <a:rPr sz="1000" b="1" i="0">
                <a:solidFill>
                  <a:srgbClr val="14B8A6"/>
                </a:solidFill>
                <a:latin typeface="Calibri"/>
              </a:rPr>
              <a:t>SECTION 03</a:t>
            </a:r>
          </a:p>
        </p:txBody>
      </p:sp>
      <p:sp>
        <p:nvSpPr>
          <p:cNvPr id="5" name="TextBox 4"/>
          <p:cNvSpPr txBox="1"/>
          <p:nvPr/>
        </p:nvSpPr>
        <p:spPr>
          <a:xfrm>
            <a:off x="713232" y="713232"/>
            <a:ext cx="11155680" cy="502920"/>
          </a:xfrm>
          <a:prstGeom prst="rect">
            <a:avLst/>
          </a:prstGeom>
          <a:noFill/>
        </p:spPr>
        <p:txBody>
          <a:bodyPr wrap="square" lIns="36000" rIns="36000" tIns="18000" bIns="18000" anchor="t">
            <a:spAutoFit/>
          </a:bodyPr>
          <a:lstStyle/>
          <a:p>
            <a:pPr algn="l">
              <a:lnSpc>
                <a:spcPct val="120000"/>
              </a:lnSpc>
            </a:pPr>
            <a:r>
              <a:rPr sz="2600" b="1" i="0">
                <a:solidFill>
                  <a:srgbClr val="0F172A"/>
                </a:solidFill>
                <a:latin typeface="Calibri"/>
              </a:rPr>
              <a:t>Core components</a:t>
            </a:r>
          </a:p>
        </p:txBody>
      </p:sp>
      <p:sp>
        <p:nvSpPr>
          <p:cNvPr id="6" name="TextBox 5"/>
          <p:cNvSpPr txBox="1"/>
          <p:nvPr/>
        </p:nvSpPr>
        <p:spPr>
          <a:xfrm>
            <a:off x="713232" y="1234440"/>
            <a:ext cx="11155680" cy="365760"/>
          </a:xfrm>
          <a:prstGeom prst="rect">
            <a:avLst/>
          </a:prstGeom>
          <a:noFill/>
        </p:spPr>
        <p:txBody>
          <a:bodyPr wrap="square" lIns="36000" rIns="36000" tIns="18000" bIns="18000" anchor="t">
            <a:spAutoFit/>
          </a:bodyPr>
          <a:lstStyle/>
          <a:p>
            <a:pPr algn="l">
              <a:lnSpc>
                <a:spcPct val="120000"/>
              </a:lnSpc>
            </a:pPr>
            <a:r>
              <a:rPr sz="1200" b="0" i="1">
                <a:solidFill>
                  <a:srgbClr val="64748B"/>
                </a:solidFill>
                <a:latin typeface="Calibri"/>
              </a:rPr>
              <a:t>Three role-aware dashboards, all reading from one MySQL DB.</a:t>
            </a:r>
          </a:p>
        </p:txBody>
      </p:sp>
      <p:cxnSp>
        <p:nvCxnSpPr>
          <p:cNvPr id="7" name="Connector 6"/>
          <p:cNvCxnSpPr/>
          <p:nvPr/>
        </p:nvCxnSpPr>
        <p:spPr>
          <a:xfrm>
            <a:off x="713232" y="1627632"/>
            <a:ext cx="10808208"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02920" y="1828800"/>
            <a:ext cx="3703320" cy="4526280"/>
          </a:xfrm>
          <a:prstGeom prst="roundRect">
            <a:avLst>
              <a:gd name="adj" fmla="val 5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28800"/>
            <a:ext cx="3703320" cy="777240"/>
          </a:xfrm>
          <a:prstGeom prst="rect">
            <a:avLst/>
          </a:prstGeom>
          <a:solidFill>
            <a:srgbClr val="0E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01952"/>
            <a:ext cx="2606040" cy="365760"/>
          </a:xfrm>
          <a:prstGeom prst="rect">
            <a:avLst/>
          </a:prstGeom>
          <a:noFill/>
        </p:spPr>
        <p:txBody>
          <a:bodyPr wrap="square" lIns="36000" rIns="36000" tIns="18000" bIns="18000" anchor="t">
            <a:spAutoFit/>
          </a:bodyPr>
          <a:lstStyle/>
          <a:p>
            <a:pPr algn="l">
              <a:lnSpc>
                <a:spcPct val="120000"/>
              </a:lnSpc>
            </a:pPr>
            <a:r>
              <a:rPr sz="1800" b="1" i="0">
                <a:solidFill>
                  <a:srgbClr val="FFFFFF"/>
                </a:solidFill>
                <a:latin typeface="Calibri"/>
              </a:rPr>
              <a:t>Patient</a:t>
            </a:r>
          </a:p>
        </p:txBody>
      </p:sp>
      <p:sp>
        <p:nvSpPr>
          <p:cNvPr id="11" name="TextBox 10"/>
          <p:cNvSpPr txBox="1"/>
          <p:nvPr/>
        </p:nvSpPr>
        <p:spPr>
          <a:xfrm>
            <a:off x="777240" y="2267712"/>
            <a:ext cx="2606040" cy="292608"/>
          </a:xfrm>
          <a:prstGeom prst="rect">
            <a:avLst/>
          </a:prstGeom>
          <a:noFill/>
        </p:spPr>
        <p:txBody>
          <a:bodyPr wrap="square" lIns="36000" rIns="36000" tIns="18000" bIns="18000" anchor="t">
            <a:spAutoFit/>
          </a:bodyPr>
          <a:lstStyle/>
          <a:p>
            <a:pPr algn="l">
              <a:lnSpc>
                <a:spcPct val="120000"/>
              </a:lnSpc>
            </a:pPr>
            <a:r>
              <a:rPr sz="1000" b="0" i="1">
                <a:solidFill>
                  <a:srgbClr val="CCFBF1"/>
                </a:solidFill>
                <a:latin typeface="Calibri"/>
              </a:rPr>
              <a:t>pages/patient_dashboard.py</a:t>
            </a:r>
          </a:p>
        </p:txBody>
      </p:sp>
      <p:sp>
        <p:nvSpPr>
          <p:cNvPr id="12" name="Rounded Rectangle 11"/>
          <p:cNvSpPr/>
          <p:nvPr/>
        </p:nvSpPr>
        <p:spPr>
          <a:xfrm>
            <a:off x="3520440" y="1965960"/>
            <a:ext cx="502920" cy="5029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0440" y="1965960"/>
            <a:ext cx="502920" cy="502920"/>
          </a:xfrm>
          <a:prstGeom prst="rect">
            <a:avLst/>
          </a:prstGeom>
          <a:noFill/>
        </p:spPr>
        <p:txBody>
          <a:bodyPr wrap="square" lIns="36000" rIns="36000" tIns="18000" bIns="18000" anchor="ctr">
            <a:spAutoFit/>
          </a:bodyPr>
          <a:lstStyle/>
          <a:p>
            <a:pPr algn="ctr">
              <a:lnSpc>
                <a:spcPct val="120000"/>
              </a:lnSpc>
            </a:pPr>
            <a:r>
              <a:rPr sz="2000" b="1" i="0">
                <a:solidFill>
                  <a:srgbClr val="0E4F8A"/>
                </a:solidFill>
                <a:latin typeface="Calibri"/>
              </a:rPr>
              <a:t>P</a:t>
            </a:r>
          </a:p>
        </p:txBody>
      </p:sp>
      <p:sp>
        <p:nvSpPr>
          <p:cNvPr id="14" name="TextBox 13"/>
          <p:cNvSpPr txBox="1"/>
          <p:nvPr/>
        </p:nvSpPr>
        <p:spPr>
          <a:xfrm>
            <a:off x="731520" y="2743200"/>
            <a:ext cx="3246120" cy="3429000"/>
          </a:xfrm>
          <a:prstGeom prst="rect">
            <a:avLst/>
          </a:prstGeom>
          <a:noFill/>
        </p:spPr>
        <p:txBody>
          <a:bodyPr wrap="square" lIns="36000" rIns="36000" tIns="18000" bIns="18000">
            <a:spAutoFit/>
          </a:bodyPr>
          <a:lstStyle/>
          <a:p>
            <a:pPr algn="l">
              <a:lnSpc>
                <a:spcPct val="120000"/>
              </a:lnSpc>
              <a:spcBef>
                <a:spcPts val="300"/>
              </a:spcBef>
              <a:spcAft>
                <a:spcPts val="200"/>
              </a:spcAft>
            </a:pPr>
            <a:r>
              <a:rPr sz="1050">
                <a:solidFill>
                  <a:srgbClr val="334E68"/>
                </a:solidFill>
                <a:latin typeface="Calibri"/>
              </a:rPr>
              <a:t>•  Profile + medical history view</a:t>
            </a:r>
          </a:p>
          <a:p>
            <a:pPr algn="l">
              <a:lnSpc>
                <a:spcPct val="120000"/>
              </a:lnSpc>
              <a:spcBef>
                <a:spcPts val="300"/>
              </a:spcBef>
              <a:spcAft>
                <a:spcPts val="200"/>
              </a:spcAft>
            </a:pPr>
            <a:r>
              <a:rPr sz="1050">
                <a:solidFill>
                  <a:srgbClr val="334E68"/>
                </a:solidFill>
                <a:latin typeface="Calibri"/>
              </a:rPr>
              <a:t>•  Browse doctors by specialty</a:t>
            </a:r>
          </a:p>
          <a:p>
            <a:pPr algn="l">
              <a:lnSpc>
                <a:spcPct val="120000"/>
              </a:lnSpc>
              <a:spcBef>
                <a:spcPts val="300"/>
              </a:spcBef>
              <a:spcAft>
                <a:spcPts val="200"/>
              </a:spcAft>
            </a:pPr>
            <a:r>
              <a:rPr sz="1050">
                <a:solidFill>
                  <a:srgbClr val="334E68"/>
                </a:solidFill>
                <a:latin typeface="Calibri"/>
              </a:rPr>
              <a:t>•  Book / reschedule / cancel slots</a:t>
            </a:r>
          </a:p>
          <a:p>
            <a:pPr algn="l">
              <a:lnSpc>
                <a:spcPct val="120000"/>
              </a:lnSpc>
              <a:spcBef>
                <a:spcPts val="300"/>
              </a:spcBef>
              <a:spcAft>
                <a:spcPts val="200"/>
              </a:spcAft>
            </a:pPr>
            <a:r>
              <a:rPr sz="1050">
                <a:solidFill>
                  <a:srgbClr val="334E68"/>
                </a:solidFill>
                <a:latin typeface="Calibri"/>
              </a:rPr>
              <a:t>•  Symptom checker (AI)</a:t>
            </a:r>
          </a:p>
          <a:p>
            <a:pPr algn="l">
              <a:lnSpc>
                <a:spcPct val="120000"/>
              </a:lnSpc>
              <a:spcBef>
                <a:spcPts val="300"/>
              </a:spcBef>
              <a:spcAft>
                <a:spcPts val="200"/>
              </a:spcAft>
            </a:pPr>
            <a:r>
              <a:rPr sz="1050">
                <a:solidFill>
                  <a:srgbClr val="334E68"/>
                </a:solidFill>
                <a:latin typeface="Calibri"/>
              </a:rPr>
              <a:t>•  Prescription &amp; PDF downloads</a:t>
            </a:r>
          </a:p>
          <a:p>
            <a:pPr algn="l">
              <a:lnSpc>
                <a:spcPct val="120000"/>
              </a:lnSpc>
              <a:spcBef>
                <a:spcPts val="300"/>
              </a:spcBef>
              <a:spcAft>
                <a:spcPts val="200"/>
              </a:spcAft>
            </a:pPr>
            <a:r>
              <a:rPr sz="1050">
                <a:solidFill>
                  <a:srgbClr val="334E68"/>
                </a:solidFill>
                <a:latin typeface="Calibri"/>
              </a:rPr>
              <a:t>•  Floating voice chatbot 24×7</a:t>
            </a:r>
          </a:p>
        </p:txBody>
      </p:sp>
      <p:sp>
        <p:nvSpPr>
          <p:cNvPr id="15" name="Rectangle 14"/>
          <p:cNvSpPr/>
          <p:nvPr/>
        </p:nvSpPr>
        <p:spPr>
          <a:xfrm>
            <a:off x="502920" y="6263640"/>
            <a:ext cx="3703320" cy="91440"/>
          </a:xfrm>
          <a:prstGeom prst="rect">
            <a:avLst/>
          </a:prstGeom>
          <a:solidFill>
            <a:srgbClr val="0E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43400" y="1828800"/>
            <a:ext cx="3703320" cy="4526280"/>
          </a:xfrm>
          <a:prstGeom prst="roundRect">
            <a:avLst>
              <a:gd name="adj" fmla="val 5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43400" y="1828800"/>
            <a:ext cx="3703320" cy="777240"/>
          </a:xfrm>
          <a:prstGeom prst="rect">
            <a:avLst/>
          </a:prstGeom>
          <a:solidFill>
            <a:srgbClr val="06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1901952"/>
            <a:ext cx="2606040" cy="365760"/>
          </a:xfrm>
          <a:prstGeom prst="rect">
            <a:avLst/>
          </a:prstGeom>
          <a:noFill/>
        </p:spPr>
        <p:txBody>
          <a:bodyPr wrap="square" lIns="36000" rIns="36000" tIns="18000" bIns="18000" anchor="t">
            <a:spAutoFit/>
          </a:bodyPr>
          <a:lstStyle/>
          <a:p>
            <a:pPr algn="l">
              <a:lnSpc>
                <a:spcPct val="120000"/>
              </a:lnSpc>
            </a:pPr>
            <a:r>
              <a:rPr sz="1800" b="1" i="0">
                <a:solidFill>
                  <a:srgbClr val="FFFFFF"/>
                </a:solidFill>
                <a:latin typeface="Calibri"/>
              </a:rPr>
              <a:t>Doctor</a:t>
            </a:r>
          </a:p>
        </p:txBody>
      </p:sp>
      <p:sp>
        <p:nvSpPr>
          <p:cNvPr id="19" name="TextBox 18"/>
          <p:cNvSpPr txBox="1"/>
          <p:nvPr/>
        </p:nvSpPr>
        <p:spPr>
          <a:xfrm>
            <a:off x="4617720" y="2267712"/>
            <a:ext cx="2606040" cy="292608"/>
          </a:xfrm>
          <a:prstGeom prst="rect">
            <a:avLst/>
          </a:prstGeom>
          <a:noFill/>
        </p:spPr>
        <p:txBody>
          <a:bodyPr wrap="square" lIns="36000" rIns="36000" tIns="18000" bIns="18000" anchor="t">
            <a:spAutoFit/>
          </a:bodyPr>
          <a:lstStyle/>
          <a:p>
            <a:pPr algn="l">
              <a:lnSpc>
                <a:spcPct val="120000"/>
              </a:lnSpc>
            </a:pPr>
            <a:r>
              <a:rPr sz="1000" b="0" i="1">
                <a:solidFill>
                  <a:srgbClr val="CCFBF1"/>
                </a:solidFill>
                <a:latin typeface="Calibri"/>
              </a:rPr>
              <a:t>pages/doctor_dashboard.py</a:t>
            </a:r>
          </a:p>
        </p:txBody>
      </p:sp>
      <p:sp>
        <p:nvSpPr>
          <p:cNvPr id="20" name="Rounded Rectangle 19"/>
          <p:cNvSpPr/>
          <p:nvPr/>
        </p:nvSpPr>
        <p:spPr>
          <a:xfrm>
            <a:off x="7360920" y="1965960"/>
            <a:ext cx="502920" cy="5029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0920" y="1965960"/>
            <a:ext cx="502920" cy="502920"/>
          </a:xfrm>
          <a:prstGeom prst="rect">
            <a:avLst/>
          </a:prstGeom>
          <a:noFill/>
        </p:spPr>
        <p:txBody>
          <a:bodyPr wrap="square" lIns="36000" rIns="36000" tIns="18000" bIns="18000" anchor="ctr">
            <a:spAutoFit/>
          </a:bodyPr>
          <a:lstStyle/>
          <a:p>
            <a:pPr algn="ctr">
              <a:lnSpc>
                <a:spcPct val="120000"/>
              </a:lnSpc>
            </a:pPr>
            <a:r>
              <a:rPr sz="2000" b="1" i="0">
                <a:solidFill>
                  <a:srgbClr val="066FA8"/>
                </a:solidFill>
                <a:latin typeface="Calibri"/>
              </a:rPr>
              <a:t>D</a:t>
            </a:r>
          </a:p>
        </p:txBody>
      </p:sp>
      <p:sp>
        <p:nvSpPr>
          <p:cNvPr id="22" name="TextBox 21"/>
          <p:cNvSpPr txBox="1"/>
          <p:nvPr/>
        </p:nvSpPr>
        <p:spPr>
          <a:xfrm>
            <a:off x="4572000" y="2743200"/>
            <a:ext cx="3246120" cy="3429000"/>
          </a:xfrm>
          <a:prstGeom prst="rect">
            <a:avLst/>
          </a:prstGeom>
          <a:noFill/>
        </p:spPr>
        <p:txBody>
          <a:bodyPr wrap="square" lIns="36000" rIns="36000" tIns="18000" bIns="18000">
            <a:spAutoFit/>
          </a:bodyPr>
          <a:lstStyle/>
          <a:p>
            <a:pPr algn="l">
              <a:lnSpc>
                <a:spcPct val="120000"/>
              </a:lnSpc>
              <a:spcBef>
                <a:spcPts val="300"/>
              </a:spcBef>
              <a:spcAft>
                <a:spcPts val="200"/>
              </a:spcAft>
            </a:pPr>
            <a:r>
              <a:rPr sz="1050">
                <a:solidFill>
                  <a:srgbClr val="334E68"/>
                </a:solidFill>
                <a:latin typeface="Calibri"/>
              </a:rPr>
              <a:t>•  Today's schedule + queue</a:t>
            </a:r>
          </a:p>
          <a:p>
            <a:pPr algn="l">
              <a:lnSpc>
                <a:spcPct val="120000"/>
              </a:lnSpc>
              <a:spcBef>
                <a:spcPts val="300"/>
              </a:spcBef>
              <a:spcAft>
                <a:spcPts val="200"/>
              </a:spcAft>
            </a:pPr>
            <a:r>
              <a:rPr sz="1050">
                <a:solidFill>
                  <a:srgbClr val="334E68"/>
                </a:solidFill>
                <a:latin typeface="Calibri"/>
              </a:rPr>
              <a:t>•  AI pre-summary of patient</a:t>
            </a:r>
          </a:p>
          <a:p>
            <a:pPr algn="l">
              <a:lnSpc>
                <a:spcPct val="120000"/>
              </a:lnSpc>
              <a:spcBef>
                <a:spcPts val="300"/>
              </a:spcBef>
              <a:spcAft>
                <a:spcPts val="200"/>
              </a:spcAft>
            </a:pPr>
            <a:r>
              <a:rPr sz="1050">
                <a:solidFill>
                  <a:srgbClr val="334E68"/>
                </a:solidFill>
                <a:latin typeface="Calibri"/>
              </a:rPr>
              <a:t>•  Diagnosis, vitals, notes</a:t>
            </a:r>
          </a:p>
          <a:p>
            <a:pPr algn="l">
              <a:lnSpc>
                <a:spcPct val="120000"/>
              </a:lnSpc>
              <a:spcBef>
                <a:spcPts val="300"/>
              </a:spcBef>
              <a:spcAft>
                <a:spcPts val="200"/>
              </a:spcAft>
            </a:pPr>
            <a:r>
              <a:rPr sz="1050">
                <a:solidFill>
                  <a:srgbClr val="334E68"/>
                </a:solidFill>
                <a:latin typeface="Calibri"/>
              </a:rPr>
              <a:t>•  Write / edit prescriptions</a:t>
            </a:r>
          </a:p>
          <a:p>
            <a:pPr algn="l">
              <a:lnSpc>
                <a:spcPct val="120000"/>
              </a:lnSpc>
              <a:spcBef>
                <a:spcPts val="300"/>
              </a:spcBef>
              <a:spcAft>
                <a:spcPts val="200"/>
              </a:spcAft>
            </a:pPr>
            <a:r>
              <a:rPr sz="1050">
                <a:solidFill>
                  <a:srgbClr val="334E68"/>
                </a:solidFill>
                <a:latin typeface="Calibri"/>
              </a:rPr>
              <a:t>•  Manage availability slots</a:t>
            </a:r>
          </a:p>
          <a:p>
            <a:pPr algn="l">
              <a:lnSpc>
                <a:spcPct val="120000"/>
              </a:lnSpc>
              <a:spcBef>
                <a:spcPts val="300"/>
              </a:spcBef>
              <a:spcAft>
                <a:spcPts val="200"/>
              </a:spcAft>
            </a:pPr>
            <a:r>
              <a:rPr sz="1050">
                <a:solidFill>
                  <a:srgbClr val="334E68"/>
                </a:solidFill>
                <a:latin typeface="Calibri"/>
              </a:rPr>
              <a:t>•  Password reset via email</a:t>
            </a:r>
          </a:p>
        </p:txBody>
      </p:sp>
      <p:sp>
        <p:nvSpPr>
          <p:cNvPr id="23" name="Rectangle 22"/>
          <p:cNvSpPr/>
          <p:nvPr/>
        </p:nvSpPr>
        <p:spPr>
          <a:xfrm>
            <a:off x="4343400" y="6263640"/>
            <a:ext cx="3703320" cy="91440"/>
          </a:xfrm>
          <a:prstGeom prst="rect">
            <a:avLst/>
          </a:prstGeom>
          <a:solidFill>
            <a:srgbClr val="06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83880" y="1828800"/>
            <a:ext cx="3703320" cy="4526280"/>
          </a:xfrm>
          <a:prstGeom prst="roundRect">
            <a:avLst>
              <a:gd name="adj" fmla="val 5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83880" y="1828800"/>
            <a:ext cx="3703320" cy="777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58200" y="1901952"/>
            <a:ext cx="2606040" cy="365760"/>
          </a:xfrm>
          <a:prstGeom prst="rect">
            <a:avLst/>
          </a:prstGeom>
          <a:noFill/>
        </p:spPr>
        <p:txBody>
          <a:bodyPr wrap="square" lIns="36000" rIns="36000" tIns="18000" bIns="18000" anchor="t">
            <a:spAutoFit/>
          </a:bodyPr>
          <a:lstStyle/>
          <a:p>
            <a:pPr algn="l">
              <a:lnSpc>
                <a:spcPct val="120000"/>
              </a:lnSpc>
            </a:pPr>
            <a:r>
              <a:rPr sz="1800" b="1" i="0">
                <a:solidFill>
                  <a:srgbClr val="FFFFFF"/>
                </a:solidFill>
                <a:latin typeface="Calibri"/>
              </a:rPr>
              <a:t>Admin</a:t>
            </a:r>
          </a:p>
        </p:txBody>
      </p:sp>
      <p:sp>
        <p:nvSpPr>
          <p:cNvPr id="27" name="TextBox 26"/>
          <p:cNvSpPr txBox="1"/>
          <p:nvPr/>
        </p:nvSpPr>
        <p:spPr>
          <a:xfrm>
            <a:off x="8458200" y="2267712"/>
            <a:ext cx="2606040" cy="292608"/>
          </a:xfrm>
          <a:prstGeom prst="rect">
            <a:avLst/>
          </a:prstGeom>
          <a:noFill/>
        </p:spPr>
        <p:txBody>
          <a:bodyPr wrap="square" lIns="36000" rIns="36000" tIns="18000" bIns="18000" anchor="t">
            <a:spAutoFit/>
          </a:bodyPr>
          <a:lstStyle/>
          <a:p>
            <a:pPr algn="l">
              <a:lnSpc>
                <a:spcPct val="120000"/>
              </a:lnSpc>
            </a:pPr>
            <a:r>
              <a:rPr sz="1000" b="0" i="1">
                <a:solidFill>
                  <a:srgbClr val="CCFBF1"/>
                </a:solidFill>
                <a:latin typeface="Calibri"/>
              </a:rPr>
              <a:t>pages/admin_dashboard.py</a:t>
            </a:r>
          </a:p>
        </p:txBody>
      </p:sp>
      <p:sp>
        <p:nvSpPr>
          <p:cNvPr id="28" name="Rounded Rectangle 27"/>
          <p:cNvSpPr/>
          <p:nvPr/>
        </p:nvSpPr>
        <p:spPr>
          <a:xfrm>
            <a:off x="11201400" y="1965960"/>
            <a:ext cx="502920" cy="5029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01400" y="1965960"/>
            <a:ext cx="502920" cy="502920"/>
          </a:xfrm>
          <a:prstGeom prst="rect">
            <a:avLst/>
          </a:prstGeom>
          <a:noFill/>
        </p:spPr>
        <p:txBody>
          <a:bodyPr wrap="square" lIns="36000" rIns="36000" tIns="18000" bIns="18000" anchor="ctr">
            <a:spAutoFit/>
          </a:bodyPr>
          <a:lstStyle/>
          <a:p>
            <a:pPr algn="ctr">
              <a:lnSpc>
                <a:spcPct val="120000"/>
              </a:lnSpc>
            </a:pPr>
            <a:r>
              <a:rPr sz="2000" b="1" i="0">
                <a:solidFill>
                  <a:srgbClr val="7C3AED"/>
                </a:solidFill>
                <a:latin typeface="Calibri"/>
              </a:rPr>
              <a:t>A</a:t>
            </a:r>
          </a:p>
        </p:txBody>
      </p:sp>
      <p:sp>
        <p:nvSpPr>
          <p:cNvPr id="30" name="TextBox 29"/>
          <p:cNvSpPr txBox="1"/>
          <p:nvPr/>
        </p:nvSpPr>
        <p:spPr>
          <a:xfrm>
            <a:off x="8412480" y="2743200"/>
            <a:ext cx="3246120" cy="3429000"/>
          </a:xfrm>
          <a:prstGeom prst="rect">
            <a:avLst/>
          </a:prstGeom>
          <a:noFill/>
        </p:spPr>
        <p:txBody>
          <a:bodyPr wrap="square" lIns="36000" rIns="36000" tIns="18000" bIns="18000">
            <a:spAutoFit/>
          </a:bodyPr>
          <a:lstStyle/>
          <a:p>
            <a:pPr algn="l">
              <a:lnSpc>
                <a:spcPct val="120000"/>
              </a:lnSpc>
              <a:spcBef>
                <a:spcPts val="300"/>
              </a:spcBef>
              <a:spcAft>
                <a:spcPts val="200"/>
              </a:spcAft>
            </a:pPr>
            <a:r>
              <a:rPr sz="1050">
                <a:solidFill>
                  <a:srgbClr val="334E68"/>
                </a:solidFill>
                <a:latin typeface="Calibri"/>
              </a:rPr>
              <a:t>•  Onboard doctors (email)</a:t>
            </a:r>
          </a:p>
          <a:p>
            <a:pPr algn="l">
              <a:lnSpc>
                <a:spcPct val="120000"/>
              </a:lnSpc>
              <a:spcBef>
                <a:spcPts val="300"/>
              </a:spcBef>
              <a:spcAft>
                <a:spcPts val="200"/>
              </a:spcAft>
            </a:pPr>
            <a:r>
              <a:rPr sz="1050">
                <a:solidFill>
                  <a:srgbClr val="334E68"/>
                </a:solidFill>
                <a:latin typeface="Calibri"/>
              </a:rPr>
              <a:t>•  Activate / deactivate users</a:t>
            </a:r>
          </a:p>
          <a:p>
            <a:pPr algn="l">
              <a:lnSpc>
                <a:spcPct val="120000"/>
              </a:lnSpc>
              <a:spcBef>
                <a:spcPts val="300"/>
              </a:spcBef>
              <a:spcAft>
                <a:spcPts val="200"/>
              </a:spcAft>
            </a:pPr>
            <a:r>
              <a:rPr sz="1050">
                <a:solidFill>
                  <a:srgbClr val="334E68"/>
                </a:solidFill>
                <a:latin typeface="Calibri"/>
              </a:rPr>
              <a:t>•  Specialty &amp; slot oversight</a:t>
            </a:r>
          </a:p>
          <a:p>
            <a:pPr algn="l">
              <a:lnSpc>
                <a:spcPct val="120000"/>
              </a:lnSpc>
              <a:spcBef>
                <a:spcPts val="300"/>
              </a:spcBef>
              <a:spcAft>
                <a:spcPts val="200"/>
              </a:spcAft>
            </a:pPr>
            <a:r>
              <a:rPr sz="1050">
                <a:solidFill>
                  <a:srgbClr val="334E68"/>
                </a:solidFill>
                <a:latin typeface="Calibri"/>
              </a:rPr>
              <a:t>•  Analytics: visits, revenue</a:t>
            </a:r>
          </a:p>
          <a:p>
            <a:pPr algn="l">
              <a:lnSpc>
                <a:spcPct val="120000"/>
              </a:lnSpc>
              <a:spcBef>
                <a:spcPts val="300"/>
              </a:spcBef>
              <a:spcAft>
                <a:spcPts val="200"/>
              </a:spcAft>
            </a:pPr>
            <a:r>
              <a:rPr sz="1050">
                <a:solidFill>
                  <a:srgbClr val="334E68"/>
                </a:solidFill>
                <a:latin typeface="Calibri"/>
              </a:rPr>
              <a:t>•  Reset doctor passwords</a:t>
            </a:r>
          </a:p>
          <a:p>
            <a:pPr algn="l">
              <a:lnSpc>
                <a:spcPct val="120000"/>
              </a:lnSpc>
              <a:spcBef>
                <a:spcPts val="300"/>
              </a:spcBef>
              <a:spcAft>
                <a:spcPts val="200"/>
              </a:spcAft>
            </a:pPr>
            <a:r>
              <a:rPr sz="1050">
                <a:solidFill>
                  <a:srgbClr val="334E68"/>
                </a:solidFill>
                <a:latin typeface="Calibri"/>
              </a:rPr>
              <a:t>•  Full DB-backed audit view</a:t>
            </a:r>
          </a:p>
        </p:txBody>
      </p:sp>
      <p:sp>
        <p:nvSpPr>
          <p:cNvPr id="31" name="Rectangle 30"/>
          <p:cNvSpPr/>
          <p:nvPr/>
        </p:nvSpPr>
        <p:spPr>
          <a:xfrm>
            <a:off x="8183880" y="6263640"/>
            <a:ext cx="370332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6565392"/>
            <a:ext cx="12191695" cy="29260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6601968"/>
            <a:ext cx="8229600" cy="228600"/>
          </a:xfrm>
          <a:prstGeom prst="rect">
            <a:avLst/>
          </a:prstGeom>
          <a:noFill/>
        </p:spPr>
        <p:txBody>
          <a:bodyPr wrap="square" lIns="36000" rIns="36000" tIns="18000" bIns="18000" anchor="t">
            <a:spAutoFit/>
          </a:bodyPr>
          <a:lstStyle/>
          <a:p>
            <a:pPr algn="l">
              <a:lnSpc>
                <a:spcPct val="120000"/>
              </a:lnSpc>
            </a:pPr>
            <a:r>
              <a:rPr sz="900" b="0" i="1">
                <a:solidFill>
                  <a:srgbClr val="64748B"/>
                </a:solidFill>
                <a:latin typeface="Calibri"/>
              </a:rPr>
              <a:t>IPCMS — Integrated Patient Care Management System</a:t>
            </a:r>
          </a:p>
        </p:txBody>
      </p:sp>
      <p:sp>
        <p:nvSpPr>
          <p:cNvPr id="34" name="TextBox 33"/>
          <p:cNvSpPr txBox="1"/>
          <p:nvPr/>
        </p:nvSpPr>
        <p:spPr>
          <a:xfrm>
            <a:off x="10607040" y="6601968"/>
            <a:ext cx="1280160" cy="228600"/>
          </a:xfrm>
          <a:prstGeom prst="rect">
            <a:avLst/>
          </a:prstGeom>
          <a:noFill/>
        </p:spPr>
        <p:txBody>
          <a:bodyPr wrap="square" lIns="36000" rIns="36000" tIns="18000" bIns="18000" anchor="t">
            <a:spAutoFit/>
          </a:bodyPr>
          <a:lstStyle/>
          <a:p>
            <a:pPr algn="r">
              <a:lnSpc>
                <a:spcPct val="120000"/>
              </a:lnSpc>
            </a:pPr>
            <a:r>
              <a:rPr sz="900" b="0" i="0">
                <a:solidFill>
                  <a:srgbClr val="64748B"/>
                </a:solidFill>
                <a:latin typeface="Calibri"/>
              </a:rP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972800" cy="256032"/>
          </a:xfrm>
          <a:prstGeom prst="rect">
            <a:avLst/>
          </a:prstGeom>
          <a:noFill/>
        </p:spPr>
        <p:txBody>
          <a:bodyPr wrap="square" lIns="36000" rIns="36000" tIns="18000" bIns="18000" anchor="t">
            <a:spAutoFit/>
          </a:bodyPr>
          <a:lstStyle/>
          <a:p>
            <a:pPr algn="l">
              <a:lnSpc>
                <a:spcPct val="120000"/>
              </a:lnSpc>
            </a:pPr>
            <a:r>
              <a:rPr sz="1000" b="1" i="0">
                <a:solidFill>
                  <a:srgbClr val="14B8A6"/>
                </a:solidFill>
                <a:latin typeface="Calibri"/>
              </a:rPr>
              <a:t>SECTION 04</a:t>
            </a:r>
          </a:p>
        </p:txBody>
      </p:sp>
      <p:sp>
        <p:nvSpPr>
          <p:cNvPr id="5" name="TextBox 4"/>
          <p:cNvSpPr txBox="1"/>
          <p:nvPr/>
        </p:nvSpPr>
        <p:spPr>
          <a:xfrm>
            <a:off x="713232" y="713232"/>
            <a:ext cx="11155680" cy="502920"/>
          </a:xfrm>
          <a:prstGeom prst="rect">
            <a:avLst/>
          </a:prstGeom>
          <a:noFill/>
        </p:spPr>
        <p:txBody>
          <a:bodyPr wrap="square" lIns="36000" rIns="36000" tIns="18000" bIns="18000" anchor="t">
            <a:spAutoFit/>
          </a:bodyPr>
          <a:lstStyle/>
          <a:p>
            <a:pPr algn="l">
              <a:lnSpc>
                <a:spcPct val="120000"/>
              </a:lnSpc>
            </a:pPr>
            <a:r>
              <a:rPr sz="2600" b="1" i="0">
                <a:solidFill>
                  <a:srgbClr val="0F172A"/>
                </a:solidFill>
                <a:latin typeface="Calibri"/>
              </a:rPr>
              <a:t>AI implementations</a:t>
            </a:r>
          </a:p>
        </p:txBody>
      </p:sp>
      <p:sp>
        <p:nvSpPr>
          <p:cNvPr id="6" name="TextBox 5"/>
          <p:cNvSpPr txBox="1"/>
          <p:nvPr/>
        </p:nvSpPr>
        <p:spPr>
          <a:xfrm>
            <a:off x="713232" y="1234440"/>
            <a:ext cx="11155680" cy="365760"/>
          </a:xfrm>
          <a:prstGeom prst="rect">
            <a:avLst/>
          </a:prstGeom>
          <a:noFill/>
        </p:spPr>
        <p:txBody>
          <a:bodyPr wrap="square" lIns="36000" rIns="36000" tIns="18000" bIns="18000" anchor="t">
            <a:spAutoFit/>
          </a:bodyPr>
          <a:lstStyle/>
          <a:p>
            <a:pPr algn="l">
              <a:lnSpc>
                <a:spcPct val="120000"/>
              </a:lnSpc>
            </a:pPr>
            <a:r>
              <a:rPr sz="1200" b="0" i="1">
                <a:solidFill>
                  <a:srgbClr val="64748B"/>
                </a:solidFill>
                <a:latin typeface="Calibri"/>
              </a:rPr>
              <a:t>Four places where an LLM actually does something useful.</a:t>
            </a:r>
          </a:p>
        </p:txBody>
      </p:sp>
      <p:cxnSp>
        <p:nvCxnSpPr>
          <p:cNvPr id="7" name="Connector 6"/>
          <p:cNvCxnSpPr/>
          <p:nvPr/>
        </p:nvCxnSpPr>
        <p:spPr>
          <a:xfrm>
            <a:off x="713232" y="1627632"/>
            <a:ext cx="10808208"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02920" y="1828800"/>
            <a:ext cx="5532120" cy="2286000"/>
          </a:xfrm>
          <a:prstGeom prst="roundRect">
            <a:avLst>
              <a:gd name="adj" fmla="val 5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28800"/>
            <a:ext cx="146304" cy="2286000"/>
          </a:xfrm>
          <a:prstGeom prst="rect">
            <a:avLst/>
          </a:prstGeom>
          <a:solidFill>
            <a:srgbClr val="0E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920240"/>
            <a:ext cx="4983480" cy="274320"/>
          </a:xfrm>
          <a:prstGeom prst="rect">
            <a:avLst/>
          </a:prstGeom>
          <a:noFill/>
        </p:spPr>
        <p:txBody>
          <a:bodyPr wrap="square" lIns="36000" rIns="36000" tIns="18000" bIns="18000" anchor="t">
            <a:spAutoFit/>
          </a:bodyPr>
          <a:lstStyle/>
          <a:p>
            <a:pPr algn="l">
              <a:lnSpc>
                <a:spcPct val="120000"/>
              </a:lnSpc>
            </a:pPr>
            <a:r>
              <a:rPr sz="950" b="1" i="0">
                <a:solidFill>
                  <a:srgbClr val="0E4F8A"/>
                </a:solidFill>
                <a:latin typeface="Calibri"/>
              </a:rPr>
              <a:t>01  •  IN-APP COPILOT</a:t>
            </a:r>
          </a:p>
        </p:txBody>
      </p:sp>
      <p:sp>
        <p:nvSpPr>
          <p:cNvPr id="11" name="TextBox 10"/>
          <p:cNvSpPr txBox="1"/>
          <p:nvPr/>
        </p:nvSpPr>
        <p:spPr>
          <a:xfrm>
            <a:off x="868680" y="2176272"/>
            <a:ext cx="4983480" cy="411480"/>
          </a:xfrm>
          <a:prstGeom prst="rect">
            <a:avLst/>
          </a:prstGeom>
          <a:noFill/>
        </p:spPr>
        <p:txBody>
          <a:bodyPr wrap="square" lIns="36000" rIns="36000" tIns="18000" bIns="18000" anchor="t">
            <a:spAutoFit/>
          </a:bodyPr>
          <a:lstStyle/>
          <a:p>
            <a:pPr algn="l">
              <a:lnSpc>
                <a:spcPct val="120000"/>
              </a:lnSpc>
            </a:pPr>
            <a:r>
              <a:rPr sz="1700" b="1" i="0">
                <a:solidFill>
                  <a:srgbClr val="0F172A"/>
                </a:solidFill>
                <a:latin typeface="Calibri"/>
              </a:rPr>
              <a:t>AI Care</a:t>
            </a:r>
          </a:p>
        </p:txBody>
      </p:sp>
      <p:sp>
        <p:nvSpPr>
          <p:cNvPr id="12" name="TextBox 11"/>
          <p:cNvSpPr txBox="1"/>
          <p:nvPr/>
        </p:nvSpPr>
        <p:spPr>
          <a:xfrm>
            <a:off x="868680" y="2587752"/>
            <a:ext cx="4983480" cy="292608"/>
          </a:xfrm>
          <a:prstGeom prst="rect">
            <a:avLst/>
          </a:prstGeom>
          <a:noFill/>
        </p:spPr>
        <p:txBody>
          <a:bodyPr wrap="square" lIns="36000" rIns="36000" tIns="18000" bIns="18000" anchor="t">
            <a:spAutoFit/>
          </a:bodyPr>
          <a:lstStyle/>
          <a:p>
            <a:pPr algn="l">
              <a:lnSpc>
                <a:spcPct val="120000"/>
              </a:lnSpc>
            </a:pPr>
            <a:r>
              <a:rPr sz="1000" b="0" i="1">
                <a:solidFill>
                  <a:srgbClr val="64748B"/>
                </a:solidFill>
                <a:latin typeface="Calibri"/>
              </a:rPr>
              <a:t>LangChain + Groq (openai/gpt-oss-120b, fallback llama-3.1-8b-instant)</a:t>
            </a:r>
          </a:p>
        </p:txBody>
      </p:sp>
      <p:sp>
        <p:nvSpPr>
          <p:cNvPr id="13" name="TextBox 12"/>
          <p:cNvSpPr txBox="1"/>
          <p:nvPr/>
        </p:nvSpPr>
        <p:spPr>
          <a:xfrm>
            <a:off x="868680" y="2907792"/>
            <a:ext cx="4983480" cy="914400"/>
          </a:xfrm>
          <a:prstGeom prst="rect">
            <a:avLst/>
          </a:prstGeom>
          <a:noFill/>
        </p:spPr>
        <p:txBody>
          <a:bodyPr wrap="square" lIns="36000" rIns="36000" tIns="18000" bIns="18000" anchor="t">
            <a:spAutoFit/>
          </a:bodyPr>
          <a:lstStyle/>
          <a:p>
            <a:pPr algn="l">
              <a:lnSpc>
                <a:spcPct val="130000"/>
              </a:lnSpc>
            </a:pPr>
            <a:r>
              <a:rPr sz="1050" b="0" i="0">
                <a:solidFill>
                  <a:srgbClr val="334E68"/>
                </a:solidFill>
                <a:latin typeface="Calibri"/>
              </a:rPr>
              <a:t>Database-aware assistant. Reads users, doctors, slots and visits tables to answer 'who's free tomorrow?', 'show my last visit', 'book Dr. Sharma at 4pm'. Also surfaces patient history to the doctor before a consult.</a:t>
            </a:r>
          </a:p>
        </p:txBody>
      </p:sp>
      <p:cxnSp>
        <p:nvCxnSpPr>
          <p:cNvPr id="14" name="Connector 13"/>
          <p:cNvCxnSpPr/>
          <p:nvPr/>
        </p:nvCxnSpPr>
        <p:spPr>
          <a:xfrm>
            <a:off x="868680" y="3730752"/>
            <a:ext cx="4983480" cy="0"/>
          </a:xfrm>
          <a:prstGeom prst="line">
            <a:avLst/>
          </a:prstGeom>
          <a:ln w="6350">
            <a:solidFill>
              <a:srgbClr val="CBD5E1"/>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68680" y="3794760"/>
            <a:ext cx="4983480" cy="274320"/>
          </a:xfrm>
          <a:prstGeom prst="rect">
            <a:avLst/>
          </a:prstGeom>
          <a:noFill/>
        </p:spPr>
        <p:txBody>
          <a:bodyPr wrap="square" lIns="36000" rIns="36000" tIns="18000" bIns="18000" anchor="t">
            <a:spAutoFit/>
          </a:bodyPr>
          <a:lstStyle/>
          <a:p>
            <a:pPr algn="l">
              <a:lnSpc>
                <a:spcPct val="120000"/>
              </a:lnSpc>
            </a:pPr>
            <a:r>
              <a:rPr sz="950" b="0" i="1">
                <a:solidFill>
                  <a:srgbClr val="64748B"/>
                </a:solidFill>
                <a:latin typeface="Calibri"/>
              </a:rPr>
              <a:t>file: ai_care.py</a:t>
            </a:r>
          </a:p>
        </p:txBody>
      </p:sp>
      <p:sp>
        <p:nvSpPr>
          <p:cNvPr id="16" name="Rounded Rectangle 15"/>
          <p:cNvSpPr/>
          <p:nvPr/>
        </p:nvSpPr>
        <p:spPr>
          <a:xfrm>
            <a:off x="6172200" y="1828800"/>
            <a:ext cx="5532120" cy="2286000"/>
          </a:xfrm>
          <a:prstGeom prst="roundRect">
            <a:avLst>
              <a:gd name="adj" fmla="val 5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72200" y="1828800"/>
            <a:ext cx="146304" cy="2286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1920240"/>
            <a:ext cx="4983480" cy="274320"/>
          </a:xfrm>
          <a:prstGeom prst="rect">
            <a:avLst/>
          </a:prstGeom>
          <a:noFill/>
        </p:spPr>
        <p:txBody>
          <a:bodyPr wrap="square" lIns="36000" rIns="36000" tIns="18000" bIns="18000" anchor="t">
            <a:spAutoFit/>
          </a:bodyPr>
          <a:lstStyle/>
          <a:p>
            <a:pPr algn="l">
              <a:lnSpc>
                <a:spcPct val="120000"/>
              </a:lnSpc>
            </a:pPr>
            <a:r>
              <a:rPr sz="950" b="1" i="0">
                <a:solidFill>
                  <a:srgbClr val="14B8A6"/>
                </a:solidFill>
                <a:latin typeface="Calibri"/>
              </a:rPr>
              <a:t>02  •  ALWAYS-ON HELPER</a:t>
            </a:r>
          </a:p>
        </p:txBody>
      </p:sp>
      <p:sp>
        <p:nvSpPr>
          <p:cNvPr id="19" name="TextBox 18"/>
          <p:cNvSpPr txBox="1"/>
          <p:nvPr/>
        </p:nvSpPr>
        <p:spPr>
          <a:xfrm>
            <a:off x="6537960" y="2176272"/>
            <a:ext cx="4983480" cy="411480"/>
          </a:xfrm>
          <a:prstGeom prst="rect">
            <a:avLst/>
          </a:prstGeom>
          <a:noFill/>
        </p:spPr>
        <p:txBody>
          <a:bodyPr wrap="square" lIns="36000" rIns="36000" tIns="18000" bIns="18000" anchor="t">
            <a:spAutoFit/>
          </a:bodyPr>
          <a:lstStyle/>
          <a:p>
            <a:pPr algn="l">
              <a:lnSpc>
                <a:spcPct val="120000"/>
              </a:lnSpc>
            </a:pPr>
            <a:r>
              <a:rPr sz="1700" b="1" i="0">
                <a:solidFill>
                  <a:srgbClr val="0F172A"/>
                </a:solidFill>
                <a:latin typeface="Calibri"/>
              </a:rPr>
              <a:t>Floating Voice Chatbot</a:t>
            </a:r>
          </a:p>
        </p:txBody>
      </p:sp>
      <p:sp>
        <p:nvSpPr>
          <p:cNvPr id="20" name="TextBox 19"/>
          <p:cNvSpPr txBox="1"/>
          <p:nvPr/>
        </p:nvSpPr>
        <p:spPr>
          <a:xfrm>
            <a:off x="6537960" y="2587752"/>
            <a:ext cx="4983480" cy="292608"/>
          </a:xfrm>
          <a:prstGeom prst="rect">
            <a:avLst/>
          </a:prstGeom>
          <a:noFill/>
        </p:spPr>
        <p:txBody>
          <a:bodyPr wrap="square" lIns="36000" rIns="36000" tIns="18000" bIns="18000" anchor="t">
            <a:spAutoFit/>
          </a:bodyPr>
          <a:lstStyle/>
          <a:p>
            <a:pPr algn="l">
              <a:lnSpc>
                <a:spcPct val="120000"/>
              </a:lnSpc>
            </a:pPr>
            <a:r>
              <a:rPr sz="1000" b="0" i="1">
                <a:solidFill>
                  <a:srgbClr val="64748B"/>
                </a:solidFill>
                <a:latin typeface="Calibri"/>
              </a:rPr>
              <a:t>Gemini API + Groq fallback  •  Web Speech (STT + TTS)  •  Glass UI</a:t>
            </a:r>
          </a:p>
        </p:txBody>
      </p:sp>
      <p:sp>
        <p:nvSpPr>
          <p:cNvPr id="21" name="TextBox 20"/>
          <p:cNvSpPr txBox="1"/>
          <p:nvPr/>
        </p:nvSpPr>
        <p:spPr>
          <a:xfrm>
            <a:off x="6537960" y="2907792"/>
            <a:ext cx="4983480" cy="914400"/>
          </a:xfrm>
          <a:prstGeom prst="rect">
            <a:avLst/>
          </a:prstGeom>
          <a:noFill/>
        </p:spPr>
        <p:txBody>
          <a:bodyPr wrap="square" lIns="36000" rIns="36000" tIns="18000" bIns="18000" anchor="t">
            <a:spAutoFit/>
          </a:bodyPr>
          <a:lstStyle/>
          <a:p>
            <a:pPr algn="l">
              <a:lnSpc>
                <a:spcPct val="130000"/>
              </a:lnSpc>
            </a:pPr>
            <a:r>
              <a:rPr sz="1050" b="0" i="0">
                <a:solidFill>
                  <a:srgbClr val="334E68"/>
                </a:solidFill>
                <a:latin typeface="Calibri"/>
              </a:rPr>
              <a:t>A mic-button widget pinned bottom-right on every page. Patients speak their question, the JS mic captures it, the model answers, and the response is read back aloud via the browser.</a:t>
            </a:r>
          </a:p>
        </p:txBody>
      </p:sp>
      <p:cxnSp>
        <p:nvCxnSpPr>
          <p:cNvPr id="22" name="Connector 21"/>
          <p:cNvCxnSpPr/>
          <p:nvPr/>
        </p:nvCxnSpPr>
        <p:spPr>
          <a:xfrm>
            <a:off x="6537960" y="3730752"/>
            <a:ext cx="4983480" cy="0"/>
          </a:xfrm>
          <a:prstGeom prst="line">
            <a:avLst/>
          </a:prstGeom>
          <a:ln w="6350">
            <a:solidFill>
              <a:srgbClr val="CBD5E1"/>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537960" y="3794760"/>
            <a:ext cx="4983480" cy="274320"/>
          </a:xfrm>
          <a:prstGeom prst="rect">
            <a:avLst/>
          </a:prstGeom>
          <a:noFill/>
        </p:spPr>
        <p:txBody>
          <a:bodyPr wrap="square" lIns="36000" rIns="36000" tIns="18000" bIns="18000" anchor="t">
            <a:spAutoFit/>
          </a:bodyPr>
          <a:lstStyle/>
          <a:p>
            <a:pPr algn="l">
              <a:lnSpc>
                <a:spcPct val="120000"/>
              </a:lnSpc>
            </a:pPr>
            <a:r>
              <a:rPr sz="950" b="0" i="1">
                <a:solidFill>
                  <a:srgbClr val="64748B"/>
                </a:solidFill>
                <a:latin typeface="Calibri"/>
              </a:rPr>
              <a:t>file: voice_chatbot.py</a:t>
            </a:r>
          </a:p>
        </p:txBody>
      </p:sp>
      <p:sp>
        <p:nvSpPr>
          <p:cNvPr id="24" name="Rounded Rectangle 23"/>
          <p:cNvSpPr/>
          <p:nvPr/>
        </p:nvSpPr>
        <p:spPr>
          <a:xfrm>
            <a:off x="502920" y="4251960"/>
            <a:ext cx="5532120" cy="2286000"/>
          </a:xfrm>
          <a:prstGeom prst="roundRect">
            <a:avLst>
              <a:gd name="adj" fmla="val 5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4251960"/>
            <a:ext cx="146304" cy="2286000"/>
          </a:xfrm>
          <a:prstGeom prst="rect">
            <a:avLst/>
          </a:prstGeom>
          <a:solidFill>
            <a:srgbClr val="06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343400"/>
            <a:ext cx="4983480" cy="274320"/>
          </a:xfrm>
          <a:prstGeom prst="rect">
            <a:avLst/>
          </a:prstGeom>
          <a:noFill/>
        </p:spPr>
        <p:txBody>
          <a:bodyPr wrap="square" lIns="36000" rIns="36000" tIns="18000" bIns="18000" anchor="t">
            <a:spAutoFit/>
          </a:bodyPr>
          <a:lstStyle/>
          <a:p>
            <a:pPr algn="l">
              <a:lnSpc>
                <a:spcPct val="120000"/>
              </a:lnSpc>
            </a:pPr>
            <a:r>
              <a:rPr sz="950" b="1" i="0">
                <a:solidFill>
                  <a:srgbClr val="066FA8"/>
                </a:solidFill>
                <a:latin typeface="Calibri"/>
              </a:rPr>
              <a:t>03  •  PUBLIC (PRE-LOGIN)</a:t>
            </a:r>
          </a:p>
        </p:txBody>
      </p:sp>
      <p:sp>
        <p:nvSpPr>
          <p:cNvPr id="27" name="TextBox 26"/>
          <p:cNvSpPr txBox="1"/>
          <p:nvPr/>
        </p:nvSpPr>
        <p:spPr>
          <a:xfrm>
            <a:off x="868680" y="4599432"/>
            <a:ext cx="4983480" cy="411480"/>
          </a:xfrm>
          <a:prstGeom prst="rect">
            <a:avLst/>
          </a:prstGeom>
          <a:noFill/>
        </p:spPr>
        <p:txBody>
          <a:bodyPr wrap="square" lIns="36000" rIns="36000" tIns="18000" bIns="18000" anchor="t">
            <a:spAutoFit/>
          </a:bodyPr>
          <a:lstStyle/>
          <a:p>
            <a:pPr algn="l">
              <a:lnSpc>
                <a:spcPct val="120000"/>
              </a:lnSpc>
            </a:pPr>
            <a:r>
              <a:rPr sz="1700" b="1" i="0">
                <a:solidFill>
                  <a:srgbClr val="0F172A"/>
                </a:solidFill>
                <a:latin typeface="Calibri"/>
              </a:rPr>
              <a:t>Public LLM Chat</a:t>
            </a:r>
          </a:p>
        </p:txBody>
      </p:sp>
      <p:sp>
        <p:nvSpPr>
          <p:cNvPr id="28" name="TextBox 27"/>
          <p:cNvSpPr txBox="1"/>
          <p:nvPr/>
        </p:nvSpPr>
        <p:spPr>
          <a:xfrm>
            <a:off x="868680" y="5010912"/>
            <a:ext cx="4983480" cy="292608"/>
          </a:xfrm>
          <a:prstGeom prst="rect">
            <a:avLst/>
          </a:prstGeom>
          <a:noFill/>
        </p:spPr>
        <p:txBody>
          <a:bodyPr wrap="square" lIns="36000" rIns="36000" tIns="18000" bIns="18000" anchor="t">
            <a:spAutoFit/>
          </a:bodyPr>
          <a:lstStyle/>
          <a:p>
            <a:pPr algn="l">
              <a:lnSpc>
                <a:spcPct val="120000"/>
              </a:lnSpc>
            </a:pPr>
            <a:r>
              <a:rPr sz="1000" b="0" i="1">
                <a:solidFill>
                  <a:srgbClr val="64748B"/>
                </a:solidFill>
                <a:latin typeface="Calibri"/>
              </a:rPr>
              <a:t>ChatGroq  •  LangChain Core</a:t>
            </a:r>
          </a:p>
        </p:txBody>
      </p:sp>
      <p:sp>
        <p:nvSpPr>
          <p:cNvPr id="29" name="TextBox 28"/>
          <p:cNvSpPr txBox="1"/>
          <p:nvPr/>
        </p:nvSpPr>
        <p:spPr>
          <a:xfrm>
            <a:off x="868680" y="5330952"/>
            <a:ext cx="4983480" cy="914400"/>
          </a:xfrm>
          <a:prstGeom prst="rect">
            <a:avLst/>
          </a:prstGeom>
          <a:noFill/>
        </p:spPr>
        <p:txBody>
          <a:bodyPr wrap="square" lIns="36000" rIns="36000" tIns="18000" bIns="18000" anchor="t">
            <a:spAutoFit/>
          </a:bodyPr>
          <a:lstStyle/>
          <a:p>
            <a:pPr algn="l">
              <a:lnSpc>
                <a:spcPct val="130000"/>
              </a:lnSpc>
            </a:pPr>
            <a:r>
              <a:rPr sz="1050" b="0" i="0">
                <a:solidFill>
                  <a:srgbClr val="334E68"/>
                </a:solidFill>
                <a:latin typeface="Calibri"/>
              </a:rPr>
              <a:t>A small 'ask anything' panel on the home page for visitors who haven't signed in yet. Answers FAQs about the product and gives a feel for what the AI does inside the app.</a:t>
            </a:r>
          </a:p>
        </p:txBody>
      </p:sp>
      <p:cxnSp>
        <p:nvCxnSpPr>
          <p:cNvPr id="30" name="Connector 29"/>
          <p:cNvCxnSpPr/>
          <p:nvPr/>
        </p:nvCxnSpPr>
        <p:spPr>
          <a:xfrm>
            <a:off x="868680" y="6153912"/>
            <a:ext cx="4983480" cy="0"/>
          </a:xfrm>
          <a:prstGeom prst="line">
            <a:avLst/>
          </a:prstGeom>
          <a:ln w="6350">
            <a:solidFill>
              <a:srgbClr val="CBD5E1"/>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68680" y="6217920"/>
            <a:ext cx="4983480" cy="274320"/>
          </a:xfrm>
          <a:prstGeom prst="rect">
            <a:avLst/>
          </a:prstGeom>
          <a:noFill/>
        </p:spPr>
        <p:txBody>
          <a:bodyPr wrap="square" lIns="36000" rIns="36000" tIns="18000" bIns="18000" anchor="t">
            <a:spAutoFit/>
          </a:bodyPr>
          <a:lstStyle/>
          <a:p>
            <a:pPr algn="l">
              <a:lnSpc>
                <a:spcPct val="120000"/>
              </a:lnSpc>
            </a:pPr>
            <a:r>
              <a:rPr sz="950" b="0" i="1">
                <a:solidFill>
                  <a:srgbClr val="64748B"/>
                </a:solidFill>
                <a:latin typeface="Calibri"/>
              </a:rPr>
              <a:t>file: chatbot.py</a:t>
            </a:r>
          </a:p>
        </p:txBody>
      </p:sp>
      <p:sp>
        <p:nvSpPr>
          <p:cNvPr id="32" name="Rounded Rectangle 31"/>
          <p:cNvSpPr/>
          <p:nvPr/>
        </p:nvSpPr>
        <p:spPr>
          <a:xfrm>
            <a:off x="6172200" y="4251960"/>
            <a:ext cx="5532120" cy="2286000"/>
          </a:xfrm>
          <a:prstGeom prst="roundRect">
            <a:avLst>
              <a:gd name="adj" fmla="val 5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4251960"/>
            <a:ext cx="146304" cy="2286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37960" y="4343400"/>
            <a:ext cx="4983480" cy="274320"/>
          </a:xfrm>
          <a:prstGeom prst="rect">
            <a:avLst/>
          </a:prstGeom>
          <a:noFill/>
        </p:spPr>
        <p:txBody>
          <a:bodyPr wrap="square" lIns="36000" rIns="36000" tIns="18000" bIns="18000" anchor="t">
            <a:spAutoFit/>
          </a:bodyPr>
          <a:lstStyle/>
          <a:p>
            <a:pPr algn="l">
              <a:lnSpc>
                <a:spcPct val="120000"/>
              </a:lnSpc>
            </a:pPr>
            <a:r>
              <a:rPr sz="950" b="1" i="0">
                <a:solidFill>
                  <a:srgbClr val="7C3AED"/>
                </a:solidFill>
                <a:latin typeface="Calibri"/>
              </a:rPr>
              <a:t>04  •  PRE-VISIT BRIEF</a:t>
            </a:r>
          </a:p>
        </p:txBody>
      </p:sp>
      <p:sp>
        <p:nvSpPr>
          <p:cNvPr id="35" name="TextBox 34"/>
          <p:cNvSpPr txBox="1"/>
          <p:nvPr/>
        </p:nvSpPr>
        <p:spPr>
          <a:xfrm>
            <a:off x="6537960" y="4599432"/>
            <a:ext cx="4983480" cy="411480"/>
          </a:xfrm>
          <a:prstGeom prst="rect">
            <a:avLst/>
          </a:prstGeom>
          <a:noFill/>
        </p:spPr>
        <p:txBody>
          <a:bodyPr wrap="square" lIns="36000" rIns="36000" tIns="18000" bIns="18000" anchor="t">
            <a:spAutoFit/>
          </a:bodyPr>
          <a:lstStyle/>
          <a:p>
            <a:pPr algn="l">
              <a:lnSpc>
                <a:spcPct val="120000"/>
              </a:lnSpc>
            </a:pPr>
            <a:r>
              <a:rPr sz="1700" b="1" i="0">
                <a:solidFill>
                  <a:srgbClr val="0F172A"/>
                </a:solidFill>
                <a:latin typeface="Calibri"/>
              </a:rPr>
              <a:t>Doctor's AI Summary</a:t>
            </a:r>
          </a:p>
        </p:txBody>
      </p:sp>
      <p:sp>
        <p:nvSpPr>
          <p:cNvPr id="36" name="TextBox 35"/>
          <p:cNvSpPr txBox="1"/>
          <p:nvPr/>
        </p:nvSpPr>
        <p:spPr>
          <a:xfrm>
            <a:off x="6537960" y="5010912"/>
            <a:ext cx="4983480" cy="292608"/>
          </a:xfrm>
          <a:prstGeom prst="rect">
            <a:avLst/>
          </a:prstGeom>
          <a:noFill/>
        </p:spPr>
        <p:txBody>
          <a:bodyPr wrap="square" lIns="36000" rIns="36000" tIns="18000" bIns="18000" anchor="t">
            <a:spAutoFit/>
          </a:bodyPr>
          <a:lstStyle/>
          <a:p>
            <a:pPr algn="l">
              <a:lnSpc>
                <a:spcPct val="120000"/>
              </a:lnSpc>
            </a:pPr>
            <a:r>
              <a:rPr sz="1000" b="0" i="1">
                <a:solidFill>
                  <a:srgbClr val="64748B"/>
                </a:solidFill>
                <a:latin typeface="Calibri"/>
              </a:rPr>
              <a:t>Prompt-engineered on Groq  •  reads DB context per patient</a:t>
            </a:r>
          </a:p>
        </p:txBody>
      </p:sp>
      <p:sp>
        <p:nvSpPr>
          <p:cNvPr id="37" name="TextBox 36"/>
          <p:cNvSpPr txBox="1"/>
          <p:nvPr/>
        </p:nvSpPr>
        <p:spPr>
          <a:xfrm>
            <a:off x="6537960" y="5330952"/>
            <a:ext cx="4983480" cy="914400"/>
          </a:xfrm>
          <a:prstGeom prst="rect">
            <a:avLst/>
          </a:prstGeom>
          <a:noFill/>
        </p:spPr>
        <p:txBody>
          <a:bodyPr wrap="square" lIns="36000" rIns="36000" tIns="18000" bIns="18000" anchor="t">
            <a:spAutoFit/>
          </a:bodyPr>
          <a:lstStyle/>
          <a:p>
            <a:pPr algn="l">
              <a:lnSpc>
                <a:spcPct val="130000"/>
              </a:lnSpc>
            </a:pPr>
            <a:r>
              <a:rPr sz="1050" b="0" i="0">
                <a:solidFill>
                  <a:srgbClr val="334E68"/>
                </a:solidFill>
                <a:latin typeface="Calibri"/>
              </a:rPr>
              <a:t>Before each consultation, the doctor gets a 5-bullet brief: key history, recent vitals, current meds, red flags, questions to ask — generated from the same DB the app uses.</a:t>
            </a:r>
          </a:p>
        </p:txBody>
      </p:sp>
      <p:cxnSp>
        <p:nvCxnSpPr>
          <p:cNvPr id="38" name="Connector 37"/>
          <p:cNvCxnSpPr/>
          <p:nvPr/>
        </p:nvCxnSpPr>
        <p:spPr>
          <a:xfrm>
            <a:off x="6537960" y="6153912"/>
            <a:ext cx="4983480" cy="0"/>
          </a:xfrm>
          <a:prstGeom prst="line">
            <a:avLst/>
          </a:prstGeom>
          <a:ln w="6350">
            <a:solidFill>
              <a:srgbClr val="CBD5E1"/>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537960" y="6217920"/>
            <a:ext cx="4983480" cy="274320"/>
          </a:xfrm>
          <a:prstGeom prst="rect">
            <a:avLst/>
          </a:prstGeom>
          <a:noFill/>
        </p:spPr>
        <p:txBody>
          <a:bodyPr wrap="square" lIns="36000" rIns="36000" tIns="18000" bIns="18000" anchor="t">
            <a:spAutoFit/>
          </a:bodyPr>
          <a:lstStyle/>
          <a:p>
            <a:pPr algn="l">
              <a:lnSpc>
                <a:spcPct val="120000"/>
              </a:lnSpc>
            </a:pPr>
            <a:r>
              <a:rPr sz="950" b="0" i="1">
                <a:solidFill>
                  <a:srgbClr val="64748B"/>
                </a:solidFill>
                <a:latin typeface="Calibri"/>
              </a:rPr>
              <a:t>file: ai_care.py (consultation mode)</a:t>
            </a:r>
          </a:p>
        </p:txBody>
      </p:sp>
      <p:sp>
        <p:nvSpPr>
          <p:cNvPr id="40" name="Rectangle 39"/>
          <p:cNvSpPr/>
          <p:nvPr/>
        </p:nvSpPr>
        <p:spPr>
          <a:xfrm>
            <a:off x="0" y="6565392"/>
            <a:ext cx="12191695" cy="29260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601968"/>
            <a:ext cx="8229600" cy="228600"/>
          </a:xfrm>
          <a:prstGeom prst="rect">
            <a:avLst/>
          </a:prstGeom>
          <a:noFill/>
        </p:spPr>
        <p:txBody>
          <a:bodyPr wrap="square" lIns="36000" rIns="36000" tIns="18000" bIns="18000" anchor="t">
            <a:spAutoFit/>
          </a:bodyPr>
          <a:lstStyle/>
          <a:p>
            <a:pPr algn="l">
              <a:lnSpc>
                <a:spcPct val="120000"/>
              </a:lnSpc>
            </a:pPr>
            <a:r>
              <a:rPr sz="900" b="0" i="1">
                <a:solidFill>
                  <a:srgbClr val="64748B"/>
                </a:solidFill>
                <a:latin typeface="Calibri"/>
              </a:rPr>
              <a:t>IPCMS — Integrated Patient Care Management System</a:t>
            </a:r>
          </a:p>
        </p:txBody>
      </p:sp>
      <p:sp>
        <p:nvSpPr>
          <p:cNvPr id="42" name="TextBox 41"/>
          <p:cNvSpPr txBox="1"/>
          <p:nvPr/>
        </p:nvSpPr>
        <p:spPr>
          <a:xfrm>
            <a:off x="10607040" y="6601968"/>
            <a:ext cx="1280160" cy="228600"/>
          </a:xfrm>
          <a:prstGeom prst="rect">
            <a:avLst/>
          </a:prstGeom>
          <a:noFill/>
        </p:spPr>
        <p:txBody>
          <a:bodyPr wrap="square" lIns="36000" rIns="36000" tIns="18000" bIns="18000" anchor="t">
            <a:spAutoFit/>
          </a:bodyPr>
          <a:lstStyle/>
          <a:p>
            <a:pPr algn="r">
              <a:lnSpc>
                <a:spcPct val="120000"/>
              </a:lnSpc>
            </a:pPr>
            <a:r>
              <a:rPr sz="900" b="0" i="0">
                <a:solidFill>
                  <a:srgbClr val="64748B"/>
                </a:solidFill>
                <a:latin typeface="Calibri"/>
              </a:rP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972800" cy="256032"/>
          </a:xfrm>
          <a:prstGeom prst="rect">
            <a:avLst/>
          </a:prstGeom>
          <a:noFill/>
        </p:spPr>
        <p:txBody>
          <a:bodyPr wrap="square" lIns="36000" rIns="36000" tIns="18000" bIns="18000" anchor="t">
            <a:spAutoFit/>
          </a:bodyPr>
          <a:lstStyle/>
          <a:p>
            <a:pPr algn="l">
              <a:lnSpc>
                <a:spcPct val="120000"/>
              </a:lnSpc>
            </a:pPr>
            <a:r>
              <a:rPr sz="1000" b="1" i="0">
                <a:solidFill>
                  <a:srgbClr val="14B8A6"/>
                </a:solidFill>
                <a:latin typeface="Calibri"/>
              </a:rPr>
              <a:t>SECTION 05</a:t>
            </a:r>
          </a:p>
        </p:txBody>
      </p:sp>
      <p:sp>
        <p:nvSpPr>
          <p:cNvPr id="5" name="TextBox 4"/>
          <p:cNvSpPr txBox="1"/>
          <p:nvPr/>
        </p:nvSpPr>
        <p:spPr>
          <a:xfrm>
            <a:off x="713232" y="713232"/>
            <a:ext cx="11155680" cy="502920"/>
          </a:xfrm>
          <a:prstGeom prst="rect">
            <a:avLst/>
          </a:prstGeom>
          <a:noFill/>
        </p:spPr>
        <p:txBody>
          <a:bodyPr wrap="square" lIns="36000" rIns="36000" tIns="18000" bIns="18000" anchor="t">
            <a:spAutoFit/>
          </a:bodyPr>
          <a:lstStyle/>
          <a:p>
            <a:pPr algn="l">
              <a:lnSpc>
                <a:spcPct val="120000"/>
              </a:lnSpc>
            </a:pPr>
            <a:r>
              <a:rPr sz="2600" b="1" i="0">
                <a:solidFill>
                  <a:srgbClr val="0F172A"/>
                </a:solidFill>
                <a:latin typeface="Calibri"/>
              </a:rPr>
              <a:t>Tool stack — at a glance</a:t>
            </a:r>
          </a:p>
        </p:txBody>
      </p:sp>
      <p:sp>
        <p:nvSpPr>
          <p:cNvPr id="6" name="TextBox 5"/>
          <p:cNvSpPr txBox="1"/>
          <p:nvPr/>
        </p:nvSpPr>
        <p:spPr>
          <a:xfrm>
            <a:off x="713232" y="1234440"/>
            <a:ext cx="11155680" cy="365760"/>
          </a:xfrm>
          <a:prstGeom prst="rect">
            <a:avLst/>
          </a:prstGeom>
          <a:noFill/>
        </p:spPr>
        <p:txBody>
          <a:bodyPr wrap="square" lIns="36000" rIns="36000" tIns="18000" bIns="18000" anchor="t">
            <a:spAutoFit/>
          </a:bodyPr>
          <a:lstStyle/>
          <a:p>
            <a:pPr algn="l">
              <a:lnSpc>
                <a:spcPct val="120000"/>
              </a:lnSpc>
            </a:pPr>
            <a:r>
              <a:rPr sz="1200" b="0" i="1">
                <a:solidFill>
                  <a:srgbClr val="64748B"/>
                </a:solidFill>
                <a:latin typeface="Calibri"/>
              </a:rPr>
              <a:t>Four families. Full library list with working notes → next slide.</a:t>
            </a:r>
          </a:p>
        </p:txBody>
      </p:sp>
      <p:cxnSp>
        <p:nvCxnSpPr>
          <p:cNvPr id="7" name="Connector 6"/>
          <p:cNvCxnSpPr/>
          <p:nvPr/>
        </p:nvCxnSpPr>
        <p:spPr>
          <a:xfrm>
            <a:off x="713232" y="1627632"/>
            <a:ext cx="10808208"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02920" y="1828800"/>
            <a:ext cx="5532120" cy="2240280"/>
          </a:xfrm>
          <a:prstGeom prst="roundRect">
            <a:avLst>
              <a:gd name="adj" fmla="val 4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28800"/>
            <a:ext cx="5532120" cy="548640"/>
          </a:xfrm>
          <a:prstGeom prst="rect">
            <a:avLst/>
          </a:prstGeom>
          <a:solidFill>
            <a:srgbClr val="0E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828800"/>
            <a:ext cx="4983480" cy="548640"/>
          </a:xfrm>
          <a:prstGeom prst="rect">
            <a:avLst/>
          </a:prstGeom>
          <a:noFill/>
        </p:spPr>
        <p:txBody>
          <a:bodyPr wrap="square" lIns="36000" rIns="36000" tIns="18000" bIns="18000" anchor="ctr">
            <a:spAutoFit/>
          </a:bodyPr>
          <a:lstStyle/>
          <a:p>
            <a:pPr algn="l">
              <a:lnSpc>
                <a:spcPct val="120000"/>
              </a:lnSpc>
            </a:pPr>
            <a:r>
              <a:rPr sz="1400" b="1" i="0">
                <a:solidFill>
                  <a:srgbClr val="FFFFFF"/>
                </a:solidFill>
                <a:latin typeface="Calibri"/>
              </a:rPr>
              <a:t>Frontend / App shell</a:t>
            </a:r>
          </a:p>
        </p:txBody>
      </p:sp>
      <p:sp>
        <p:nvSpPr>
          <p:cNvPr id="11" name="TextBox 10"/>
          <p:cNvSpPr txBox="1"/>
          <p:nvPr/>
        </p:nvSpPr>
        <p:spPr>
          <a:xfrm>
            <a:off x="777240" y="2560320"/>
            <a:ext cx="4983480" cy="365760"/>
          </a:xfrm>
          <a:prstGeom prst="rect">
            <a:avLst/>
          </a:prstGeom>
          <a:noFill/>
        </p:spPr>
        <p:txBody>
          <a:bodyPr wrap="square" lIns="36000" rIns="36000" tIns="18000" bIns="18000" anchor="t">
            <a:spAutoFit/>
          </a:bodyPr>
          <a:lstStyle/>
          <a:p>
            <a:pPr algn="l">
              <a:lnSpc>
                <a:spcPct val="120000"/>
              </a:lnSpc>
            </a:pPr>
            <a:r>
              <a:rPr sz="900" b="1" i="0">
                <a:solidFill>
                  <a:srgbClr val="0E4F8A"/>
                </a:solidFill>
                <a:latin typeface="Calibri"/>
              </a:rPr>
              <a:t>LIBRARIES</a:t>
            </a:r>
          </a:p>
        </p:txBody>
      </p:sp>
      <p:sp>
        <p:nvSpPr>
          <p:cNvPr id="12" name="TextBox 11"/>
          <p:cNvSpPr txBox="1"/>
          <p:nvPr/>
        </p:nvSpPr>
        <p:spPr>
          <a:xfrm>
            <a:off x="777240" y="2834640"/>
            <a:ext cx="4983480" cy="457200"/>
          </a:xfrm>
          <a:prstGeom prst="rect">
            <a:avLst/>
          </a:prstGeom>
          <a:noFill/>
        </p:spPr>
        <p:txBody>
          <a:bodyPr wrap="square" lIns="36000" rIns="36000" tIns="18000" bIns="18000" anchor="t">
            <a:spAutoFit/>
          </a:bodyPr>
          <a:lstStyle/>
          <a:p>
            <a:pPr algn="l">
              <a:lnSpc>
                <a:spcPct val="115000"/>
              </a:lnSpc>
            </a:pPr>
            <a:r>
              <a:rPr sz="1200" b="1" i="0">
                <a:solidFill>
                  <a:srgbClr val="0F172A"/>
                </a:solidFill>
                <a:latin typeface="Calibri"/>
              </a:rPr>
              <a:t>Streamlit + custom CSS</a:t>
            </a:r>
          </a:p>
        </p:txBody>
      </p:sp>
      <p:cxnSp>
        <p:nvCxnSpPr>
          <p:cNvPr id="13" name="Connector 12"/>
          <p:cNvCxnSpPr/>
          <p:nvPr/>
        </p:nvCxnSpPr>
        <p:spPr>
          <a:xfrm>
            <a:off x="777240" y="3383280"/>
            <a:ext cx="4983480" cy="0"/>
          </a:xfrm>
          <a:prstGeom prst="line">
            <a:avLst/>
          </a:prstGeom>
          <a:ln w="6350">
            <a:solidFill>
              <a:srgbClr val="CBD5E1"/>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77240" y="3456432"/>
            <a:ext cx="4983480" cy="548640"/>
          </a:xfrm>
          <a:prstGeom prst="rect">
            <a:avLst/>
          </a:prstGeom>
          <a:noFill/>
        </p:spPr>
        <p:txBody>
          <a:bodyPr wrap="square" lIns="36000" rIns="36000" tIns="18000" bIns="18000" anchor="t">
            <a:spAutoFit/>
          </a:bodyPr>
          <a:lstStyle/>
          <a:p>
            <a:pPr algn="l">
              <a:lnSpc>
                <a:spcPct val="130000"/>
              </a:lnSpc>
            </a:pPr>
            <a:r>
              <a:rPr sz="1050" b="0" i="1">
                <a:solidFill>
                  <a:srgbClr val="334E68"/>
                </a:solidFill>
                <a:latin typeface="Calibri"/>
              </a:rPr>
              <a:t>Powers the whole UI: pages, routing, forms, session state.</a:t>
            </a:r>
          </a:p>
        </p:txBody>
      </p:sp>
      <p:sp>
        <p:nvSpPr>
          <p:cNvPr id="15" name="Rounded Rectangle 14"/>
          <p:cNvSpPr/>
          <p:nvPr/>
        </p:nvSpPr>
        <p:spPr>
          <a:xfrm>
            <a:off x="6172200" y="1828800"/>
            <a:ext cx="5532120" cy="2240280"/>
          </a:xfrm>
          <a:prstGeom prst="roundRect">
            <a:avLst>
              <a:gd name="adj" fmla="val 4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1828800"/>
            <a:ext cx="5532120" cy="5486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1828800"/>
            <a:ext cx="4983480" cy="548640"/>
          </a:xfrm>
          <a:prstGeom prst="rect">
            <a:avLst/>
          </a:prstGeom>
          <a:noFill/>
        </p:spPr>
        <p:txBody>
          <a:bodyPr wrap="square" lIns="36000" rIns="36000" tIns="18000" bIns="18000" anchor="ctr">
            <a:spAutoFit/>
          </a:bodyPr>
          <a:lstStyle/>
          <a:p>
            <a:pPr algn="l">
              <a:lnSpc>
                <a:spcPct val="120000"/>
              </a:lnSpc>
            </a:pPr>
            <a:r>
              <a:rPr sz="1400" b="1" i="0">
                <a:solidFill>
                  <a:srgbClr val="FFFFFF"/>
                </a:solidFill>
                <a:latin typeface="Calibri"/>
              </a:rPr>
              <a:t>Backend / Data</a:t>
            </a:r>
          </a:p>
        </p:txBody>
      </p:sp>
      <p:sp>
        <p:nvSpPr>
          <p:cNvPr id="18" name="TextBox 17"/>
          <p:cNvSpPr txBox="1"/>
          <p:nvPr/>
        </p:nvSpPr>
        <p:spPr>
          <a:xfrm>
            <a:off x="6446520" y="2560320"/>
            <a:ext cx="4983480" cy="365760"/>
          </a:xfrm>
          <a:prstGeom prst="rect">
            <a:avLst/>
          </a:prstGeom>
          <a:noFill/>
        </p:spPr>
        <p:txBody>
          <a:bodyPr wrap="square" lIns="36000" rIns="36000" tIns="18000" bIns="18000" anchor="t">
            <a:spAutoFit/>
          </a:bodyPr>
          <a:lstStyle/>
          <a:p>
            <a:pPr algn="l">
              <a:lnSpc>
                <a:spcPct val="120000"/>
              </a:lnSpc>
            </a:pPr>
            <a:r>
              <a:rPr sz="900" b="1" i="0">
                <a:solidFill>
                  <a:srgbClr val="14B8A6"/>
                </a:solidFill>
                <a:latin typeface="Calibri"/>
              </a:rPr>
              <a:t>LIBRARIES</a:t>
            </a:r>
          </a:p>
        </p:txBody>
      </p:sp>
      <p:sp>
        <p:nvSpPr>
          <p:cNvPr id="19" name="TextBox 18"/>
          <p:cNvSpPr txBox="1"/>
          <p:nvPr/>
        </p:nvSpPr>
        <p:spPr>
          <a:xfrm>
            <a:off x="6446520" y="2834640"/>
            <a:ext cx="4983480" cy="457200"/>
          </a:xfrm>
          <a:prstGeom prst="rect">
            <a:avLst/>
          </a:prstGeom>
          <a:noFill/>
        </p:spPr>
        <p:txBody>
          <a:bodyPr wrap="square" lIns="36000" rIns="36000" tIns="18000" bIns="18000" anchor="t">
            <a:spAutoFit/>
          </a:bodyPr>
          <a:lstStyle/>
          <a:p>
            <a:pPr algn="l">
              <a:lnSpc>
                <a:spcPct val="115000"/>
              </a:lnSpc>
            </a:pPr>
            <a:r>
              <a:rPr sz="1200" b="1" i="0">
                <a:solidFill>
                  <a:srgbClr val="0F172A"/>
                </a:solidFill>
                <a:latin typeface="Calibri"/>
              </a:rPr>
              <a:t>Python + PyMySQL + MySQL + SQLite + dotenv</a:t>
            </a:r>
          </a:p>
        </p:txBody>
      </p:sp>
      <p:cxnSp>
        <p:nvCxnSpPr>
          <p:cNvPr id="20" name="Connector 19"/>
          <p:cNvCxnSpPr/>
          <p:nvPr/>
        </p:nvCxnSpPr>
        <p:spPr>
          <a:xfrm>
            <a:off x="6446520" y="3383280"/>
            <a:ext cx="4983480" cy="0"/>
          </a:xfrm>
          <a:prstGeom prst="line">
            <a:avLst/>
          </a:prstGeom>
          <a:ln w="6350">
            <a:solidFill>
              <a:srgbClr val="CBD5E1"/>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446520" y="3456432"/>
            <a:ext cx="4983480" cy="548640"/>
          </a:xfrm>
          <a:prstGeom prst="rect">
            <a:avLst/>
          </a:prstGeom>
          <a:noFill/>
        </p:spPr>
        <p:txBody>
          <a:bodyPr wrap="square" lIns="36000" rIns="36000" tIns="18000" bIns="18000" anchor="t">
            <a:spAutoFit/>
          </a:bodyPr>
          <a:lstStyle/>
          <a:p>
            <a:pPr algn="l">
              <a:lnSpc>
                <a:spcPct val="130000"/>
              </a:lnSpc>
            </a:pPr>
            <a:r>
              <a:rPr sz="1050" b="0" i="1">
                <a:solidFill>
                  <a:srgbClr val="334E68"/>
                </a:solidFill>
                <a:latin typeface="Calibri"/>
              </a:rPr>
              <a:t>Server logic, schemas, dialect-aware CRUD, secrets.</a:t>
            </a:r>
          </a:p>
        </p:txBody>
      </p:sp>
      <p:sp>
        <p:nvSpPr>
          <p:cNvPr id="22" name="Rounded Rectangle 21"/>
          <p:cNvSpPr/>
          <p:nvPr/>
        </p:nvSpPr>
        <p:spPr>
          <a:xfrm>
            <a:off x="502920" y="4206240"/>
            <a:ext cx="5532120" cy="2240280"/>
          </a:xfrm>
          <a:prstGeom prst="roundRect">
            <a:avLst>
              <a:gd name="adj" fmla="val 4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206240"/>
            <a:ext cx="5532120" cy="548640"/>
          </a:xfrm>
          <a:prstGeom prst="rect">
            <a:avLst/>
          </a:prstGeom>
          <a:solidFill>
            <a:srgbClr val="06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206240"/>
            <a:ext cx="4983480" cy="548640"/>
          </a:xfrm>
          <a:prstGeom prst="rect">
            <a:avLst/>
          </a:prstGeom>
          <a:noFill/>
        </p:spPr>
        <p:txBody>
          <a:bodyPr wrap="square" lIns="36000" rIns="36000" tIns="18000" bIns="18000" anchor="ctr">
            <a:spAutoFit/>
          </a:bodyPr>
          <a:lstStyle/>
          <a:p>
            <a:pPr algn="l">
              <a:lnSpc>
                <a:spcPct val="120000"/>
              </a:lnSpc>
            </a:pPr>
            <a:r>
              <a:rPr sz="1400" b="1" i="0">
                <a:solidFill>
                  <a:srgbClr val="FFFFFF"/>
                </a:solidFill>
                <a:latin typeface="Calibri"/>
              </a:rPr>
              <a:t>AI / LLM</a:t>
            </a:r>
          </a:p>
        </p:txBody>
      </p:sp>
      <p:sp>
        <p:nvSpPr>
          <p:cNvPr id="25" name="TextBox 24"/>
          <p:cNvSpPr txBox="1"/>
          <p:nvPr/>
        </p:nvSpPr>
        <p:spPr>
          <a:xfrm>
            <a:off x="777240" y="4937760"/>
            <a:ext cx="4983480" cy="365760"/>
          </a:xfrm>
          <a:prstGeom prst="rect">
            <a:avLst/>
          </a:prstGeom>
          <a:noFill/>
        </p:spPr>
        <p:txBody>
          <a:bodyPr wrap="square" lIns="36000" rIns="36000" tIns="18000" bIns="18000" anchor="t">
            <a:spAutoFit/>
          </a:bodyPr>
          <a:lstStyle/>
          <a:p>
            <a:pPr algn="l">
              <a:lnSpc>
                <a:spcPct val="120000"/>
              </a:lnSpc>
            </a:pPr>
            <a:r>
              <a:rPr sz="900" b="1" i="0">
                <a:solidFill>
                  <a:srgbClr val="066FA8"/>
                </a:solidFill>
                <a:latin typeface="Calibri"/>
              </a:rPr>
              <a:t>LIBRARIES</a:t>
            </a:r>
          </a:p>
        </p:txBody>
      </p:sp>
      <p:sp>
        <p:nvSpPr>
          <p:cNvPr id="26" name="TextBox 25"/>
          <p:cNvSpPr txBox="1"/>
          <p:nvPr/>
        </p:nvSpPr>
        <p:spPr>
          <a:xfrm>
            <a:off x="777240" y="5212080"/>
            <a:ext cx="4983480" cy="457200"/>
          </a:xfrm>
          <a:prstGeom prst="rect">
            <a:avLst/>
          </a:prstGeom>
          <a:noFill/>
        </p:spPr>
        <p:txBody>
          <a:bodyPr wrap="square" lIns="36000" rIns="36000" tIns="18000" bIns="18000" anchor="t">
            <a:spAutoFit/>
          </a:bodyPr>
          <a:lstStyle/>
          <a:p>
            <a:pPr algn="l">
              <a:lnSpc>
                <a:spcPct val="115000"/>
              </a:lnSpc>
            </a:pPr>
            <a:r>
              <a:rPr sz="1200" b="1" i="0">
                <a:solidFill>
                  <a:srgbClr val="0F172A"/>
                </a:solidFill>
                <a:latin typeface="Calibri"/>
              </a:rPr>
              <a:t>LangChain + Groq + Gemini</a:t>
            </a:r>
          </a:p>
        </p:txBody>
      </p:sp>
      <p:cxnSp>
        <p:nvCxnSpPr>
          <p:cNvPr id="27" name="Connector 26"/>
          <p:cNvCxnSpPr/>
          <p:nvPr/>
        </p:nvCxnSpPr>
        <p:spPr>
          <a:xfrm>
            <a:off x="777240" y="5760720"/>
            <a:ext cx="4983480" cy="0"/>
          </a:xfrm>
          <a:prstGeom prst="line">
            <a:avLst/>
          </a:prstGeom>
          <a:ln w="6350">
            <a:solidFill>
              <a:srgbClr val="CBD5E1"/>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77240" y="5833872"/>
            <a:ext cx="4983480" cy="548640"/>
          </a:xfrm>
          <a:prstGeom prst="rect">
            <a:avLst/>
          </a:prstGeom>
          <a:noFill/>
        </p:spPr>
        <p:txBody>
          <a:bodyPr wrap="square" lIns="36000" rIns="36000" tIns="18000" bIns="18000" anchor="t">
            <a:spAutoFit/>
          </a:bodyPr>
          <a:lstStyle/>
          <a:p>
            <a:pPr algn="l">
              <a:lnSpc>
                <a:spcPct val="130000"/>
              </a:lnSpc>
            </a:pPr>
            <a:r>
              <a:rPr sz="1050" b="0" i="1">
                <a:solidFill>
                  <a:srgbClr val="334E68"/>
                </a:solidFill>
                <a:latin typeface="Calibri"/>
              </a:rPr>
              <a:t>Two chat brains: in-app copilot and floating voice widget.</a:t>
            </a:r>
          </a:p>
        </p:txBody>
      </p:sp>
      <p:sp>
        <p:nvSpPr>
          <p:cNvPr id="29" name="Rounded Rectangle 28"/>
          <p:cNvSpPr/>
          <p:nvPr/>
        </p:nvSpPr>
        <p:spPr>
          <a:xfrm>
            <a:off x="6172200" y="4206240"/>
            <a:ext cx="5532120" cy="2240280"/>
          </a:xfrm>
          <a:prstGeom prst="roundRect">
            <a:avLst>
              <a:gd name="adj" fmla="val 4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72200" y="4206240"/>
            <a:ext cx="5532120" cy="548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4206240"/>
            <a:ext cx="4983480" cy="548640"/>
          </a:xfrm>
          <a:prstGeom prst="rect">
            <a:avLst/>
          </a:prstGeom>
          <a:noFill/>
        </p:spPr>
        <p:txBody>
          <a:bodyPr wrap="square" lIns="36000" rIns="36000" tIns="18000" bIns="18000" anchor="ctr">
            <a:spAutoFit/>
          </a:bodyPr>
          <a:lstStyle/>
          <a:p>
            <a:pPr algn="l">
              <a:lnSpc>
                <a:spcPct val="120000"/>
              </a:lnSpc>
            </a:pPr>
            <a:r>
              <a:rPr sz="1400" b="1" i="0">
                <a:solidFill>
                  <a:srgbClr val="FFFFFF"/>
                </a:solidFill>
                <a:latin typeface="Calibri"/>
              </a:rPr>
              <a:t>Utilities &amp; I/O</a:t>
            </a:r>
          </a:p>
        </p:txBody>
      </p:sp>
      <p:sp>
        <p:nvSpPr>
          <p:cNvPr id="32" name="TextBox 31"/>
          <p:cNvSpPr txBox="1"/>
          <p:nvPr/>
        </p:nvSpPr>
        <p:spPr>
          <a:xfrm>
            <a:off x="6446520" y="4937760"/>
            <a:ext cx="4983480" cy="365760"/>
          </a:xfrm>
          <a:prstGeom prst="rect">
            <a:avLst/>
          </a:prstGeom>
          <a:noFill/>
        </p:spPr>
        <p:txBody>
          <a:bodyPr wrap="square" lIns="36000" rIns="36000" tIns="18000" bIns="18000" anchor="t">
            <a:spAutoFit/>
          </a:bodyPr>
          <a:lstStyle/>
          <a:p>
            <a:pPr algn="l">
              <a:lnSpc>
                <a:spcPct val="120000"/>
              </a:lnSpc>
            </a:pPr>
            <a:r>
              <a:rPr sz="900" b="1" i="0">
                <a:solidFill>
                  <a:srgbClr val="7C3AED"/>
                </a:solidFill>
                <a:latin typeface="Calibri"/>
              </a:rPr>
              <a:t>LIBRARIES</a:t>
            </a:r>
          </a:p>
        </p:txBody>
      </p:sp>
      <p:sp>
        <p:nvSpPr>
          <p:cNvPr id="33" name="TextBox 32"/>
          <p:cNvSpPr txBox="1"/>
          <p:nvPr/>
        </p:nvSpPr>
        <p:spPr>
          <a:xfrm>
            <a:off x="6446520" y="5212080"/>
            <a:ext cx="4983480" cy="457200"/>
          </a:xfrm>
          <a:prstGeom prst="rect">
            <a:avLst/>
          </a:prstGeom>
          <a:noFill/>
        </p:spPr>
        <p:txBody>
          <a:bodyPr wrap="square" lIns="36000" rIns="36000" tIns="18000" bIns="18000" anchor="t">
            <a:spAutoFit/>
          </a:bodyPr>
          <a:lstStyle/>
          <a:p>
            <a:pPr algn="l">
              <a:lnSpc>
                <a:spcPct val="115000"/>
              </a:lnSpc>
            </a:pPr>
            <a:r>
              <a:rPr sz="1200" b="1" i="0">
                <a:solidFill>
                  <a:srgbClr val="0F172A"/>
                </a:solidFill>
                <a:latin typeface="Calibri"/>
              </a:rPr>
              <a:t>Pillow, ReportLab, pdfplumber, pandas, requests, smtplib</a:t>
            </a:r>
          </a:p>
        </p:txBody>
      </p:sp>
      <p:cxnSp>
        <p:nvCxnSpPr>
          <p:cNvPr id="34" name="Connector 33"/>
          <p:cNvCxnSpPr/>
          <p:nvPr/>
        </p:nvCxnSpPr>
        <p:spPr>
          <a:xfrm>
            <a:off x="6446520" y="5760720"/>
            <a:ext cx="4983480" cy="0"/>
          </a:xfrm>
          <a:prstGeom prst="line">
            <a:avLst/>
          </a:prstGeom>
          <a:ln w="6350">
            <a:solidFill>
              <a:srgbClr val="CBD5E1"/>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446520" y="5833872"/>
            <a:ext cx="4983480" cy="548640"/>
          </a:xfrm>
          <a:prstGeom prst="rect">
            <a:avLst/>
          </a:prstGeom>
          <a:noFill/>
        </p:spPr>
        <p:txBody>
          <a:bodyPr wrap="square" lIns="36000" rIns="36000" tIns="18000" bIns="18000" anchor="t">
            <a:spAutoFit/>
          </a:bodyPr>
          <a:lstStyle/>
          <a:p>
            <a:pPr algn="l">
              <a:lnSpc>
                <a:spcPct val="130000"/>
              </a:lnSpc>
            </a:pPr>
            <a:r>
              <a:rPr sz="1050" b="0" i="1">
                <a:solidFill>
                  <a:srgbClr val="334E68"/>
                </a:solidFill>
                <a:latin typeface="Calibri"/>
              </a:rPr>
              <a:t>PDFs, charts, OAuth, SMTP — the boring plumbing that ships.</a:t>
            </a:r>
          </a:p>
        </p:txBody>
      </p:sp>
      <p:sp>
        <p:nvSpPr>
          <p:cNvPr id="36" name="Rectangle 35"/>
          <p:cNvSpPr/>
          <p:nvPr/>
        </p:nvSpPr>
        <p:spPr>
          <a:xfrm>
            <a:off x="0" y="6565392"/>
            <a:ext cx="12191695" cy="29260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6601968"/>
            <a:ext cx="8229600" cy="228600"/>
          </a:xfrm>
          <a:prstGeom prst="rect">
            <a:avLst/>
          </a:prstGeom>
          <a:noFill/>
        </p:spPr>
        <p:txBody>
          <a:bodyPr wrap="square" lIns="36000" rIns="36000" tIns="18000" bIns="18000" anchor="t">
            <a:spAutoFit/>
          </a:bodyPr>
          <a:lstStyle/>
          <a:p>
            <a:pPr algn="l">
              <a:lnSpc>
                <a:spcPct val="120000"/>
              </a:lnSpc>
            </a:pPr>
            <a:r>
              <a:rPr sz="900" b="0" i="1">
                <a:solidFill>
                  <a:srgbClr val="64748B"/>
                </a:solidFill>
                <a:latin typeface="Calibri"/>
              </a:rPr>
              <a:t>IPCMS — Integrated Patient Care Management System</a:t>
            </a:r>
          </a:p>
        </p:txBody>
      </p:sp>
      <p:sp>
        <p:nvSpPr>
          <p:cNvPr id="38" name="TextBox 37"/>
          <p:cNvSpPr txBox="1"/>
          <p:nvPr/>
        </p:nvSpPr>
        <p:spPr>
          <a:xfrm>
            <a:off x="10607040" y="6601968"/>
            <a:ext cx="1280160" cy="228600"/>
          </a:xfrm>
          <a:prstGeom prst="rect">
            <a:avLst/>
          </a:prstGeom>
          <a:noFill/>
        </p:spPr>
        <p:txBody>
          <a:bodyPr wrap="square" lIns="36000" rIns="36000" tIns="18000" bIns="18000" anchor="t">
            <a:spAutoFit/>
          </a:bodyPr>
          <a:lstStyle/>
          <a:p>
            <a:pPr algn="r">
              <a:lnSpc>
                <a:spcPct val="120000"/>
              </a:lnSpc>
            </a:pPr>
            <a:r>
              <a:rPr sz="900" b="0" i="0">
                <a:solidFill>
                  <a:srgbClr val="64748B"/>
                </a:solidFill>
                <a:latin typeface="Calibri"/>
              </a:rPr>
              <a:t>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972800" cy="256032"/>
          </a:xfrm>
          <a:prstGeom prst="rect">
            <a:avLst/>
          </a:prstGeom>
          <a:noFill/>
        </p:spPr>
        <p:txBody>
          <a:bodyPr wrap="square" lIns="36000" rIns="36000" tIns="18000" bIns="18000" anchor="t">
            <a:spAutoFit/>
          </a:bodyPr>
          <a:lstStyle/>
          <a:p>
            <a:pPr algn="l">
              <a:lnSpc>
                <a:spcPct val="120000"/>
              </a:lnSpc>
            </a:pPr>
            <a:r>
              <a:rPr sz="1000" b="1" i="0">
                <a:solidFill>
                  <a:srgbClr val="14B8A6"/>
                </a:solidFill>
                <a:latin typeface="Calibri"/>
              </a:rPr>
              <a:t>SECTION 06 • PART 1</a:t>
            </a:r>
          </a:p>
        </p:txBody>
      </p:sp>
      <p:sp>
        <p:nvSpPr>
          <p:cNvPr id="5" name="TextBox 4"/>
          <p:cNvSpPr txBox="1"/>
          <p:nvPr/>
        </p:nvSpPr>
        <p:spPr>
          <a:xfrm>
            <a:off x="713232" y="713232"/>
            <a:ext cx="11155680" cy="502920"/>
          </a:xfrm>
          <a:prstGeom prst="rect">
            <a:avLst/>
          </a:prstGeom>
          <a:noFill/>
        </p:spPr>
        <p:txBody>
          <a:bodyPr wrap="square" lIns="36000" rIns="36000" tIns="18000" bIns="18000" anchor="t">
            <a:spAutoFit/>
          </a:bodyPr>
          <a:lstStyle/>
          <a:p>
            <a:pPr algn="l">
              <a:lnSpc>
                <a:spcPct val="120000"/>
              </a:lnSpc>
            </a:pPr>
            <a:r>
              <a:rPr sz="2600" b="1" i="0">
                <a:solidFill>
                  <a:srgbClr val="0F172A"/>
                </a:solidFill>
                <a:latin typeface="Calibri"/>
              </a:rPr>
              <a:t>Libraries — AI / LLM</a:t>
            </a:r>
          </a:p>
        </p:txBody>
      </p:sp>
      <p:sp>
        <p:nvSpPr>
          <p:cNvPr id="6" name="TextBox 5"/>
          <p:cNvSpPr txBox="1"/>
          <p:nvPr/>
        </p:nvSpPr>
        <p:spPr>
          <a:xfrm>
            <a:off x="713232" y="1234440"/>
            <a:ext cx="11155680" cy="365760"/>
          </a:xfrm>
          <a:prstGeom prst="rect">
            <a:avLst/>
          </a:prstGeom>
          <a:noFill/>
        </p:spPr>
        <p:txBody>
          <a:bodyPr wrap="square" lIns="36000" rIns="36000" tIns="18000" bIns="18000" anchor="t">
            <a:spAutoFit/>
          </a:bodyPr>
          <a:lstStyle/>
          <a:p>
            <a:pPr algn="l">
              <a:lnSpc>
                <a:spcPct val="120000"/>
              </a:lnSpc>
            </a:pPr>
            <a:r>
              <a:rPr sz="1200" b="0" i="1">
                <a:solidFill>
                  <a:srgbClr val="64748B"/>
                </a:solidFill>
                <a:latin typeface="Calibri"/>
              </a:rPr>
              <a:t>What each AI package does, and where it's used in the code.</a:t>
            </a:r>
          </a:p>
        </p:txBody>
      </p:sp>
      <p:cxnSp>
        <p:nvCxnSpPr>
          <p:cNvPr id="7" name="Connector 6"/>
          <p:cNvCxnSpPr/>
          <p:nvPr/>
        </p:nvCxnSpPr>
        <p:spPr>
          <a:xfrm>
            <a:off x="713232" y="1627632"/>
            <a:ext cx="10808208"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02920" y="1828800"/>
            <a:ext cx="1828800" cy="411480"/>
          </a:xfrm>
          <a:prstGeom prst="rect">
            <a:avLst/>
          </a:prstGeom>
          <a:solidFill>
            <a:srgbClr val="0E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828800"/>
            <a:ext cx="1645920" cy="411480"/>
          </a:xfrm>
          <a:prstGeom prst="rect">
            <a:avLst/>
          </a:prstGeom>
          <a:noFill/>
        </p:spPr>
        <p:txBody>
          <a:bodyPr wrap="square" lIns="36000" rIns="36000" tIns="18000" bIns="18000" anchor="ctr">
            <a:spAutoFit/>
          </a:bodyPr>
          <a:lstStyle/>
          <a:p>
            <a:pPr algn="l">
              <a:lnSpc>
                <a:spcPct val="120000"/>
              </a:lnSpc>
            </a:pPr>
            <a:r>
              <a:rPr sz="1100" b="1" i="0">
                <a:solidFill>
                  <a:srgbClr val="FFFFFF"/>
                </a:solidFill>
                <a:latin typeface="Calibri"/>
              </a:rPr>
              <a:t>Library</a:t>
            </a:r>
          </a:p>
        </p:txBody>
      </p:sp>
      <p:sp>
        <p:nvSpPr>
          <p:cNvPr id="10" name="Rectangle 9"/>
          <p:cNvSpPr/>
          <p:nvPr/>
        </p:nvSpPr>
        <p:spPr>
          <a:xfrm>
            <a:off x="2331720" y="1828800"/>
            <a:ext cx="914400" cy="411480"/>
          </a:xfrm>
          <a:prstGeom prst="rect">
            <a:avLst/>
          </a:prstGeom>
          <a:solidFill>
            <a:srgbClr val="0E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23160" y="1828800"/>
            <a:ext cx="731520" cy="411480"/>
          </a:xfrm>
          <a:prstGeom prst="rect">
            <a:avLst/>
          </a:prstGeom>
          <a:noFill/>
        </p:spPr>
        <p:txBody>
          <a:bodyPr wrap="square" lIns="36000" rIns="36000" tIns="18000" bIns="18000" anchor="ctr">
            <a:spAutoFit/>
          </a:bodyPr>
          <a:lstStyle/>
          <a:p>
            <a:pPr algn="l">
              <a:lnSpc>
                <a:spcPct val="120000"/>
              </a:lnSpc>
            </a:pPr>
            <a:r>
              <a:rPr sz="1100" b="1" i="0">
                <a:solidFill>
                  <a:srgbClr val="FFFFFF"/>
                </a:solidFill>
                <a:latin typeface="Calibri"/>
              </a:rPr>
              <a:t>Version</a:t>
            </a:r>
          </a:p>
        </p:txBody>
      </p:sp>
      <p:sp>
        <p:nvSpPr>
          <p:cNvPr id="12" name="Rectangle 11"/>
          <p:cNvSpPr/>
          <p:nvPr/>
        </p:nvSpPr>
        <p:spPr>
          <a:xfrm>
            <a:off x="3246120" y="1828800"/>
            <a:ext cx="2011680" cy="411480"/>
          </a:xfrm>
          <a:prstGeom prst="rect">
            <a:avLst/>
          </a:prstGeom>
          <a:solidFill>
            <a:srgbClr val="0E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37560" y="1828800"/>
            <a:ext cx="1828800" cy="411480"/>
          </a:xfrm>
          <a:prstGeom prst="rect">
            <a:avLst/>
          </a:prstGeom>
          <a:noFill/>
        </p:spPr>
        <p:txBody>
          <a:bodyPr wrap="square" lIns="36000" rIns="36000" tIns="18000" bIns="18000" anchor="ctr">
            <a:spAutoFit/>
          </a:bodyPr>
          <a:lstStyle/>
          <a:p>
            <a:pPr algn="l">
              <a:lnSpc>
                <a:spcPct val="120000"/>
              </a:lnSpc>
            </a:pPr>
            <a:r>
              <a:rPr sz="1100" b="1" i="0">
                <a:solidFill>
                  <a:srgbClr val="FFFFFF"/>
                </a:solidFill>
                <a:latin typeface="Calibri"/>
              </a:rPr>
              <a:t>Role</a:t>
            </a:r>
          </a:p>
        </p:txBody>
      </p:sp>
      <p:sp>
        <p:nvSpPr>
          <p:cNvPr id="14" name="Rectangle 13"/>
          <p:cNvSpPr/>
          <p:nvPr/>
        </p:nvSpPr>
        <p:spPr>
          <a:xfrm>
            <a:off x="5257800" y="1828800"/>
            <a:ext cx="6400800" cy="411480"/>
          </a:xfrm>
          <a:prstGeom prst="rect">
            <a:avLst/>
          </a:prstGeom>
          <a:solidFill>
            <a:srgbClr val="0E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49240" y="1828800"/>
            <a:ext cx="6217920" cy="411480"/>
          </a:xfrm>
          <a:prstGeom prst="rect">
            <a:avLst/>
          </a:prstGeom>
          <a:noFill/>
        </p:spPr>
        <p:txBody>
          <a:bodyPr wrap="square" lIns="36000" rIns="36000" tIns="18000" bIns="18000" anchor="ctr">
            <a:spAutoFit/>
          </a:bodyPr>
          <a:lstStyle/>
          <a:p>
            <a:pPr algn="l">
              <a:lnSpc>
                <a:spcPct val="120000"/>
              </a:lnSpc>
            </a:pPr>
            <a:r>
              <a:rPr sz="1100" b="1" i="0">
                <a:solidFill>
                  <a:srgbClr val="FFFFFF"/>
                </a:solidFill>
                <a:latin typeface="Calibri"/>
              </a:rPr>
              <a:t>What it does / where it's used</a:t>
            </a:r>
          </a:p>
        </p:txBody>
      </p:sp>
      <p:sp>
        <p:nvSpPr>
          <p:cNvPr id="16" name="Rectangle 15"/>
          <p:cNvSpPr/>
          <p:nvPr/>
        </p:nvSpPr>
        <p:spPr>
          <a:xfrm>
            <a:off x="502920" y="2240280"/>
            <a:ext cx="1828800" cy="5029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2240280"/>
            <a:ext cx="1645920" cy="502920"/>
          </a:xfrm>
          <a:prstGeom prst="rect">
            <a:avLst/>
          </a:prstGeom>
          <a:noFill/>
        </p:spPr>
        <p:txBody>
          <a:bodyPr wrap="square" lIns="36000" rIns="36000" tIns="18000" bIns="18000" anchor="ctr">
            <a:spAutoFit/>
          </a:bodyPr>
          <a:lstStyle/>
          <a:p>
            <a:pPr algn="l">
              <a:lnSpc>
                <a:spcPct val="115000"/>
              </a:lnSpc>
            </a:pPr>
            <a:r>
              <a:rPr sz="1050" b="1" i="0">
                <a:solidFill>
                  <a:srgbClr val="0F172A"/>
                </a:solidFill>
                <a:latin typeface="Calibri"/>
              </a:rPr>
              <a:t>streamlit</a:t>
            </a:r>
          </a:p>
        </p:txBody>
      </p:sp>
      <p:sp>
        <p:nvSpPr>
          <p:cNvPr id="18" name="Rectangle 17"/>
          <p:cNvSpPr/>
          <p:nvPr/>
        </p:nvSpPr>
        <p:spPr>
          <a:xfrm>
            <a:off x="2331720" y="2240280"/>
            <a:ext cx="914400" cy="5029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23160" y="2240280"/>
            <a:ext cx="731520" cy="502920"/>
          </a:xfrm>
          <a:prstGeom prst="rect">
            <a:avLst/>
          </a:prstGeom>
          <a:noFill/>
        </p:spPr>
        <p:txBody>
          <a:bodyPr wrap="square" lIns="36000" rIns="36000" tIns="18000" bIns="18000" anchor="ctr">
            <a:spAutoFit/>
          </a:bodyPr>
          <a:lstStyle/>
          <a:p>
            <a:pPr algn="l">
              <a:lnSpc>
                <a:spcPct val="115000"/>
              </a:lnSpc>
            </a:pPr>
            <a:r>
              <a:rPr sz="1000" b="0" i="0">
                <a:solidFill>
                  <a:srgbClr val="334E68"/>
                </a:solidFill>
                <a:latin typeface="Calibri"/>
              </a:rPr>
              <a:t>≥1.30</a:t>
            </a:r>
          </a:p>
        </p:txBody>
      </p:sp>
      <p:sp>
        <p:nvSpPr>
          <p:cNvPr id="20" name="Rectangle 19"/>
          <p:cNvSpPr/>
          <p:nvPr/>
        </p:nvSpPr>
        <p:spPr>
          <a:xfrm>
            <a:off x="3246120" y="2240280"/>
            <a:ext cx="2011680" cy="5029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37560" y="2240280"/>
            <a:ext cx="1828800" cy="502920"/>
          </a:xfrm>
          <a:prstGeom prst="rect">
            <a:avLst/>
          </a:prstGeom>
          <a:noFill/>
        </p:spPr>
        <p:txBody>
          <a:bodyPr wrap="square" lIns="36000" rIns="36000" tIns="18000" bIns="18000" anchor="ctr">
            <a:spAutoFit/>
          </a:bodyPr>
          <a:lstStyle/>
          <a:p>
            <a:pPr algn="l">
              <a:lnSpc>
                <a:spcPct val="115000"/>
              </a:lnSpc>
            </a:pPr>
            <a:r>
              <a:rPr sz="1000" b="1" i="0">
                <a:solidFill>
                  <a:srgbClr val="0F172A"/>
                </a:solidFill>
                <a:latin typeface="Calibri"/>
              </a:rPr>
              <a:t>UI shell</a:t>
            </a:r>
          </a:p>
        </p:txBody>
      </p:sp>
      <p:sp>
        <p:nvSpPr>
          <p:cNvPr id="22" name="Rectangle 21"/>
          <p:cNvSpPr/>
          <p:nvPr/>
        </p:nvSpPr>
        <p:spPr>
          <a:xfrm>
            <a:off x="5257800" y="2240280"/>
            <a:ext cx="6400800" cy="5029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49240" y="2240280"/>
            <a:ext cx="6217920" cy="502920"/>
          </a:xfrm>
          <a:prstGeom prst="rect">
            <a:avLst/>
          </a:prstGeom>
          <a:noFill/>
        </p:spPr>
        <p:txBody>
          <a:bodyPr wrap="square" lIns="36000" rIns="36000" tIns="18000" bIns="18000" anchor="ctr">
            <a:spAutoFit/>
          </a:bodyPr>
          <a:lstStyle/>
          <a:p>
            <a:pPr algn="l">
              <a:lnSpc>
                <a:spcPct val="115000"/>
              </a:lnSpc>
            </a:pPr>
            <a:r>
              <a:rPr sz="1000" b="0" i="0">
                <a:solidFill>
                  <a:srgbClr val="334E68"/>
                </a:solidFill>
                <a:latin typeface="Calibri"/>
              </a:rPr>
              <a:t>Renders the whole web app — pages, widgets, session state, file uploads. We use it for every dashboard and the public chatbot.</a:t>
            </a:r>
          </a:p>
        </p:txBody>
      </p:sp>
      <p:sp>
        <p:nvSpPr>
          <p:cNvPr id="24" name="Rectangle 23"/>
          <p:cNvSpPr/>
          <p:nvPr/>
        </p:nvSpPr>
        <p:spPr>
          <a:xfrm>
            <a:off x="502920" y="2743200"/>
            <a:ext cx="1828800" cy="50292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2743200"/>
            <a:ext cx="1645920" cy="502920"/>
          </a:xfrm>
          <a:prstGeom prst="rect">
            <a:avLst/>
          </a:prstGeom>
          <a:noFill/>
        </p:spPr>
        <p:txBody>
          <a:bodyPr wrap="square" lIns="36000" rIns="36000" tIns="18000" bIns="18000" anchor="ctr">
            <a:spAutoFit/>
          </a:bodyPr>
          <a:lstStyle/>
          <a:p>
            <a:pPr algn="l">
              <a:lnSpc>
                <a:spcPct val="115000"/>
              </a:lnSpc>
            </a:pPr>
            <a:r>
              <a:rPr sz="1050" b="1" i="0">
                <a:solidFill>
                  <a:srgbClr val="0F172A"/>
                </a:solidFill>
                <a:latin typeface="Calibri"/>
              </a:rPr>
              <a:t>langchain-core</a:t>
            </a:r>
          </a:p>
        </p:txBody>
      </p:sp>
      <p:sp>
        <p:nvSpPr>
          <p:cNvPr id="26" name="Rectangle 25"/>
          <p:cNvSpPr/>
          <p:nvPr/>
        </p:nvSpPr>
        <p:spPr>
          <a:xfrm>
            <a:off x="2331720" y="2743200"/>
            <a:ext cx="914400" cy="50292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23160" y="2743200"/>
            <a:ext cx="731520" cy="502920"/>
          </a:xfrm>
          <a:prstGeom prst="rect">
            <a:avLst/>
          </a:prstGeom>
          <a:noFill/>
        </p:spPr>
        <p:txBody>
          <a:bodyPr wrap="square" lIns="36000" rIns="36000" tIns="18000" bIns="18000" anchor="ctr">
            <a:spAutoFit/>
          </a:bodyPr>
          <a:lstStyle/>
          <a:p>
            <a:pPr algn="l">
              <a:lnSpc>
                <a:spcPct val="115000"/>
              </a:lnSpc>
            </a:pPr>
            <a:r>
              <a:rPr sz="1000" b="0" i="0">
                <a:solidFill>
                  <a:srgbClr val="334E68"/>
                </a:solidFill>
                <a:latin typeface="Calibri"/>
              </a:rPr>
              <a:t>≥0.2</a:t>
            </a:r>
          </a:p>
        </p:txBody>
      </p:sp>
      <p:sp>
        <p:nvSpPr>
          <p:cNvPr id="28" name="Rectangle 27"/>
          <p:cNvSpPr/>
          <p:nvPr/>
        </p:nvSpPr>
        <p:spPr>
          <a:xfrm>
            <a:off x="3246120" y="2743200"/>
            <a:ext cx="2011680" cy="50292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37560" y="2743200"/>
            <a:ext cx="1828800" cy="502920"/>
          </a:xfrm>
          <a:prstGeom prst="rect">
            <a:avLst/>
          </a:prstGeom>
          <a:noFill/>
        </p:spPr>
        <p:txBody>
          <a:bodyPr wrap="square" lIns="36000" rIns="36000" tIns="18000" bIns="18000" anchor="ctr">
            <a:spAutoFit/>
          </a:bodyPr>
          <a:lstStyle/>
          <a:p>
            <a:pPr algn="l">
              <a:lnSpc>
                <a:spcPct val="115000"/>
              </a:lnSpc>
            </a:pPr>
            <a:r>
              <a:rPr sz="1000" b="1" i="0">
                <a:solidFill>
                  <a:srgbClr val="0F172A"/>
                </a:solidFill>
                <a:latin typeface="Calibri"/>
              </a:rPr>
              <a:t>AI plumbing</a:t>
            </a:r>
          </a:p>
        </p:txBody>
      </p:sp>
      <p:sp>
        <p:nvSpPr>
          <p:cNvPr id="30" name="Rectangle 29"/>
          <p:cNvSpPr/>
          <p:nvPr/>
        </p:nvSpPr>
        <p:spPr>
          <a:xfrm>
            <a:off x="5257800" y="2743200"/>
            <a:ext cx="6400800" cy="50292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49240" y="2743200"/>
            <a:ext cx="6217920" cy="502920"/>
          </a:xfrm>
          <a:prstGeom prst="rect">
            <a:avLst/>
          </a:prstGeom>
          <a:noFill/>
        </p:spPr>
        <p:txBody>
          <a:bodyPr wrap="square" lIns="36000" rIns="36000" tIns="18000" bIns="18000" anchor="ctr">
            <a:spAutoFit/>
          </a:bodyPr>
          <a:lstStyle/>
          <a:p>
            <a:pPr algn="l">
              <a:lnSpc>
                <a:spcPct val="115000"/>
              </a:lnSpc>
            </a:pPr>
            <a:r>
              <a:rPr sz="1000" b="0" i="0">
                <a:solidFill>
                  <a:srgbClr val="334E68"/>
                </a:solidFill>
                <a:latin typeface="Calibri"/>
              </a:rPr>
              <a:t>Message types (HumanMessage), prompt templates and runnable interfaces. Used by ai_care.py and chatbot.py to wrap LLM calls.</a:t>
            </a:r>
          </a:p>
        </p:txBody>
      </p:sp>
      <p:sp>
        <p:nvSpPr>
          <p:cNvPr id="32" name="Rectangle 31"/>
          <p:cNvSpPr/>
          <p:nvPr/>
        </p:nvSpPr>
        <p:spPr>
          <a:xfrm>
            <a:off x="502920" y="3246120"/>
            <a:ext cx="1828800" cy="5029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3246120"/>
            <a:ext cx="1645920" cy="502920"/>
          </a:xfrm>
          <a:prstGeom prst="rect">
            <a:avLst/>
          </a:prstGeom>
          <a:noFill/>
        </p:spPr>
        <p:txBody>
          <a:bodyPr wrap="square" lIns="36000" rIns="36000" tIns="18000" bIns="18000" anchor="ctr">
            <a:spAutoFit/>
          </a:bodyPr>
          <a:lstStyle/>
          <a:p>
            <a:pPr algn="l">
              <a:lnSpc>
                <a:spcPct val="115000"/>
              </a:lnSpc>
            </a:pPr>
            <a:r>
              <a:rPr sz="1050" b="1" i="0">
                <a:solidFill>
                  <a:srgbClr val="0F172A"/>
                </a:solidFill>
                <a:latin typeface="Calibri"/>
              </a:rPr>
              <a:t>langchain-groq</a:t>
            </a:r>
          </a:p>
        </p:txBody>
      </p:sp>
      <p:sp>
        <p:nvSpPr>
          <p:cNvPr id="34" name="Rectangle 33"/>
          <p:cNvSpPr/>
          <p:nvPr/>
        </p:nvSpPr>
        <p:spPr>
          <a:xfrm>
            <a:off x="2331720" y="3246120"/>
            <a:ext cx="914400" cy="5029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423160" y="3246120"/>
            <a:ext cx="731520" cy="502920"/>
          </a:xfrm>
          <a:prstGeom prst="rect">
            <a:avLst/>
          </a:prstGeom>
          <a:noFill/>
        </p:spPr>
        <p:txBody>
          <a:bodyPr wrap="square" lIns="36000" rIns="36000" tIns="18000" bIns="18000" anchor="ctr">
            <a:spAutoFit/>
          </a:bodyPr>
          <a:lstStyle/>
          <a:p>
            <a:pPr algn="l">
              <a:lnSpc>
                <a:spcPct val="115000"/>
              </a:lnSpc>
            </a:pPr>
            <a:r>
              <a:rPr sz="1000" b="0" i="0">
                <a:solidFill>
                  <a:srgbClr val="334E68"/>
                </a:solidFill>
                <a:latin typeface="Calibri"/>
              </a:rPr>
              <a:t>≥0.1</a:t>
            </a:r>
          </a:p>
        </p:txBody>
      </p:sp>
      <p:sp>
        <p:nvSpPr>
          <p:cNvPr id="36" name="Rectangle 35"/>
          <p:cNvSpPr/>
          <p:nvPr/>
        </p:nvSpPr>
        <p:spPr>
          <a:xfrm>
            <a:off x="3246120" y="3246120"/>
            <a:ext cx="2011680" cy="5029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37560" y="3246120"/>
            <a:ext cx="1828800" cy="502920"/>
          </a:xfrm>
          <a:prstGeom prst="rect">
            <a:avLst/>
          </a:prstGeom>
          <a:noFill/>
        </p:spPr>
        <p:txBody>
          <a:bodyPr wrap="square" lIns="36000" rIns="36000" tIns="18000" bIns="18000" anchor="ctr">
            <a:spAutoFit/>
          </a:bodyPr>
          <a:lstStyle/>
          <a:p>
            <a:pPr algn="l">
              <a:lnSpc>
                <a:spcPct val="115000"/>
              </a:lnSpc>
            </a:pPr>
            <a:r>
              <a:rPr sz="1000" b="1" i="0">
                <a:solidFill>
                  <a:srgbClr val="0F172A"/>
                </a:solidFill>
                <a:latin typeface="Calibri"/>
              </a:rPr>
              <a:t>AI brain (primary)</a:t>
            </a:r>
          </a:p>
        </p:txBody>
      </p:sp>
      <p:sp>
        <p:nvSpPr>
          <p:cNvPr id="38" name="Rectangle 37"/>
          <p:cNvSpPr/>
          <p:nvPr/>
        </p:nvSpPr>
        <p:spPr>
          <a:xfrm>
            <a:off x="5257800" y="3246120"/>
            <a:ext cx="6400800" cy="5029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49240" y="3246120"/>
            <a:ext cx="6217920" cy="502920"/>
          </a:xfrm>
          <a:prstGeom prst="rect">
            <a:avLst/>
          </a:prstGeom>
          <a:noFill/>
        </p:spPr>
        <p:txBody>
          <a:bodyPr wrap="square" lIns="36000" rIns="36000" tIns="18000" bIns="18000" anchor="ctr">
            <a:spAutoFit/>
          </a:bodyPr>
          <a:lstStyle/>
          <a:p>
            <a:pPr algn="l">
              <a:lnSpc>
                <a:spcPct val="115000"/>
              </a:lnSpc>
            </a:pPr>
            <a:r>
              <a:rPr sz="1000" b="0" i="0">
                <a:solidFill>
                  <a:srgbClr val="334E68"/>
                </a:solidFill>
                <a:latin typeface="Calibri"/>
              </a:rPr>
              <a:t>ChatGroq wrapper around Groq's hosted LLMs. Default model openai/gpt-oss-120b; falls back to llama-3.1-8b-instant for speed.</a:t>
            </a:r>
          </a:p>
        </p:txBody>
      </p:sp>
      <p:sp>
        <p:nvSpPr>
          <p:cNvPr id="40" name="Rectangle 39"/>
          <p:cNvSpPr/>
          <p:nvPr/>
        </p:nvSpPr>
        <p:spPr>
          <a:xfrm>
            <a:off x="502920" y="3749040"/>
            <a:ext cx="1828800" cy="50292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4360" y="3749040"/>
            <a:ext cx="1645920" cy="502920"/>
          </a:xfrm>
          <a:prstGeom prst="rect">
            <a:avLst/>
          </a:prstGeom>
          <a:noFill/>
        </p:spPr>
        <p:txBody>
          <a:bodyPr wrap="square" lIns="36000" rIns="36000" tIns="18000" bIns="18000" anchor="ctr">
            <a:spAutoFit/>
          </a:bodyPr>
          <a:lstStyle/>
          <a:p>
            <a:pPr algn="l">
              <a:lnSpc>
                <a:spcPct val="115000"/>
              </a:lnSpc>
            </a:pPr>
            <a:r>
              <a:rPr sz="1050" b="1" i="0">
                <a:solidFill>
                  <a:srgbClr val="0F172A"/>
                </a:solidFill>
                <a:latin typeface="Calibri"/>
              </a:rPr>
              <a:t>groq</a:t>
            </a:r>
          </a:p>
        </p:txBody>
      </p:sp>
      <p:sp>
        <p:nvSpPr>
          <p:cNvPr id="42" name="Rectangle 41"/>
          <p:cNvSpPr/>
          <p:nvPr/>
        </p:nvSpPr>
        <p:spPr>
          <a:xfrm>
            <a:off x="2331720" y="3749040"/>
            <a:ext cx="914400" cy="50292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423160" y="3749040"/>
            <a:ext cx="731520" cy="502920"/>
          </a:xfrm>
          <a:prstGeom prst="rect">
            <a:avLst/>
          </a:prstGeom>
          <a:noFill/>
        </p:spPr>
        <p:txBody>
          <a:bodyPr wrap="square" lIns="36000" rIns="36000" tIns="18000" bIns="18000" anchor="ctr">
            <a:spAutoFit/>
          </a:bodyPr>
          <a:lstStyle/>
          <a:p>
            <a:pPr algn="l">
              <a:lnSpc>
                <a:spcPct val="115000"/>
              </a:lnSpc>
            </a:pPr>
            <a:r>
              <a:rPr sz="1000" b="0" i="0">
                <a:solidFill>
                  <a:srgbClr val="334E68"/>
                </a:solidFill>
                <a:latin typeface="Calibri"/>
              </a:rPr>
              <a:t>≥0.37</a:t>
            </a:r>
          </a:p>
        </p:txBody>
      </p:sp>
      <p:sp>
        <p:nvSpPr>
          <p:cNvPr id="44" name="Rectangle 43"/>
          <p:cNvSpPr/>
          <p:nvPr/>
        </p:nvSpPr>
        <p:spPr>
          <a:xfrm>
            <a:off x="3246120" y="3749040"/>
            <a:ext cx="2011680" cy="50292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337560" y="3749040"/>
            <a:ext cx="1828800" cy="502920"/>
          </a:xfrm>
          <a:prstGeom prst="rect">
            <a:avLst/>
          </a:prstGeom>
          <a:noFill/>
        </p:spPr>
        <p:txBody>
          <a:bodyPr wrap="square" lIns="36000" rIns="36000" tIns="18000" bIns="18000" anchor="ctr">
            <a:spAutoFit/>
          </a:bodyPr>
          <a:lstStyle/>
          <a:p>
            <a:pPr algn="l">
              <a:lnSpc>
                <a:spcPct val="115000"/>
              </a:lnSpc>
            </a:pPr>
            <a:r>
              <a:rPr sz="1000" b="1" i="0">
                <a:solidFill>
                  <a:srgbClr val="0F172A"/>
                </a:solidFill>
                <a:latin typeface="Calibri"/>
              </a:rPr>
              <a:t>AI brain (direct)</a:t>
            </a:r>
          </a:p>
        </p:txBody>
      </p:sp>
      <p:sp>
        <p:nvSpPr>
          <p:cNvPr id="46" name="Rectangle 45"/>
          <p:cNvSpPr/>
          <p:nvPr/>
        </p:nvSpPr>
        <p:spPr>
          <a:xfrm>
            <a:off x="5257800" y="3749040"/>
            <a:ext cx="6400800" cy="50292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349240" y="3749040"/>
            <a:ext cx="6217920" cy="502920"/>
          </a:xfrm>
          <a:prstGeom prst="rect">
            <a:avLst/>
          </a:prstGeom>
          <a:noFill/>
        </p:spPr>
        <p:txBody>
          <a:bodyPr wrap="square" lIns="36000" rIns="36000" tIns="18000" bIns="18000" anchor="ctr">
            <a:spAutoFit/>
          </a:bodyPr>
          <a:lstStyle/>
          <a:p>
            <a:pPr algn="l">
              <a:lnSpc>
                <a:spcPct val="115000"/>
              </a:lnSpc>
            </a:pPr>
            <a:r>
              <a:rPr sz="1000" b="0" i="0">
                <a:solidFill>
                  <a:srgbClr val="334E68"/>
                </a:solidFill>
                <a:latin typeface="Calibri"/>
              </a:rPr>
              <a:t>Direct Groq SDK used as a secondary fallback path when LangChain's wrapper hits errors — short, latency-sensitive calls.</a:t>
            </a:r>
          </a:p>
        </p:txBody>
      </p:sp>
      <p:sp>
        <p:nvSpPr>
          <p:cNvPr id="48" name="Rectangle 47"/>
          <p:cNvSpPr/>
          <p:nvPr/>
        </p:nvSpPr>
        <p:spPr>
          <a:xfrm>
            <a:off x="502920" y="4251960"/>
            <a:ext cx="1828800" cy="5029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 y="4251960"/>
            <a:ext cx="1645920" cy="502920"/>
          </a:xfrm>
          <a:prstGeom prst="rect">
            <a:avLst/>
          </a:prstGeom>
          <a:noFill/>
        </p:spPr>
        <p:txBody>
          <a:bodyPr wrap="square" lIns="36000" rIns="36000" tIns="18000" bIns="18000" anchor="ctr">
            <a:spAutoFit/>
          </a:bodyPr>
          <a:lstStyle/>
          <a:p>
            <a:pPr algn="l">
              <a:lnSpc>
                <a:spcPct val="115000"/>
              </a:lnSpc>
            </a:pPr>
            <a:r>
              <a:rPr sz="1050" b="1" i="0">
                <a:solidFill>
                  <a:srgbClr val="0F172A"/>
                </a:solidFill>
                <a:latin typeface="Calibri"/>
              </a:rPr>
              <a:t>Gemini API</a:t>
            </a:r>
          </a:p>
        </p:txBody>
      </p:sp>
      <p:sp>
        <p:nvSpPr>
          <p:cNvPr id="50" name="Rectangle 49"/>
          <p:cNvSpPr/>
          <p:nvPr/>
        </p:nvSpPr>
        <p:spPr>
          <a:xfrm>
            <a:off x="2331720" y="4251960"/>
            <a:ext cx="914400" cy="5029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423160" y="4251960"/>
            <a:ext cx="731520" cy="502920"/>
          </a:xfrm>
          <a:prstGeom prst="rect">
            <a:avLst/>
          </a:prstGeom>
          <a:noFill/>
        </p:spPr>
        <p:txBody>
          <a:bodyPr wrap="square" lIns="36000" rIns="36000" tIns="18000" bIns="18000" anchor="ctr">
            <a:spAutoFit/>
          </a:bodyPr>
          <a:lstStyle/>
          <a:p>
            <a:pPr algn="l">
              <a:lnSpc>
                <a:spcPct val="115000"/>
              </a:lnSpc>
            </a:pPr>
            <a:r>
              <a:rPr sz="1000" b="0" i="0">
                <a:solidFill>
                  <a:srgbClr val="334E68"/>
                </a:solidFill>
                <a:latin typeface="Calibri"/>
              </a:rPr>
              <a:t>—</a:t>
            </a:r>
          </a:p>
        </p:txBody>
      </p:sp>
      <p:sp>
        <p:nvSpPr>
          <p:cNvPr id="52" name="Rectangle 51"/>
          <p:cNvSpPr/>
          <p:nvPr/>
        </p:nvSpPr>
        <p:spPr>
          <a:xfrm>
            <a:off x="3246120" y="4251960"/>
            <a:ext cx="2011680" cy="5029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337560" y="4251960"/>
            <a:ext cx="1828800" cy="502920"/>
          </a:xfrm>
          <a:prstGeom prst="rect">
            <a:avLst/>
          </a:prstGeom>
          <a:noFill/>
        </p:spPr>
        <p:txBody>
          <a:bodyPr wrap="square" lIns="36000" rIns="36000" tIns="18000" bIns="18000" anchor="ctr">
            <a:spAutoFit/>
          </a:bodyPr>
          <a:lstStyle/>
          <a:p>
            <a:pPr algn="l">
              <a:lnSpc>
                <a:spcPct val="115000"/>
              </a:lnSpc>
            </a:pPr>
            <a:r>
              <a:rPr sz="1000" b="1" i="0">
                <a:solidFill>
                  <a:srgbClr val="0F172A"/>
                </a:solidFill>
                <a:latin typeface="Calibri"/>
              </a:rPr>
              <a:t>Voice chatbot brain</a:t>
            </a:r>
          </a:p>
        </p:txBody>
      </p:sp>
      <p:sp>
        <p:nvSpPr>
          <p:cNvPr id="54" name="Rectangle 53"/>
          <p:cNvSpPr/>
          <p:nvPr/>
        </p:nvSpPr>
        <p:spPr>
          <a:xfrm>
            <a:off x="5257800" y="4251960"/>
            <a:ext cx="6400800" cy="5029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349240" y="4251960"/>
            <a:ext cx="6217920" cy="502920"/>
          </a:xfrm>
          <a:prstGeom prst="rect">
            <a:avLst/>
          </a:prstGeom>
          <a:noFill/>
        </p:spPr>
        <p:txBody>
          <a:bodyPr wrap="square" lIns="36000" rIns="36000" tIns="18000" bIns="18000" anchor="ctr">
            <a:spAutoFit/>
          </a:bodyPr>
          <a:lstStyle/>
          <a:p>
            <a:pPr algn="l">
              <a:lnSpc>
                <a:spcPct val="115000"/>
              </a:lnSpc>
            </a:pPr>
            <a:r>
              <a:rPr sz="1000" b="0" i="0">
                <a:solidFill>
                  <a:srgbClr val="334E68"/>
                </a:solidFill>
                <a:latin typeface="Calibri"/>
              </a:rPr>
              <a:t>Google's Gemini model is called from the browser-side JS in voice_chatbot.py. Used because it handles conversational health Q&amp;A well.</a:t>
            </a:r>
          </a:p>
        </p:txBody>
      </p:sp>
      <p:sp>
        <p:nvSpPr>
          <p:cNvPr id="56" name="Rectangle 55"/>
          <p:cNvSpPr/>
          <p:nvPr/>
        </p:nvSpPr>
        <p:spPr>
          <a:xfrm>
            <a:off x="502920" y="4754880"/>
            <a:ext cx="1828800" cy="50292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4360" y="4754880"/>
            <a:ext cx="1645920" cy="502920"/>
          </a:xfrm>
          <a:prstGeom prst="rect">
            <a:avLst/>
          </a:prstGeom>
          <a:noFill/>
        </p:spPr>
        <p:txBody>
          <a:bodyPr wrap="square" lIns="36000" rIns="36000" tIns="18000" bIns="18000" anchor="ctr">
            <a:spAutoFit/>
          </a:bodyPr>
          <a:lstStyle/>
          <a:p>
            <a:pPr algn="l">
              <a:lnSpc>
                <a:spcPct val="115000"/>
              </a:lnSpc>
            </a:pPr>
            <a:r>
              <a:rPr sz="1050" b="1" i="0">
                <a:solidFill>
                  <a:srgbClr val="0F172A"/>
                </a:solidFill>
                <a:latin typeface="Calibri"/>
              </a:rPr>
              <a:t>Pillow (PIL)</a:t>
            </a:r>
          </a:p>
        </p:txBody>
      </p:sp>
      <p:sp>
        <p:nvSpPr>
          <p:cNvPr id="58" name="Rectangle 57"/>
          <p:cNvSpPr/>
          <p:nvPr/>
        </p:nvSpPr>
        <p:spPr>
          <a:xfrm>
            <a:off x="2331720" y="4754880"/>
            <a:ext cx="914400" cy="50292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423160" y="4754880"/>
            <a:ext cx="731520" cy="502920"/>
          </a:xfrm>
          <a:prstGeom prst="rect">
            <a:avLst/>
          </a:prstGeom>
          <a:noFill/>
        </p:spPr>
        <p:txBody>
          <a:bodyPr wrap="square" lIns="36000" rIns="36000" tIns="18000" bIns="18000" anchor="ctr">
            <a:spAutoFit/>
          </a:bodyPr>
          <a:lstStyle/>
          <a:p>
            <a:pPr algn="l">
              <a:lnSpc>
                <a:spcPct val="115000"/>
              </a:lnSpc>
            </a:pPr>
            <a:r>
              <a:rPr sz="1000" b="0" i="0">
                <a:solidFill>
                  <a:srgbClr val="334E68"/>
                </a:solidFill>
                <a:latin typeface="Calibri"/>
              </a:rPr>
              <a:t>≥10</a:t>
            </a:r>
          </a:p>
        </p:txBody>
      </p:sp>
      <p:sp>
        <p:nvSpPr>
          <p:cNvPr id="60" name="Rectangle 59"/>
          <p:cNvSpPr/>
          <p:nvPr/>
        </p:nvSpPr>
        <p:spPr>
          <a:xfrm>
            <a:off x="3246120" y="4754880"/>
            <a:ext cx="2011680" cy="50292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37560" y="4754880"/>
            <a:ext cx="1828800" cy="502920"/>
          </a:xfrm>
          <a:prstGeom prst="rect">
            <a:avLst/>
          </a:prstGeom>
          <a:noFill/>
        </p:spPr>
        <p:txBody>
          <a:bodyPr wrap="square" lIns="36000" rIns="36000" tIns="18000" bIns="18000" anchor="ctr">
            <a:spAutoFit/>
          </a:bodyPr>
          <a:lstStyle/>
          <a:p>
            <a:pPr algn="l">
              <a:lnSpc>
                <a:spcPct val="115000"/>
              </a:lnSpc>
            </a:pPr>
            <a:r>
              <a:rPr sz="1000" b="1" i="0">
                <a:solidFill>
                  <a:srgbClr val="0F172A"/>
                </a:solidFill>
                <a:latin typeface="Calibri"/>
              </a:rPr>
              <a:t>Images</a:t>
            </a:r>
          </a:p>
        </p:txBody>
      </p:sp>
      <p:sp>
        <p:nvSpPr>
          <p:cNvPr id="62" name="Rectangle 61"/>
          <p:cNvSpPr/>
          <p:nvPr/>
        </p:nvSpPr>
        <p:spPr>
          <a:xfrm>
            <a:off x="5257800" y="4754880"/>
            <a:ext cx="6400800" cy="50292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349240" y="4754880"/>
            <a:ext cx="6217920" cy="502920"/>
          </a:xfrm>
          <a:prstGeom prst="rect">
            <a:avLst/>
          </a:prstGeom>
          <a:noFill/>
        </p:spPr>
        <p:txBody>
          <a:bodyPr wrap="square" lIns="36000" rIns="36000" tIns="18000" bIns="18000" anchor="ctr">
            <a:spAutoFit/>
          </a:bodyPr>
          <a:lstStyle/>
          <a:p>
            <a:pPr algn="l">
              <a:lnSpc>
                <a:spcPct val="115000"/>
              </a:lnSpc>
            </a:pPr>
            <a:r>
              <a:rPr sz="1000" b="0" i="0">
                <a:solidFill>
                  <a:srgbClr val="334E68"/>
                </a:solidFill>
                <a:latin typeface="Calibri"/>
              </a:rPr>
              <a:t>Loads the logo JPG at runtime for the favicon, exposes it to st.set_page_config.</a:t>
            </a:r>
          </a:p>
        </p:txBody>
      </p:sp>
      <p:sp>
        <p:nvSpPr>
          <p:cNvPr id="64" name="Rectangle 63"/>
          <p:cNvSpPr/>
          <p:nvPr/>
        </p:nvSpPr>
        <p:spPr>
          <a:xfrm>
            <a:off x="502920" y="5257800"/>
            <a:ext cx="1828800" cy="5029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4360" y="5257800"/>
            <a:ext cx="1645920" cy="502920"/>
          </a:xfrm>
          <a:prstGeom prst="rect">
            <a:avLst/>
          </a:prstGeom>
          <a:noFill/>
        </p:spPr>
        <p:txBody>
          <a:bodyPr wrap="square" lIns="36000" rIns="36000" tIns="18000" bIns="18000" anchor="ctr">
            <a:spAutoFit/>
          </a:bodyPr>
          <a:lstStyle/>
          <a:p>
            <a:pPr algn="l">
              <a:lnSpc>
                <a:spcPct val="115000"/>
              </a:lnSpc>
            </a:pPr>
            <a:r>
              <a:rPr sz="1050" b="1" i="0">
                <a:solidFill>
                  <a:srgbClr val="0F172A"/>
                </a:solidFill>
                <a:latin typeface="Calibri"/>
              </a:rPr>
              <a:t>reportlab</a:t>
            </a:r>
          </a:p>
        </p:txBody>
      </p:sp>
      <p:sp>
        <p:nvSpPr>
          <p:cNvPr id="66" name="Rectangle 65"/>
          <p:cNvSpPr/>
          <p:nvPr/>
        </p:nvSpPr>
        <p:spPr>
          <a:xfrm>
            <a:off x="2331720" y="5257800"/>
            <a:ext cx="914400" cy="5029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423160" y="5257800"/>
            <a:ext cx="731520" cy="502920"/>
          </a:xfrm>
          <a:prstGeom prst="rect">
            <a:avLst/>
          </a:prstGeom>
          <a:noFill/>
        </p:spPr>
        <p:txBody>
          <a:bodyPr wrap="square" lIns="36000" rIns="36000" tIns="18000" bIns="18000" anchor="ctr">
            <a:spAutoFit/>
          </a:bodyPr>
          <a:lstStyle/>
          <a:p>
            <a:pPr algn="l">
              <a:lnSpc>
                <a:spcPct val="115000"/>
              </a:lnSpc>
            </a:pPr>
            <a:r>
              <a:rPr sz="1000" b="0" i="0">
                <a:solidFill>
                  <a:srgbClr val="334E68"/>
                </a:solidFill>
                <a:latin typeface="Calibri"/>
              </a:rPr>
              <a:t>≥4</a:t>
            </a:r>
          </a:p>
        </p:txBody>
      </p:sp>
      <p:sp>
        <p:nvSpPr>
          <p:cNvPr id="68" name="Rectangle 67"/>
          <p:cNvSpPr/>
          <p:nvPr/>
        </p:nvSpPr>
        <p:spPr>
          <a:xfrm>
            <a:off x="3246120" y="5257800"/>
            <a:ext cx="2011680" cy="5029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337560" y="5257800"/>
            <a:ext cx="1828800" cy="502920"/>
          </a:xfrm>
          <a:prstGeom prst="rect">
            <a:avLst/>
          </a:prstGeom>
          <a:noFill/>
        </p:spPr>
        <p:txBody>
          <a:bodyPr wrap="square" lIns="36000" rIns="36000" tIns="18000" bIns="18000" anchor="ctr">
            <a:spAutoFit/>
          </a:bodyPr>
          <a:lstStyle/>
          <a:p>
            <a:pPr algn="l">
              <a:lnSpc>
                <a:spcPct val="115000"/>
              </a:lnSpc>
            </a:pPr>
            <a:r>
              <a:rPr sz="1000" b="1" i="0">
                <a:solidFill>
                  <a:srgbClr val="0F172A"/>
                </a:solidFill>
                <a:latin typeface="Calibri"/>
              </a:rPr>
              <a:t>PDF generation</a:t>
            </a:r>
          </a:p>
        </p:txBody>
      </p:sp>
      <p:sp>
        <p:nvSpPr>
          <p:cNvPr id="70" name="Rectangle 69"/>
          <p:cNvSpPr/>
          <p:nvPr/>
        </p:nvSpPr>
        <p:spPr>
          <a:xfrm>
            <a:off x="5257800" y="5257800"/>
            <a:ext cx="6400800" cy="5029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349240" y="5257800"/>
            <a:ext cx="6217920" cy="502920"/>
          </a:xfrm>
          <a:prstGeom prst="rect">
            <a:avLst/>
          </a:prstGeom>
          <a:noFill/>
        </p:spPr>
        <p:txBody>
          <a:bodyPr wrap="square" lIns="36000" rIns="36000" tIns="18000" bIns="18000" anchor="ctr">
            <a:spAutoFit/>
          </a:bodyPr>
          <a:lstStyle/>
          <a:p>
            <a:pPr algn="l">
              <a:lnSpc>
                <a:spcPct val="115000"/>
              </a:lnSpc>
            </a:pPr>
            <a:r>
              <a:rPr sz="1000" b="0" i="0">
                <a:solidFill>
                  <a:srgbClr val="334E68"/>
                </a:solidFill>
                <a:latin typeface="Calibri"/>
              </a:rPr>
              <a:t>Generates the medical-record PDF the patient downloads after a visit (prescription, vitals, doctor notes).</a:t>
            </a:r>
          </a:p>
        </p:txBody>
      </p:sp>
      <p:sp>
        <p:nvSpPr>
          <p:cNvPr id="72" name="Rectangle 71"/>
          <p:cNvSpPr/>
          <p:nvPr/>
        </p:nvSpPr>
        <p:spPr>
          <a:xfrm>
            <a:off x="502920" y="5760720"/>
            <a:ext cx="1828800" cy="50292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4360" y="5760720"/>
            <a:ext cx="1645920" cy="502920"/>
          </a:xfrm>
          <a:prstGeom prst="rect">
            <a:avLst/>
          </a:prstGeom>
          <a:noFill/>
        </p:spPr>
        <p:txBody>
          <a:bodyPr wrap="square" lIns="36000" rIns="36000" tIns="18000" bIns="18000" anchor="ctr">
            <a:spAutoFit/>
          </a:bodyPr>
          <a:lstStyle/>
          <a:p>
            <a:pPr algn="l">
              <a:lnSpc>
                <a:spcPct val="115000"/>
              </a:lnSpc>
            </a:pPr>
            <a:r>
              <a:rPr sz="1050" b="1" i="0">
                <a:solidFill>
                  <a:srgbClr val="0F172A"/>
                </a:solidFill>
                <a:latin typeface="Calibri"/>
              </a:rPr>
              <a:t>pdfplumber</a:t>
            </a:r>
          </a:p>
        </p:txBody>
      </p:sp>
      <p:sp>
        <p:nvSpPr>
          <p:cNvPr id="74" name="Rectangle 73"/>
          <p:cNvSpPr/>
          <p:nvPr/>
        </p:nvSpPr>
        <p:spPr>
          <a:xfrm>
            <a:off x="2331720" y="5760720"/>
            <a:ext cx="914400" cy="50292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423160" y="5760720"/>
            <a:ext cx="731520" cy="502920"/>
          </a:xfrm>
          <a:prstGeom prst="rect">
            <a:avLst/>
          </a:prstGeom>
          <a:noFill/>
        </p:spPr>
        <p:txBody>
          <a:bodyPr wrap="square" lIns="36000" rIns="36000" tIns="18000" bIns="18000" anchor="ctr">
            <a:spAutoFit/>
          </a:bodyPr>
          <a:lstStyle/>
          <a:p>
            <a:pPr algn="l">
              <a:lnSpc>
                <a:spcPct val="115000"/>
              </a:lnSpc>
            </a:pPr>
            <a:r>
              <a:rPr sz="1000" b="0" i="0">
                <a:solidFill>
                  <a:srgbClr val="334E68"/>
                </a:solidFill>
                <a:latin typeface="Calibri"/>
              </a:rPr>
              <a:t>≥0.10</a:t>
            </a:r>
          </a:p>
        </p:txBody>
      </p:sp>
      <p:sp>
        <p:nvSpPr>
          <p:cNvPr id="76" name="Rectangle 75"/>
          <p:cNvSpPr/>
          <p:nvPr/>
        </p:nvSpPr>
        <p:spPr>
          <a:xfrm>
            <a:off x="3246120" y="5760720"/>
            <a:ext cx="2011680" cy="50292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337560" y="5760720"/>
            <a:ext cx="1828800" cy="502920"/>
          </a:xfrm>
          <a:prstGeom prst="rect">
            <a:avLst/>
          </a:prstGeom>
          <a:noFill/>
        </p:spPr>
        <p:txBody>
          <a:bodyPr wrap="square" lIns="36000" rIns="36000" tIns="18000" bIns="18000" anchor="ctr">
            <a:spAutoFit/>
          </a:bodyPr>
          <a:lstStyle/>
          <a:p>
            <a:pPr algn="l">
              <a:lnSpc>
                <a:spcPct val="115000"/>
              </a:lnSpc>
            </a:pPr>
            <a:r>
              <a:rPr sz="1000" b="1" i="0">
                <a:solidFill>
                  <a:srgbClr val="0F172A"/>
                </a:solidFill>
                <a:latin typeface="Calibri"/>
              </a:rPr>
              <a:t>PDF parsing</a:t>
            </a:r>
          </a:p>
        </p:txBody>
      </p:sp>
      <p:sp>
        <p:nvSpPr>
          <p:cNvPr id="78" name="Rectangle 77"/>
          <p:cNvSpPr/>
          <p:nvPr/>
        </p:nvSpPr>
        <p:spPr>
          <a:xfrm>
            <a:off x="5257800" y="5760720"/>
            <a:ext cx="6400800" cy="50292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349240" y="5760720"/>
            <a:ext cx="6217920" cy="502920"/>
          </a:xfrm>
          <a:prstGeom prst="rect">
            <a:avLst/>
          </a:prstGeom>
          <a:noFill/>
        </p:spPr>
        <p:txBody>
          <a:bodyPr wrap="square" lIns="36000" rIns="36000" tIns="18000" bIns="18000" anchor="ctr">
            <a:spAutoFit/>
          </a:bodyPr>
          <a:lstStyle/>
          <a:p>
            <a:pPr algn="l">
              <a:lnSpc>
                <a:spcPct val="115000"/>
              </a:lnSpc>
            </a:pPr>
            <a:r>
              <a:rPr sz="1000" b="0" i="0">
                <a:solidFill>
                  <a:srgbClr val="334E68"/>
                </a:solidFill>
                <a:latin typeface="Calibri"/>
              </a:rPr>
              <a:t>Reads PDF uploads (e.g. lab reports) so the doctor can attach parsed text to the patient's record.</a:t>
            </a:r>
          </a:p>
        </p:txBody>
      </p:sp>
      <p:sp>
        <p:nvSpPr>
          <p:cNvPr id="80" name="Rectangle 79"/>
          <p:cNvSpPr/>
          <p:nvPr/>
        </p:nvSpPr>
        <p:spPr>
          <a:xfrm>
            <a:off x="0" y="6565392"/>
            <a:ext cx="12191695" cy="29260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65760" y="6601968"/>
            <a:ext cx="8229600" cy="228600"/>
          </a:xfrm>
          <a:prstGeom prst="rect">
            <a:avLst/>
          </a:prstGeom>
          <a:noFill/>
        </p:spPr>
        <p:txBody>
          <a:bodyPr wrap="square" lIns="36000" rIns="36000" tIns="18000" bIns="18000" anchor="t">
            <a:spAutoFit/>
          </a:bodyPr>
          <a:lstStyle/>
          <a:p>
            <a:pPr algn="l">
              <a:lnSpc>
                <a:spcPct val="120000"/>
              </a:lnSpc>
            </a:pPr>
            <a:r>
              <a:rPr sz="900" b="0" i="1">
                <a:solidFill>
                  <a:srgbClr val="64748B"/>
                </a:solidFill>
                <a:latin typeface="Calibri"/>
              </a:rPr>
              <a:t>IPCMS — Integrated Patient Care Management System</a:t>
            </a:r>
          </a:p>
        </p:txBody>
      </p:sp>
      <p:sp>
        <p:nvSpPr>
          <p:cNvPr id="82" name="TextBox 81"/>
          <p:cNvSpPr txBox="1"/>
          <p:nvPr/>
        </p:nvSpPr>
        <p:spPr>
          <a:xfrm>
            <a:off x="10607040" y="6601968"/>
            <a:ext cx="1280160" cy="228600"/>
          </a:xfrm>
          <a:prstGeom prst="rect">
            <a:avLst/>
          </a:prstGeom>
          <a:noFill/>
        </p:spPr>
        <p:txBody>
          <a:bodyPr wrap="square" lIns="36000" rIns="36000" tIns="18000" bIns="18000" anchor="t">
            <a:spAutoFit/>
          </a:bodyPr>
          <a:lstStyle/>
          <a:p>
            <a:pPr algn="r">
              <a:lnSpc>
                <a:spcPct val="120000"/>
              </a:lnSpc>
            </a:pPr>
            <a:r>
              <a:rPr sz="900" b="0" i="0">
                <a:solidFill>
                  <a:srgbClr val="64748B"/>
                </a:solidFill>
                <a:latin typeface="Calibri"/>
              </a:rP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972800" cy="256032"/>
          </a:xfrm>
          <a:prstGeom prst="rect">
            <a:avLst/>
          </a:prstGeom>
          <a:noFill/>
        </p:spPr>
        <p:txBody>
          <a:bodyPr wrap="square" lIns="36000" rIns="36000" tIns="18000" bIns="18000" anchor="t">
            <a:spAutoFit/>
          </a:bodyPr>
          <a:lstStyle/>
          <a:p>
            <a:pPr algn="l">
              <a:lnSpc>
                <a:spcPct val="120000"/>
              </a:lnSpc>
            </a:pPr>
            <a:r>
              <a:rPr sz="1000" b="1" i="0">
                <a:solidFill>
                  <a:srgbClr val="14B8A6"/>
                </a:solidFill>
                <a:latin typeface="Calibri"/>
              </a:rPr>
              <a:t>SECTION 06 • PART 2</a:t>
            </a:r>
          </a:p>
        </p:txBody>
      </p:sp>
      <p:sp>
        <p:nvSpPr>
          <p:cNvPr id="5" name="TextBox 4"/>
          <p:cNvSpPr txBox="1"/>
          <p:nvPr/>
        </p:nvSpPr>
        <p:spPr>
          <a:xfrm>
            <a:off x="713232" y="713232"/>
            <a:ext cx="11155680" cy="502920"/>
          </a:xfrm>
          <a:prstGeom prst="rect">
            <a:avLst/>
          </a:prstGeom>
          <a:noFill/>
        </p:spPr>
        <p:txBody>
          <a:bodyPr wrap="square" lIns="36000" rIns="36000" tIns="18000" bIns="18000" anchor="t">
            <a:spAutoFit/>
          </a:bodyPr>
          <a:lstStyle/>
          <a:p>
            <a:pPr algn="l">
              <a:lnSpc>
                <a:spcPct val="120000"/>
              </a:lnSpc>
            </a:pPr>
            <a:r>
              <a:rPr sz="2600" b="1" i="0">
                <a:solidFill>
                  <a:srgbClr val="0F172A"/>
                </a:solidFill>
                <a:latin typeface="Calibri"/>
              </a:rPr>
              <a:t>Libraries — Backend, Frontend, Utilities</a:t>
            </a:r>
          </a:p>
        </p:txBody>
      </p:sp>
      <p:sp>
        <p:nvSpPr>
          <p:cNvPr id="6" name="TextBox 5"/>
          <p:cNvSpPr txBox="1"/>
          <p:nvPr/>
        </p:nvSpPr>
        <p:spPr>
          <a:xfrm>
            <a:off x="713232" y="1234440"/>
            <a:ext cx="11155680" cy="365760"/>
          </a:xfrm>
          <a:prstGeom prst="rect">
            <a:avLst/>
          </a:prstGeom>
          <a:noFill/>
        </p:spPr>
        <p:txBody>
          <a:bodyPr wrap="square" lIns="36000" rIns="36000" tIns="18000" bIns="18000" anchor="t">
            <a:spAutoFit/>
          </a:bodyPr>
          <a:lstStyle/>
          <a:p>
            <a:pPr algn="l">
              <a:lnSpc>
                <a:spcPct val="120000"/>
              </a:lnSpc>
            </a:pPr>
            <a:r>
              <a:rPr sz="1200" b="0" i="1">
                <a:solidFill>
                  <a:srgbClr val="64748B"/>
                </a:solidFill>
                <a:latin typeface="Calibri"/>
              </a:rPr>
              <a:t>The non-AI half. Some are pip-installed, some are Python stdlib.</a:t>
            </a:r>
          </a:p>
        </p:txBody>
      </p:sp>
      <p:cxnSp>
        <p:nvCxnSpPr>
          <p:cNvPr id="7" name="Connector 6"/>
          <p:cNvCxnSpPr/>
          <p:nvPr/>
        </p:nvCxnSpPr>
        <p:spPr>
          <a:xfrm>
            <a:off x="713232" y="1627632"/>
            <a:ext cx="10808208"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02920" y="1828800"/>
            <a:ext cx="2194560" cy="384048"/>
          </a:xfrm>
          <a:prstGeom prst="rect">
            <a:avLst/>
          </a:prstGeom>
          <a:solidFill>
            <a:srgbClr val="06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828800"/>
            <a:ext cx="2011680" cy="384048"/>
          </a:xfrm>
          <a:prstGeom prst="rect">
            <a:avLst/>
          </a:prstGeom>
          <a:noFill/>
        </p:spPr>
        <p:txBody>
          <a:bodyPr wrap="square" lIns="36000" rIns="36000" tIns="18000" bIns="18000" anchor="ctr">
            <a:spAutoFit/>
          </a:bodyPr>
          <a:lstStyle/>
          <a:p>
            <a:pPr algn="l">
              <a:lnSpc>
                <a:spcPct val="120000"/>
              </a:lnSpc>
            </a:pPr>
            <a:r>
              <a:rPr sz="1050" b="1" i="0">
                <a:solidFill>
                  <a:srgbClr val="FFFFFF"/>
                </a:solidFill>
                <a:latin typeface="Calibri"/>
              </a:rPr>
              <a:t>Library</a:t>
            </a:r>
          </a:p>
        </p:txBody>
      </p:sp>
      <p:sp>
        <p:nvSpPr>
          <p:cNvPr id="10" name="Rectangle 9"/>
          <p:cNvSpPr/>
          <p:nvPr/>
        </p:nvSpPr>
        <p:spPr>
          <a:xfrm>
            <a:off x="2697480" y="1828800"/>
            <a:ext cx="822960" cy="384048"/>
          </a:xfrm>
          <a:prstGeom prst="rect">
            <a:avLst/>
          </a:prstGeom>
          <a:solidFill>
            <a:srgbClr val="06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88920" y="1828800"/>
            <a:ext cx="640080" cy="384048"/>
          </a:xfrm>
          <a:prstGeom prst="rect">
            <a:avLst/>
          </a:prstGeom>
          <a:noFill/>
        </p:spPr>
        <p:txBody>
          <a:bodyPr wrap="square" lIns="36000" rIns="36000" tIns="18000" bIns="18000" anchor="ctr">
            <a:spAutoFit/>
          </a:bodyPr>
          <a:lstStyle/>
          <a:p>
            <a:pPr algn="l">
              <a:lnSpc>
                <a:spcPct val="120000"/>
              </a:lnSpc>
            </a:pPr>
            <a:r>
              <a:rPr sz="1050" b="1" i="0">
                <a:solidFill>
                  <a:srgbClr val="FFFFFF"/>
                </a:solidFill>
                <a:latin typeface="Calibri"/>
              </a:rPr>
              <a:t>Version</a:t>
            </a:r>
          </a:p>
        </p:txBody>
      </p:sp>
      <p:sp>
        <p:nvSpPr>
          <p:cNvPr id="12" name="Rectangle 11"/>
          <p:cNvSpPr/>
          <p:nvPr/>
        </p:nvSpPr>
        <p:spPr>
          <a:xfrm>
            <a:off x="3520440" y="1828800"/>
            <a:ext cx="1554480" cy="384048"/>
          </a:xfrm>
          <a:prstGeom prst="rect">
            <a:avLst/>
          </a:prstGeom>
          <a:solidFill>
            <a:srgbClr val="06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1828800"/>
            <a:ext cx="1371600" cy="384048"/>
          </a:xfrm>
          <a:prstGeom prst="rect">
            <a:avLst/>
          </a:prstGeom>
          <a:noFill/>
        </p:spPr>
        <p:txBody>
          <a:bodyPr wrap="square" lIns="36000" rIns="36000" tIns="18000" bIns="18000" anchor="ctr">
            <a:spAutoFit/>
          </a:bodyPr>
          <a:lstStyle/>
          <a:p>
            <a:pPr algn="l">
              <a:lnSpc>
                <a:spcPct val="120000"/>
              </a:lnSpc>
            </a:pPr>
            <a:r>
              <a:rPr sz="1050" b="1" i="0">
                <a:solidFill>
                  <a:srgbClr val="FFFFFF"/>
                </a:solidFill>
                <a:latin typeface="Calibri"/>
              </a:rPr>
              <a:t>Layer</a:t>
            </a:r>
          </a:p>
        </p:txBody>
      </p:sp>
      <p:sp>
        <p:nvSpPr>
          <p:cNvPr id="14" name="Rectangle 13"/>
          <p:cNvSpPr/>
          <p:nvPr/>
        </p:nvSpPr>
        <p:spPr>
          <a:xfrm>
            <a:off x="5074920" y="1828800"/>
            <a:ext cx="6583680" cy="384048"/>
          </a:xfrm>
          <a:prstGeom prst="rect">
            <a:avLst/>
          </a:prstGeom>
          <a:solidFill>
            <a:srgbClr val="06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66360" y="1828800"/>
            <a:ext cx="6400800" cy="384048"/>
          </a:xfrm>
          <a:prstGeom prst="rect">
            <a:avLst/>
          </a:prstGeom>
          <a:noFill/>
        </p:spPr>
        <p:txBody>
          <a:bodyPr wrap="square" lIns="36000" rIns="36000" tIns="18000" bIns="18000" anchor="ctr">
            <a:spAutoFit/>
          </a:bodyPr>
          <a:lstStyle/>
          <a:p>
            <a:pPr algn="l">
              <a:lnSpc>
                <a:spcPct val="120000"/>
              </a:lnSpc>
            </a:pPr>
            <a:r>
              <a:rPr sz="1050" b="1" i="0">
                <a:solidFill>
                  <a:srgbClr val="FFFFFF"/>
                </a:solidFill>
                <a:latin typeface="Calibri"/>
              </a:rPr>
              <a:t>What it does / where it's used</a:t>
            </a:r>
          </a:p>
        </p:txBody>
      </p:sp>
      <p:sp>
        <p:nvSpPr>
          <p:cNvPr id="16" name="Rectangle 15"/>
          <p:cNvSpPr/>
          <p:nvPr/>
        </p:nvSpPr>
        <p:spPr>
          <a:xfrm>
            <a:off x="502920" y="2212848"/>
            <a:ext cx="219456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2212848"/>
            <a:ext cx="2011680" cy="361188"/>
          </a:xfrm>
          <a:prstGeom prst="rect">
            <a:avLst/>
          </a:prstGeom>
          <a:noFill/>
        </p:spPr>
        <p:txBody>
          <a:bodyPr wrap="square" lIns="36000" rIns="36000" tIns="18000" bIns="18000" anchor="ctr">
            <a:spAutoFit/>
          </a:bodyPr>
          <a:lstStyle/>
          <a:p>
            <a:pPr algn="l">
              <a:lnSpc>
                <a:spcPct val="110000"/>
              </a:lnSpc>
            </a:pPr>
            <a:r>
              <a:rPr sz="950" b="1" i="0">
                <a:solidFill>
                  <a:srgbClr val="0F172A"/>
                </a:solidFill>
                <a:latin typeface="Calibri"/>
              </a:rPr>
              <a:t>pymysql</a:t>
            </a:r>
          </a:p>
        </p:txBody>
      </p:sp>
      <p:sp>
        <p:nvSpPr>
          <p:cNvPr id="18" name="Rectangle 17"/>
          <p:cNvSpPr/>
          <p:nvPr/>
        </p:nvSpPr>
        <p:spPr>
          <a:xfrm>
            <a:off x="2697480" y="2212848"/>
            <a:ext cx="82296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88920" y="2212848"/>
            <a:ext cx="64008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≥1.1</a:t>
            </a:r>
          </a:p>
        </p:txBody>
      </p:sp>
      <p:sp>
        <p:nvSpPr>
          <p:cNvPr id="20" name="Rectangle 19"/>
          <p:cNvSpPr/>
          <p:nvPr/>
        </p:nvSpPr>
        <p:spPr>
          <a:xfrm>
            <a:off x="3520440" y="2212848"/>
            <a:ext cx="155448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11880" y="2212848"/>
            <a:ext cx="1371600" cy="361188"/>
          </a:xfrm>
          <a:prstGeom prst="rect">
            <a:avLst/>
          </a:prstGeom>
          <a:noFill/>
        </p:spPr>
        <p:txBody>
          <a:bodyPr wrap="square" lIns="36000" rIns="36000" tIns="18000" bIns="18000" anchor="ctr">
            <a:spAutoFit/>
          </a:bodyPr>
          <a:lstStyle/>
          <a:p>
            <a:pPr algn="l">
              <a:lnSpc>
                <a:spcPct val="110000"/>
              </a:lnSpc>
            </a:pPr>
            <a:r>
              <a:rPr sz="900" b="1" i="0">
                <a:solidFill>
                  <a:srgbClr val="0F172A"/>
                </a:solidFill>
                <a:latin typeface="Calibri"/>
              </a:rPr>
              <a:t>Backend</a:t>
            </a:r>
          </a:p>
        </p:txBody>
      </p:sp>
      <p:sp>
        <p:nvSpPr>
          <p:cNvPr id="22" name="Rectangle 21"/>
          <p:cNvSpPr/>
          <p:nvPr/>
        </p:nvSpPr>
        <p:spPr>
          <a:xfrm>
            <a:off x="5074920" y="2212848"/>
            <a:ext cx="658368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60" y="2212848"/>
            <a:ext cx="640080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MySQL driver. Opens connections from db.py, runs schema CREATE statements, and executes every CRUD query.</a:t>
            </a:r>
          </a:p>
        </p:txBody>
      </p:sp>
      <p:sp>
        <p:nvSpPr>
          <p:cNvPr id="24" name="Rectangle 23"/>
          <p:cNvSpPr/>
          <p:nvPr/>
        </p:nvSpPr>
        <p:spPr>
          <a:xfrm>
            <a:off x="502920" y="2574036"/>
            <a:ext cx="219456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2574036"/>
            <a:ext cx="2011680" cy="361188"/>
          </a:xfrm>
          <a:prstGeom prst="rect">
            <a:avLst/>
          </a:prstGeom>
          <a:noFill/>
        </p:spPr>
        <p:txBody>
          <a:bodyPr wrap="square" lIns="36000" rIns="36000" tIns="18000" bIns="18000" anchor="ctr">
            <a:spAutoFit/>
          </a:bodyPr>
          <a:lstStyle/>
          <a:p>
            <a:pPr algn="l">
              <a:lnSpc>
                <a:spcPct val="110000"/>
              </a:lnSpc>
            </a:pPr>
            <a:r>
              <a:rPr sz="950" b="1" i="0">
                <a:solidFill>
                  <a:srgbClr val="0F172A"/>
                </a:solidFill>
                <a:latin typeface="Calibri"/>
              </a:rPr>
              <a:t>cryptography</a:t>
            </a:r>
          </a:p>
        </p:txBody>
      </p:sp>
      <p:sp>
        <p:nvSpPr>
          <p:cNvPr id="26" name="Rectangle 25"/>
          <p:cNvSpPr/>
          <p:nvPr/>
        </p:nvSpPr>
        <p:spPr>
          <a:xfrm>
            <a:off x="2697480" y="2574036"/>
            <a:ext cx="82296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88920" y="2574036"/>
            <a:ext cx="64008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≥41</a:t>
            </a:r>
          </a:p>
        </p:txBody>
      </p:sp>
      <p:sp>
        <p:nvSpPr>
          <p:cNvPr id="28" name="Rectangle 27"/>
          <p:cNvSpPr/>
          <p:nvPr/>
        </p:nvSpPr>
        <p:spPr>
          <a:xfrm>
            <a:off x="3520440" y="2574036"/>
            <a:ext cx="155448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11880" y="2574036"/>
            <a:ext cx="1371600" cy="361188"/>
          </a:xfrm>
          <a:prstGeom prst="rect">
            <a:avLst/>
          </a:prstGeom>
          <a:noFill/>
        </p:spPr>
        <p:txBody>
          <a:bodyPr wrap="square" lIns="36000" rIns="36000" tIns="18000" bIns="18000" anchor="ctr">
            <a:spAutoFit/>
          </a:bodyPr>
          <a:lstStyle/>
          <a:p>
            <a:pPr algn="l">
              <a:lnSpc>
                <a:spcPct val="110000"/>
              </a:lnSpc>
            </a:pPr>
            <a:r>
              <a:rPr sz="900" b="1" i="0">
                <a:solidFill>
                  <a:srgbClr val="0F172A"/>
                </a:solidFill>
                <a:latin typeface="Calibri"/>
              </a:rPr>
              <a:t>Backend</a:t>
            </a:r>
          </a:p>
        </p:txBody>
      </p:sp>
      <p:sp>
        <p:nvSpPr>
          <p:cNvPr id="30" name="Rectangle 29"/>
          <p:cNvSpPr/>
          <p:nvPr/>
        </p:nvSpPr>
        <p:spPr>
          <a:xfrm>
            <a:off x="5074920" y="2574036"/>
            <a:ext cx="658368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66360" y="2574036"/>
            <a:ext cx="640080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Required transitively by PyMySQL for the secure MySQL auth handshake (caching_sha2_password).</a:t>
            </a:r>
          </a:p>
        </p:txBody>
      </p:sp>
      <p:sp>
        <p:nvSpPr>
          <p:cNvPr id="32" name="Rectangle 31"/>
          <p:cNvSpPr/>
          <p:nvPr/>
        </p:nvSpPr>
        <p:spPr>
          <a:xfrm>
            <a:off x="502920" y="2935224"/>
            <a:ext cx="219456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2935224"/>
            <a:ext cx="2011680" cy="361188"/>
          </a:xfrm>
          <a:prstGeom prst="rect">
            <a:avLst/>
          </a:prstGeom>
          <a:noFill/>
        </p:spPr>
        <p:txBody>
          <a:bodyPr wrap="square" lIns="36000" rIns="36000" tIns="18000" bIns="18000" anchor="ctr">
            <a:spAutoFit/>
          </a:bodyPr>
          <a:lstStyle/>
          <a:p>
            <a:pPr algn="l">
              <a:lnSpc>
                <a:spcPct val="110000"/>
              </a:lnSpc>
            </a:pPr>
            <a:r>
              <a:rPr sz="950" b="1" i="0">
                <a:solidFill>
                  <a:srgbClr val="0F172A"/>
                </a:solidFill>
                <a:latin typeface="Calibri"/>
              </a:rPr>
              <a:t>python-dotenv</a:t>
            </a:r>
          </a:p>
        </p:txBody>
      </p:sp>
      <p:sp>
        <p:nvSpPr>
          <p:cNvPr id="34" name="Rectangle 33"/>
          <p:cNvSpPr/>
          <p:nvPr/>
        </p:nvSpPr>
        <p:spPr>
          <a:xfrm>
            <a:off x="2697480" y="2935224"/>
            <a:ext cx="82296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88920" y="2935224"/>
            <a:ext cx="64008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≥1.0</a:t>
            </a:r>
          </a:p>
        </p:txBody>
      </p:sp>
      <p:sp>
        <p:nvSpPr>
          <p:cNvPr id="36" name="Rectangle 35"/>
          <p:cNvSpPr/>
          <p:nvPr/>
        </p:nvSpPr>
        <p:spPr>
          <a:xfrm>
            <a:off x="3520440" y="2935224"/>
            <a:ext cx="155448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11880" y="2935224"/>
            <a:ext cx="1371600" cy="361188"/>
          </a:xfrm>
          <a:prstGeom prst="rect">
            <a:avLst/>
          </a:prstGeom>
          <a:noFill/>
        </p:spPr>
        <p:txBody>
          <a:bodyPr wrap="square" lIns="36000" rIns="36000" tIns="18000" bIns="18000" anchor="ctr">
            <a:spAutoFit/>
          </a:bodyPr>
          <a:lstStyle/>
          <a:p>
            <a:pPr algn="l">
              <a:lnSpc>
                <a:spcPct val="110000"/>
              </a:lnSpc>
            </a:pPr>
            <a:r>
              <a:rPr sz="900" b="1" i="0">
                <a:solidFill>
                  <a:srgbClr val="0F172A"/>
                </a:solidFill>
                <a:latin typeface="Calibri"/>
              </a:rPr>
              <a:t>Backend</a:t>
            </a:r>
          </a:p>
        </p:txBody>
      </p:sp>
      <p:sp>
        <p:nvSpPr>
          <p:cNvPr id="38" name="Rectangle 37"/>
          <p:cNvSpPr/>
          <p:nvPr/>
        </p:nvSpPr>
        <p:spPr>
          <a:xfrm>
            <a:off x="5074920" y="2935224"/>
            <a:ext cx="658368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66360" y="2935224"/>
            <a:ext cx="640080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Loads .env into os.environ so secrets (GROQ_API_KEY, SMTP creds, OAuth client) never sit in source.</a:t>
            </a:r>
          </a:p>
        </p:txBody>
      </p:sp>
      <p:sp>
        <p:nvSpPr>
          <p:cNvPr id="40" name="Rectangle 39"/>
          <p:cNvSpPr/>
          <p:nvPr/>
        </p:nvSpPr>
        <p:spPr>
          <a:xfrm>
            <a:off x="502920" y="3296412"/>
            <a:ext cx="219456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4360" y="3296412"/>
            <a:ext cx="2011680" cy="361188"/>
          </a:xfrm>
          <a:prstGeom prst="rect">
            <a:avLst/>
          </a:prstGeom>
          <a:noFill/>
        </p:spPr>
        <p:txBody>
          <a:bodyPr wrap="square" lIns="36000" rIns="36000" tIns="18000" bIns="18000" anchor="ctr">
            <a:spAutoFit/>
          </a:bodyPr>
          <a:lstStyle/>
          <a:p>
            <a:pPr algn="l">
              <a:lnSpc>
                <a:spcPct val="110000"/>
              </a:lnSpc>
            </a:pPr>
            <a:r>
              <a:rPr sz="950" b="1" i="0">
                <a:solidFill>
                  <a:srgbClr val="0F172A"/>
                </a:solidFill>
                <a:latin typeface="Calibri"/>
              </a:rPr>
              <a:t>sqlite3 (stdlib)</a:t>
            </a:r>
          </a:p>
        </p:txBody>
      </p:sp>
      <p:sp>
        <p:nvSpPr>
          <p:cNvPr id="42" name="Rectangle 41"/>
          <p:cNvSpPr/>
          <p:nvPr/>
        </p:nvSpPr>
        <p:spPr>
          <a:xfrm>
            <a:off x="2697480" y="3296412"/>
            <a:ext cx="82296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788920" y="3296412"/>
            <a:ext cx="64008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a:t>
            </a:r>
          </a:p>
        </p:txBody>
      </p:sp>
      <p:sp>
        <p:nvSpPr>
          <p:cNvPr id="44" name="Rectangle 43"/>
          <p:cNvSpPr/>
          <p:nvPr/>
        </p:nvSpPr>
        <p:spPr>
          <a:xfrm>
            <a:off x="3520440" y="3296412"/>
            <a:ext cx="155448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611880" y="3296412"/>
            <a:ext cx="1371600" cy="361188"/>
          </a:xfrm>
          <a:prstGeom prst="rect">
            <a:avLst/>
          </a:prstGeom>
          <a:noFill/>
        </p:spPr>
        <p:txBody>
          <a:bodyPr wrap="square" lIns="36000" rIns="36000" tIns="18000" bIns="18000" anchor="ctr">
            <a:spAutoFit/>
          </a:bodyPr>
          <a:lstStyle/>
          <a:p>
            <a:pPr algn="l">
              <a:lnSpc>
                <a:spcPct val="110000"/>
              </a:lnSpc>
            </a:pPr>
            <a:r>
              <a:rPr sz="900" b="1" i="0">
                <a:solidFill>
                  <a:srgbClr val="0F172A"/>
                </a:solidFill>
                <a:latin typeface="Calibri"/>
              </a:rPr>
              <a:t>Backend</a:t>
            </a:r>
          </a:p>
        </p:txBody>
      </p:sp>
      <p:sp>
        <p:nvSpPr>
          <p:cNvPr id="46" name="Rectangle 45"/>
          <p:cNvSpPr/>
          <p:nvPr/>
        </p:nvSpPr>
        <p:spPr>
          <a:xfrm>
            <a:off x="5074920" y="3296412"/>
            <a:ext cx="658368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66360" y="3296412"/>
            <a:ext cx="640080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Fallback DB used when MySQL isn't reachable — same dialect-aware schema builder in db.py switches AUTOINCREMENT vs AUTO_INCREMENT.</a:t>
            </a:r>
          </a:p>
        </p:txBody>
      </p:sp>
      <p:sp>
        <p:nvSpPr>
          <p:cNvPr id="48" name="Rectangle 47"/>
          <p:cNvSpPr/>
          <p:nvPr/>
        </p:nvSpPr>
        <p:spPr>
          <a:xfrm>
            <a:off x="502920" y="3657600"/>
            <a:ext cx="219456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 y="3657600"/>
            <a:ext cx="2011680" cy="361188"/>
          </a:xfrm>
          <a:prstGeom prst="rect">
            <a:avLst/>
          </a:prstGeom>
          <a:noFill/>
        </p:spPr>
        <p:txBody>
          <a:bodyPr wrap="square" lIns="36000" rIns="36000" tIns="18000" bIns="18000" anchor="ctr">
            <a:spAutoFit/>
          </a:bodyPr>
          <a:lstStyle/>
          <a:p>
            <a:pPr algn="l">
              <a:lnSpc>
                <a:spcPct val="110000"/>
              </a:lnSpc>
            </a:pPr>
            <a:r>
              <a:rPr sz="950" b="1" i="0">
                <a:solidFill>
                  <a:srgbClr val="0F172A"/>
                </a:solidFill>
                <a:latin typeface="Calibri"/>
              </a:rPr>
              <a:t>hashlib (stdlib)</a:t>
            </a:r>
          </a:p>
        </p:txBody>
      </p:sp>
      <p:sp>
        <p:nvSpPr>
          <p:cNvPr id="50" name="Rectangle 49"/>
          <p:cNvSpPr/>
          <p:nvPr/>
        </p:nvSpPr>
        <p:spPr>
          <a:xfrm>
            <a:off x="2697480" y="3657600"/>
            <a:ext cx="82296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88920" y="3657600"/>
            <a:ext cx="64008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a:t>
            </a:r>
          </a:p>
        </p:txBody>
      </p:sp>
      <p:sp>
        <p:nvSpPr>
          <p:cNvPr id="52" name="Rectangle 51"/>
          <p:cNvSpPr/>
          <p:nvPr/>
        </p:nvSpPr>
        <p:spPr>
          <a:xfrm>
            <a:off x="3520440" y="3657600"/>
            <a:ext cx="155448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611880" y="3657600"/>
            <a:ext cx="1371600" cy="361188"/>
          </a:xfrm>
          <a:prstGeom prst="rect">
            <a:avLst/>
          </a:prstGeom>
          <a:noFill/>
        </p:spPr>
        <p:txBody>
          <a:bodyPr wrap="square" lIns="36000" rIns="36000" tIns="18000" bIns="18000" anchor="ctr">
            <a:spAutoFit/>
          </a:bodyPr>
          <a:lstStyle/>
          <a:p>
            <a:pPr algn="l">
              <a:lnSpc>
                <a:spcPct val="110000"/>
              </a:lnSpc>
            </a:pPr>
            <a:r>
              <a:rPr sz="900" b="1" i="0">
                <a:solidFill>
                  <a:srgbClr val="0F172A"/>
                </a:solidFill>
                <a:latin typeface="Calibri"/>
              </a:rPr>
              <a:t>Backend</a:t>
            </a:r>
          </a:p>
        </p:txBody>
      </p:sp>
      <p:sp>
        <p:nvSpPr>
          <p:cNvPr id="54" name="Rectangle 53"/>
          <p:cNvSpPr/>
          <p:nvPr/>
        </p:nvSpPr>
        <p:spPr>
          <a:xfrm>
            <a:off x="5074920" y="3657600"/>
            <a:ext cx="658368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166360" y="3657600"/>
            <a:ext cx="640080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SHA-256 password hashing in auth.py. Used instead of bcrypt so the demo can run with zero install beyond Streamlit.</a:t>
            </a:r>
          </a:p>
        </p:txBody>
      </p:sp>
      <p:sp>
        <p:nvSpPr>
          <p:cNvPr id="56" name="Rectangle 55"/>
          <p:cNvSpPr/>
          <p:nvPr/>
        </p:nvSpPr>
        <p:spPr>
          <a:xfrm>
            <a:off x="502920" y="4018788"/>
            <a:ext cx="219456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4360" y="4018788"/>
            <a:ext cx="2011680" cy="361188"/>
          </a:xfrm>
          <a:prstGeom prst="rect">
            <a:avLst/>
          </a:prstGeom>
          <a:noFill/>
        </p:spPr>
        <p:txBody>
          <a:bodyPr wrap="square" lIns="36000" rIns="36000" tIns="18000" bIns="18000" anchor="ctr">
            <a:spAutoFit/>
          </a:bodyPr>
          <a:lstStyle/>
          <a:p>
            <a:pPr algn="l">
              <a:lnSpc>
                <a:spcPct val="110000"/>
              </a:lnSpc>
            </a:pPr>
            <a:r>
              <a:rPr sz="950" b="1" i="0">
                <a:solidFill>
                  <a:srgbClr val="0F172A"/>
                </a:solidFill>
                <a:latin typeface="Calibri"/>
              </a:rPr>
              <a:t>smtplib (stdlib)</a:t>
            </a:r>
          </a:p>
        </p:txBody>
      </p:sp>
      <p:sp>
        <p:nvSpPr>
          <p:cNvPr id="58" name="Rectangle 57"/>
          <p:cNvSpPr/>
          <p:nvPr/>
        </p:nvSpPr>
        <p:spPr>
          <a:xfrm>
            <a:off x="2697480" y="4018788"/>
            <a:ext cx="82296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788920" y="4018788"/>
            <a:ext cx="64008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a:t>
            </a:r>
          </a:p>
        </p:txBody>
      </p:sp>
      <p:sp>
        <p:nvSpPr>
          <p:cNvPr id="60" name="Rectangle 59"/>
          <p:cNvSpPr/>
          <p:nvPr/>
        </p:nvSpPr>
        <p:spPr>
          <a:xfrm>
            <a:off x="3520440" y="4018788"/>
            <a:ext cx="155448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611880" y="4018788"/>
            <a:ext cx="1371600" cy="361188"/>
          </a:xfrm>
          <a:prstGeom prst="rect">
            <a:avLst/>
          </a:prstGeom>
          <a:noFill/>
        </p:spPr>
        <p:txBody>
          <a:bodyPr wrap="square" lIns="36000" rIns="36000" tIns="18000" bIns="18000" anchor="ctr">
            <a:spAutoFit/>
          </a:bodyPr>
          <a:lstStyle/>
          <a:p>
            <a:pPr algn="l">
              <a:lnSpc>
                <a:spcPct val="110000"/>
              </a:lnSpc>
            </a:pPr>
            <a:r>
              <a:rPr sz="900" b="1" i="0">
                <a:solidFill>
                  <a:srgbClr val="0F172A"/>
                </a:solidFill>
                <a:latin typeface="Calibri"/>
              </a:rPr>
              <a:t>Backend</a:t>
            </a:r>
          </a:p>
        </p:txBody>
      </p:sp>
      <p:sp>
        <p:nvSpPr>
          <p:cNvPr id="62" name="Rectangle 61"/>
          <p:cNvSpPr/>
          <p:nvPr/>
        </p:nvSpPr>
        <p:spPr>
          <a:xfrm>
            <a:off x="5074920" y="4018788"/>
            <a:ext cx="658368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166360" y="4018788"/>
            <a:ext cx="640080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Sends the HTML welcome email to newly onboarded doctors via Gmail.</a:t>
            </a:r>
          </a:p>
        </p:txBody>
      </p:sp>
      <p:sp>
        <p:nvSpPr>
          <p:cNvPr id="64" name="Rectangle 63"/>
          <p:cNvSpPr/>
          <p:nvPr/>
        </p:nvSpPr>
        <p:spPr>
          <a:xfrm>
            <a:off x="502920" y="4379976"/>
            <a:ext cx="219456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4360" y="4379976"/>
            <a:ext cx="2011680" cy="361188"/>
          </a:xfrm>
          <a:prstGeom prst="rect">
            <a:avLst/>
          </a:prstGeom>
          <a:noFill/>
        </p:spPr>
        <p:txBody>
          <a:bodyPr wrap="square" lIns="36000" rIns="36000" tIns="18000" bIns="18000" anchor="ctr">
            <a:spAutoFit/>
          </a:bodyPr>
          <a:lstStyle/>
          <a:p>
            <a:pPr algn="l">
              <a:lnSpc>
                <a:spcPct val="110000"/>
              </a:lnSpc>
            </a:pPr>
            <a:r>
              <a:rPr sz="950" b="1" i="0">
                <a:solidFill>
                  <a:srgbClr val="0F172A"/>
                </a:solidFill>
                <a:latin typeface="Calibri"/>
              </a:rPr>
              <a:t>streamlit</a:t>
            </a:r>
          </a:p>
        </p:txBody>
      </p:sp>
      <p:sp>
        <p:nvSpPr>
          <p:cNvPr id="66" name="Rectangle 65"/>
          <p:cNvSpPr/>
          <p:nvPr/>
        </p:nvSpPr>
        <p:spPr>
          <a:xfrm>
            <a:off x="2697480" y="4379976"/>
            <a:ext cx="82296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788920" y="4379976"/>
            <a:ext cx="64008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≥1.30</a:t>
            </a:r>
          </a:p>
        </p:txBody>
      </p:sp>
      <p:sp>
        <p:nvSpPr>
          <p:cNvPr id="68" name="Rectangle 67"/>
          <p:cNvSpPr/>
          <p:nvPr/>
        </p:nvSpPr>
        <p:spPr>
          <a:xfrm>
            <a:off x="3520440" y="4379976"/>
            <a:ext cx="155448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611880" y="4379976"/>
            <a:ext cx="1371600" cy="361188"/>
          </a:xfrm>
          <a:prstGeom prst="rect">
            <a:avLst/>
          </a:prstGeom>
          <a:noFill/>
        </p:spPr>
        <p:txBody>
          <a:bodyPr wrap="square" lIns="36000" rIns="36000" tIns="18000" bIns="18000" anchor="ctr">
            <a:spAutoFit/>
          </a:bodyPr>
          <a:lstStyle/>
          <a:p>
            <a:pPr algn="l">
              <a:lnSpc>
                <a:spcPct val="110000"/>
              </a:lnSpc>
            </a:pPr>
            <a:r>
              <a:rPr sz="900" b="1" i="0">
                <a:solidFill>
                  <a:srgbClr val="0F172A"/>
                </a:solidFill>
                <a:latin typeface="Calibri"/>
              </a:rPr>
              <a:t>Frontend</a:t>
            </a:r>
          </a:p>
        </p:txBody>
      </p:sp>
      <p:sp>
        <p:nvSpPr>
          <p:cNvPr id="70" name="Rectangle 69"/>
          <p:cNvSpPr/>
          <p:nvPr/>
        </p:nvSpPr>
        <p:spPr>
          <a:xfrm>
            <a:off x="5074920" y="4379976"/>
            <a:ext cx="658368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166360" y="4379976"/>
            <a:ext cx="640080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Same library listed in the AI slide — every visible page is a Streamlit script. Custom CSS is injected via st.markdown for theming.</a:t>
            </a:r>
          </a:p>
        </p:txBody>
      </p:sp>
      <p:sp>
        <p:nvSpPr>
          <p:cNvPr id="72" name="Rectangle 71"/>
          <p:cNvSpPr/>
          <p:nvPr/>
        </p:nvSpPr>
        <p:spPr>
          <a:xfrm>
            <a:off x="502920" y="4741164"/>
            <a:ext cx="219456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4360" y="4741164"/>
            <a:ext cx="2011680" cy="361188"/>
          </a:xfrm>
          <a:prstGeom prst="rect">
            <a:avLst/>
          </a:prstGeom>
          <a:noFill/>
        </p:spPr>
        <p:txBody>
          <a:bodyPr wrap="square" lIns="36000" rIns="36000" tIns="18000" bIns="18000" anchor="ctr">
            <a:spAutoFit/>
          </a:bodyPr>
          <a:lstStyle/>
          <a:p>
            <a:pPr algn="l">
              <a:lnSpc>
                <a:spcPct val="110000"/>
              </a:lnSpc>
            </a:pPr>
            <a:r>
              <a:rPr sz="950" b="1" i="0">
                <a:solidFill>
                  <a:srgbClr val="0F172A"/>
                </a:solidFill>
                <a:latin typeface="Calibri"/>
              </a:rPr>
              <a:t>Pillow</a:t>
            </a:r>
          </a:p>
        </p:txBody>
      </p:sp>
      <p:sp>
        <p:nvSpPr>
          <p:cNvPr id="74" name="Rectangle 73"/>
          <p:cNvSpPr/>
          <p:nvPr/>
        </p:nvSpPr>
        <p:spPr>
          <a:xfrm>
            <a:off x="2697480" y="4741164"/>
            <a:ext cx="82296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788920" y="4741164"/>
            <a:ext cx="64008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≥10</a:t>
            </a:r>
          </a:p>
        </p:txBody>
      </p:sp>
      <p:sp>
        <p:nvSpPr>
          <p:cNvPr id="76" name="Rectangle 75"/>
          <p:cNvSpPr/>
          <p:nvPr/>
        </p:nvSpPr>
        <p:spPr>
          <a:xfrm>
            <a:off x="3520440" y="4741164"/>
            <a:ext cx="155448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611880" y="4741164"/>
            <a:ext cx="1371600" cy="361188"/>
          </a:xfrm>
          <a:prstGeom prst="rect">
            <a:avLst/>
          </a:prstGeom>
          <a:noFill/>
        </p:spPr>
        <p:txBody>
          <a:bodyPr wrap="square" lIns="36000" rIns="36000" tIns="18000" bIns="18000" anchor="ctr">
            <a:spAutoFit/>
          </a:bodyPr>
          <a:lstStyle/>
          <a:p>
            <a:pPr algn="l">
              <a:lnSpc>
                <a:spcPct val="110000"/>
              </a:lnSpc>
            </a:pPr>
            <a:r>
              <a:rPr sz="900" b="1" i="0">
                <a:solidFill>
                  <a:srgbClr val="0F172A"/>
                </a:solidFill>
                <a:latin typeface="Calibri"/>
              </a:rPr>
              <a:t>Frontend</a:t>
            </a:r>
          </a:p>
        </p:txBody>
      </p:sp>
      <p:sp>
        <p:nvSpPr>
          <p:cNvPr id="78" name="Rectangle 77"/>
          <p:cNvSpPr/>
          <p:nvPr/>
        </p:nvSpPr>
        <p:spPr>
          <a:xfrm>
            <a:off x="5074920" y="4741164"/>
            <a:ext cx="658368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166360" y="4741164"/>
            <a:ext cx="640080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Logo + favicon rendering (also listed above for the AI slide context).</a:t>
            </a:r>
          </a:p>
        </p:txBody>
      </p:sp>
      <p:sp>
        <p:nvSpPr>
          <p:cNvPr id="80" name="Rectangle 79"/>
          <p:cNvSpPr/>
          <p:nvPr/>
        </p:nvSpPr>
        <p:spPr>
          <a:xfrm>
            <a:off x="502920" y="5102352"/>
            <a:ext cx="219456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94360" y="5102352"/>
            <a:ext cx="2011680" cy="361188"/>
          </a:xfrm>
          <a:prstGeom prst="rect">
            <a:avLst/>
          </a:prstGeom>
          <a:noFill/>
        </p:spPr>
        <p:txBody>
          <a:bodyPr wrap="square" lIns="36000" rIns="36000" tIns="18000" bIns="18000" anchor="ctr">
            <a:spAutoFit/>
          </a:bodyPr>
          <a:lstStyle/>
          <a:p>
            <a:pPr algn="l">
              <a:lnSpc>
                <a:spcPct val="110000"/>
              </a:lnSpc>
            </a:pPr>
            <a:r>
              <a:rPr sz="950" b="1" i="0">
                <a:solidFill>
                  <a:srgbClr val="0F172A"/>
                </a:solidFill>
                <a:latin typeface="Calibri"/>
              </a:rPr>
              <a:t>pandas</a:t>
            </a:r>
          </a:p>
        </p:txBody>
      </p:sp>
      <p:sp>
        <p:nvSpPr>
          <p:cNvPr id="82" name="Rectangle 81"/>
          <p:cNvSpPr/>
          <p:nvPr/>
        </p:nvSpPr>
        <p:spPr>
          <a:xfrm>
            <a:off x="2697480" y="5102352"/>
            <a:ext cx="82296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788920" y="5102352"/>
            <a:ext cx="64008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≥2.0</a:t>
            </a:r>
          </a:p>
        </p:txBody>
      </p:sp>
      <p:sp>
        <p:nvSpPr>
          <p:cNvPr id="84" name="Rectangle 83"/>
          <p:cNvSpPr/>
          <p:nvPr/>
        </p:nvSpPr>
        <p:spPr>
          <a:xfrm>
            <a:off x="3520440" y="5102352"/>
            <a:ext cx="155448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611880" y="5102352"/>
            <a:ext cx="1371600" cy="361188"/>
          </a:xfrm>
          <a:prstGeom prst="rect">
            <a:avLst/>
          </a:prstGeom>
          <a:noFill/>
        </p:spPr>
        <p:txBody>
          <a:bodyPr wrap="square" lIns="36000" rIns="36000" tIns="18000" bIns="18000" anchor="ctr">
            <a:spAutoFit/>
          </a:bodyPr>
          <a:lstStyle/>
          <a:p>
            <a:pPr algn="l">
              <a:lnSpc>
                <a:spcPct val="110000"/>
              </a:lnSpc>
            </a:pPr>
            <a:r>
              <a:rPr sz="900" b="1" i="0">
                <a:solidFill>
                  <a:srgbClr val="0F172A"/>
                </a:solidFill>
                <a:latin typeface="Calibri"/>
              </a:rPr>
              <a:t>Utility</a:t>
            </a:r>
          </a:p>
        </p:txBody>
      </p:sp>
      <p:sp>
        <p:nvSpPr>
          <p:cNvPr id="86" name="Rectangle 85"/>
          <p:cNvSpPr/>
          <p:nvPr/>
        </p:nvSpPr>
        <p:spPr>
          <a:xfrm>
            <a:off x="5074920" y="5102352"/>
            <a:ext cx="658368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166360" y="5102352"/>
            <a:ext cx="640080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Admin analytics: visit counts, revenue, doctor load — all rendered from a pandas DataFrame.</a:t>
            </a:r>
          </a:p>
        </p:txBody>
      </p:sp>
      <p:sp>
        <p:nvSpPr>
          <p:cNvPr id="88" name="Rectangle 87"/>
          <p:cNvSpPr/>
          <p:nvPr/>
        </p:nvSpPr>
        <p:spPr>
          <a:xfrm>
            <a:off x="502920" y="5463540"/>
            <a:ext cx="219456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94360" y="5463540"/>
            <a:ext cx="2011680" cy="361188"/>
          </a:xfrm>
          <a:prstGeom prst="rect">
            <a:avLst/>
          </a:prstGeom>
          <a:noFill/>
        </p:spPr>
        <p:txBody>
          <a:bodyPr wrap="square" lIns="36000" rIns="36000" tIns="18000" bIns="18000" anchor="ctr">
            <a:spAutoFit/>
          </a:bodyPr>
          <a:lstStyle/>
          <a:p>
            <a:pPr algn="l">
              <a:lnSpc>
                <a:spcPct val="110000"/>
              </a:lnSpc>
            </a:pPr>
            <a:r>
              <a:rPr sz="950" b="1" i="0">
                <a:solidFill>
                  <a:srgbClr val="0F172A"/>
                </a:solidFill>
                <a:latin typeface="Calibri"/>
              </a:rPr>
              <a:t>requests</a:t>
            </a:r>
          </a:p>
        </p:txBody>
      </p:sp>
      <p:sp>
        <p:nvSpPr>
          <p:cNvPr id="90" name="Rectangle 89"/>
          <p:cNvSpPr/>
          <p:nvPr/>
        </p:nvSpPr>
        <p:spPr>
          <a:xfrm>
            <a:off x="2697480" y="5463540"/>
            <a:ext cx="82296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788920" y="5463540"/>
            <a:ext cx="64008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≥2.31</a:t>
            </a:r>
          </a:p>
        </p:txBody>
      </p:sp>
      <p:sp>
        <p:nvSpPr>
          <p:cNvPr id="92" name="Rectangle 91"/>
          <p:cNvSpPr/>
          <p:nvPr/>
        </p:nvSpPr>
        <p:spPr>
          <a:xfrm>
            <a:off x="3520440" y="5463540"/>
            <a:ext cx="155448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611880" y="5463540"/>
            <a:ext cx="1371600" cy="361188"/>
          </a:xfrm>
          <a:prstGeom prst="rect">
            <a:avLst/>
          </a:prstGeom>
          <a:noFill/>
        </p:spPr>
        <p:txBody>
          <a:bodyPr wrap="square" lIns="36000" rIns="36000" tIns="18000" bIns="18000" anchor="ctr">
            <a:spAutoFit/>
          </a:bodyPr>
          <a:lstStyle/>
          <a:p>
            <a:pPr algn="l">
              <a:lnSpc>
                <a:spcPct val="110000"/>
              </a:lnSpc>
            </a:pPr>
            <a:r>
              <a:rPr sz="900" b="1" i="0">
                <a:solidFill>
                  <a:srgbClr val="0F172A"/>
                </a:solidFill>
                <a:latin typeface="Calibri"/>
              </a:rPr>
              <a:t>Utility</a:t>
            </a:r>
          </a:p>
        </p:txBody>
      </p:sp>
      <p:sp>
        <p:nvSpPr>
          <p:cNvPr id="94" name="Rectangle 93"/>
          <p:cNvSpPr/>
          <p:nvPr/>
        </p:nvSpPr>
        <p:spPr>
          <a:xfrm>
            <a:off x="5074920" y="5463540"/>
            <a:ext cx="658368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166360" y="5463540"/>
            <a:ext cx="640080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Google OAuth flow — token exchange + userinfo call. Also used for any external HTTP call where needed.</a:t>
            </a:r>
          </a:p>
        </p:txBody>
      </p:sp>
      <p:sp>
        <p:nvSpPr>
          <p:cNvPr id="96" name="Rectangle 95"/>
          <p:cNvSpPr/>
          <p:nvPr/>
        </p:nvSpPr>
        <p:spPr>
          <a:xfrm>
            <a:off x="502920" y="5824728"/>
            <a:ext cx="219456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594360" y="5824728"/>
            <a:ext cx="2011680" cy="361188"/>
          </a:xfrm>
          <a:prstGeom prst="rect">
            <a:avLst/>
          </a:prstGeom>
          <a:noFill/>
        </p:spPr>
        <p:txBody>
          <a:bodyPr wrap="square" lIns="36000" rIns="36000" tIns="18000" bIns="18000" anchor="ctr">
            <a:spAutoFit/>
          </a:bodyPr>
          <a:lstStyle/>
          <a:p>
            <a:pPr algn="l">
              <a:lnSpc>
                <a:spcPct val="110000"/>
              </a:lnSpc>
            </a:pPr>
            <a:r>
              <a:rPr sz="950" b="1" i="0">
                <a:solidFill>
                  <a:srgbClr val="0F172A"/>
                </a:solidFill>
                <a:latin typeface="Calibri"/>
              </a:rPr>
              <a:t>Custom CSS</a:t>
            </a:r>
          </a:p>
        </p:txBody>
      </p:sp>
      <p:sp>
        <p:nvSpPr>
          <p:cNvPr id="98" name="Rectangle 97"/>
          <p:cNvSpPr/>
          <p:nvPr/>
        </p:nvSpPr>
        <p:spPr>
          <a:xfrm>
            <a:off x="2697480" y="5824728"/>
            <a:ext cx="82296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788920" y="5824728"/>
            <a:ext cx="64008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a:t>
            </a:r>
          </a:p>
        </p:txBody>
      </p:sp>
      <p:sp>
        <p:nvSpPr>
          <p:cNvPr id="100" name="Rectangle 99"/>
          <p:cNvSpPr/>
          <p:nvPr/>
        </p:nvSpPr>
        <p:spPr>
          <a:xfrm>
            <a:off x="3520440" y="5824728"/>
            <a:ext cx="155448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3611880" y="5824728"/>
            <a:ext cx="1371600" cy="361188"/>
          </a:xfrm>
          <a:prstGeom prst="rect">
            <a:avLst/>
          </a:prstGeom>
          <a:noFill/>
        </p:spPr>
        <p:txBody>
          <a:bodyPr wrap="square" lIns="36000" rIns="36000" tIns="18000" bIns="18000" anchor="ctr">
            <a:spAutoFit/>
          </a:bodyPr>
          <a:lstStyle/>
          <a:p>
            <a:pPr algn="l">
              <a:lnSpc>
                <a:spcPct val="110000"/>
              </a:lnSpc>
            </a:pPr>
            <a:r>
              <a:rPr sz="900" b="1" i="0">
                <a:solidFill>
                  <a:srgbClr val="0F172A"/>
                </a:solidFill>
                <a:latin typeface="Calibri"/>
              </a:rPr>
              <a:t>Frontend</a:t>
            </a:r>
          </a:p>
        </p:txBody>
      </p:sp>
      <p:sp>
        <p:nvSpPr>
          <p:cNvPr id="102" name="Rectangle 101"/>
          <p:cNvSpPr/>
          <p:nvPr/>
        </p:nvSpPr>
        <p:spPr>
          <a:xfrm>
            <a:off x="5074920" y="5824728"/>
            <a:ext cx="6583680" cy="361188"/>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5166360" y="5824728"/>
            <a:ext cx="640080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Hand-rolled in app.py and pages/shared_styles.py — Inter / Plus Jakarta Sans, glassmorphism cards, medical-slate palette.</a:t>
            </a:r>
          </a:p>
        </p:txBody>
      </p:sp>
      <p:sp>
        <p:nvSpPr>
          <p:cNvPr id="104" name="Rectangle 103"/>
          <p:cNvSpPr/>
          <p:nvPr/>
        </p:nvSpPr>
        <p:spPr>
          <a:xfrm>
            <a:off x="502920" y="6185916"/>
            <a:ext cx="219456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594360" y="6185916"/>
            <a:ext cx="2011680" cy="361188"/>
          </a:xfrm>
          <a:prstGeom prst="rect">
            <a:avLst/>
          </a:prstGeom>
          <a:noFill/>
        </p:spPr>
        <p:txBody>
          <a:bodyPr wrap="square" lIns="36000" rIns="36000" tIns="18000" bIns="18000" anchor="ctr">
            <a:spAutoFit/>
          </a:bodyPr>
          <a:lstStyle/>
          <a:p>
            <a:pPr algn="l">
              <a:lnSpc>
                <a:spcPct val="110000"/>
              </a:lnSpc>
            </a:pPr>
            <a:r>
              <a:rPr sz="950" b="1" i="0">
                <a:solidFill>
                  <a:srgbClr val="0F172A"/>
                </a:solidFill>
                <a:latin typeface="Calibri"/>
              </a:rPr>
              <a:t>HTML/JS in components.v1</a:t>
            </a:r>
          </a:p>
        </p:txBody>
      </p:sp>
      <p:sp>
        <p:nvSpPr>
          <p:cNvPr id="106" name="Rectangle 105"/>
          <p:cNvSpPr/>
          <p:nvPr/>
        </p:nvSpPr>
        <p:spPr>
          <a:xfrm>
            <a:off x="2697480" y="6185916"/>
            <a:ext cx="82296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788920" y="6185916"/>
            <a:ext cx="64008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a:t>
            </a:r>
          </a:p>
        </p:txBody>
      </p:sp>
      <p:sp>
        <p:nvSpPr>
          <p:cNvPr id="108" name="Rectangle 107"/>
          <p:cNvSpPr/>
          <p:nvPr/>
        </p:nvSpPr>
        <p:spPr>
          <a:xfrm>
            <a:off x="3520440" y="6185916"/>
            <a:ext cx="155448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3611880" y="6185916"/>
            <a:ext cx="1371600" cy="361188"/>
          </a:xfrm>
          <a:prstGeom prst="rect">
            <a:avLst/>
          </a:prstGeom>
          <a:noFill/>
        </p:spPr>
        <p:txBody>
          <a:bodyPr wrap="square" lIns="36000" rIns="36000" tIns="18000" bIns="18000" anchor="ctr">
            <a:spAutoFit/>
          </a:bodyPr>
          <a:lstStyle/>
          <a:p>
            <a:pPr algn="l">
              <a:lnSpc>
                <a:spcPct val="110000"/>
              </a:lnSpc>
            </a:pPr>
            <a:r>
              <a:rPr sz="900" b="1" i="0">
                <a:solidFill>
                  <a:srgbClr val="0F172A"/>
                </a:solidFill>
                <a:latin typeface="Calibri"/>
              </a:rPr>
              <a:t>Frontend</a:t>
            </a:r>
          </a:p>
        </p:txBody>
      </p:sp>
      <p:sp>
        <p:nvSpPr>
          <p:cNvPr id="110" name="Rectangle 109"/>
          <p:cNvSpPr/>
          <p:nvPr/>
        </p:nvSpPr>
        <p:spPr>
          <a:xfrm>
            <a:off x="5074920" y="6185916"/>
            <a:ext cx="6583680" cy="361188"/>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5166360" y="6185916"/>
            <a:ext cx="6400800" cy="361188"/>
          </a:xfrm>
          <a:prstGeom prst="rect">
            <a:avLst/>
          </a:prstGeom>
          <a:noFill/>
        </p:spPr>
        <p:txBody>
          <a:bodyPr wrap="square" lIns="36000" rIns="36000" tIns="18000" bIns="18000" anchor="ctr">
            <a:spAutoFit/>
          </a:bodyPr>
          <a:lstStyle/>
          <a:p>
            <a:pPr algn="l">
              <a:lnSpc>
                <a:spcPct val="110000"/>
              </a:lnSpc>
            </a:pPr>
            <a:r>
              <a:rPr sz="900" b="0" i="0">
                <a:solidFill>
                  <a:srgbClr val="334E68"/>
                </a:solidFill>
                <a:latin typeface="Calibri"/>
              </a:rPr>
              <a:t>The voice chatbot's mic + STT + TTS widget is built as a self-contained HTML/JS blob rendered via streamlit.components.v1.html().</a:t>
            </a:r>
          </a:p>
        </p:txBody>
      </p:sp>
      <p:sp>
        <p:nvSpPr>
          <p:cNvPr id="112" name="Rectangle 111"/>
          <p:cNvSpPr/>
          <p:nvPr/>
        </p:nvSpPr>
        <p:spPr>
          <a:xfrm>
            <a:off x="0" y="6565392"/>
            <a:ext cx="12191695" cy="29260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365760" y="6601968"/>
            <a:ext cx="8229600" cy="228600"/>
          </a:xfrm>
          <a:prstGeom prst="rect">
            <a:avLst/>
          </a:prstGeom>
          <a:noFill/>
        </p:spPr>
        <p:txBody>
          <a:bodyPr wrap="square" lIns="36000" rIns="36000" tIns="18000" bIns="18000" anchor="t">
            <a:spAutoFit/>
          </a:bodyPr>
          <a:lstStyle/>
          <a:p>
            <a:pPr algn="l">
              <a:lnSpc>
                <a:spcPct val="120000"/>
              </a:lnSpc>
            </a:pPr>
            <a:r>
              <a:rPr sz="900" b="0" i="1">
                <a:solidFill>
                  <a:srgbClr val="64748B"/>
                </a:solidFill>
                <a:latin typeface="Calibri"/>
              </a:rPr>
              <a:t>IPCMS — Integrated Patient Care Management System</a:t>
            </a:r>
          </a:p>
        </p:txBody>
      </p:sp>
      <p:sp>
        <p:nvSpPr>
          <p:cNvPr id="114" name="TextBox 113"/>
          <p:cNvSpPr txBox="1"/>
          <p:nvPr/>
        </p:nvSpPr>
        <p:spPr>
          <a:xfrm>
            <a:off x="10607040" y="6601968"/>
            <a:ext cx="1280160" cy="228600"/>
          </a:xfrm>
          <a:prstGeom prst="rect">
            <a:avLst/>
          </a:prstGeom>
          <a:noFill/>
        </p:spPr>
        <p:txBody>
          <a:bodyPr wrap="square" lIns="36000" rIns="36000" tIns="18000" bIns="18000" anchor="t">
            <a:spAutoFit/>
          </a:bodyPr>
          <a:lstStyle/>
          <a:p>
            <a:pPr algn="r">
              <a:lnSpc>
                <a:spcPct val="120000"/>
              </a:lnSpc>
            </a:pPr>
            <a:r>
              <a:rPr sz="900" b="0" i="0">
                <a:solidFill>
                  <a:srgbClr val="64748B"/>
                </a:solidFill>
                <a:latin typeface="Calibri"/>
              </a:rP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972800" cy="256032"/>
          </a:xfrm>
          <a:prstGeom prst="rect">
            <a:avLst/>
          </a:prstGeom>
          <a:noFill/>
        </p:spPr>
        <p:txBody>
          <a:bodyPr wrap="square" lIns="36000" rIns="36000" tIns="18000" bIns="18000" anchor="t">
            <a:spAutoFit/>
          </a:bodyPr>
          <a:lstStyle/>
          <a:p>
            <a:pPr algn="l">
              <a:lnSpc>
                <a:spcPct val="120000"/>
              </a:lnSpc>
            </a:pPr>
            <a:r>
              <a:rPr sz="1000" b="1" i="0">
                <a:solidFill>
                  <a:srgbClr val="14B8A6"/>
                </a:solidFill>
                <a:latin typeface="Calibri"/>
              </a:rPr>
              <a:t>SECTION 07</a:t>
            </a:r>
          </a:p>
        </p:txBody>
      </p:sp>
      <p:sp>
        <p:nvSpPr>
          <p:cNvPr id="5" name="TextBox 4"/>
          <p:cNvSpPr txBox="1"/>
          <p:nvPr/>
        </p:nvSpPr>
        <p:spPr>
          <a:xfrm>
            <a:off x="713232" y="713232"/>
            <a:ext cx="11155680" cy="502920"/>
          </a:xfrm>
          <a:prstGeom prst="rect">
            <a:avLst/>
          </a:prstGeom>
          <a:noFill/>
        </p:spPr>
        <p:txBody>
          <a:bodyPr wrap="square" lIns="36000" rIns="36000" tIns="18000" bIns="18000" anchor="t">
            <a:spAutoFit/>
          </a:bodyPr>
          <a:lstStyle/>
          <a:p>
            <a:pPr algn="l">
              <a:lnSpc>
                <a:spcPct val="120000"/>
              </a:lnSpc>
            </a:pPr>
            <a:r>
              <a:rPr sz="2600" b="1" i="0">
                <a:solidFill>
                  <a:srgbClr val="0F172A"/>
                </a:solidFill>
                <a:latin typeface="Calibri"/>
              </a:rPr>
              <a:t>Frontend — what the user sees</a:t>
            </a:r>
          </a:p>
        </p:txBody>
      </p:sp>
      <p:sp>
        <p:nvSpPr>
          <p:cNvPr id="6" name="TextBox 5"/>
          <p:cNvSpPr txBox="1"/>
          <p:nvPr/>
        </p:nvSpPr>
        <p:spPr>
          <a:xfrm>
            <a:off x="713232" y="1234440"/>
            <a:ext cx="11155680" cy="365760"/>
          </a:xfrm>
          <a:prstGeom prst="rect">
            <a:avLst/>
          </a:prstGeom>
          <a:noFill/>
        </p:spPr>
        <p:txBody>
          <a:bodyPr wrap="square" lIns="36000" rIns="36000" tIns="18000" bIns="18000" anchor="t">
            <a:spAutoFit/>
          </a:bodyPr>
          <a:lstStyle/>
          <a:p>
            <a:pPr algn="l">
              <a:lnSpc>
                <a:spcPct val="120000"/>
              </a:lnSpc>
            </a:pPr>
            <a:r>
              <a:rPr sz="1200" b="0" i="1">
                <a:solidFill>
                  <a:srgbClr val="64748B"/>
                </a:solidFill>
                <a:latin typeface="Calibri"/>
              </a:rPr>
              <a:t>Streamlit pages, with hand-rolled styling on top.</a:t>
            </a:r>
          </a:p>
        </p:txBody>
      </p:sp>
      <p:cxnSp>
        <p:nvCxnSpPr>
          <p:cNvPr id="7" name="Connector 6"/>
          <p:cNvCxnSpPr/>
          <p:nvPr/>
        </p:nvCxnSpPr>
        <p:spPr>
          <a:xfrm>
            <a:off x="713232" y="1627632"/>
            <a:ext cx="10808208"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1828800"/>
            <a:ext cx="5669280" cy="365760"/>
          </a:xfrm>
          <a:prstGeom prst="rect">
            <a:avLst/>
          </a:prstGeom>
          <a:noFill/>
        </p:spPr>
        <p:txBody>
          <a:bodyPr wrap="square" lIns="36000" rIns="36000" tIns="18000" bIns="18000" anchor="t">
            <a:spAutoFit/>
          </a:bodyPr>
          <a:lstStyle/>
          <a:p>
            <a:pPr algn="l">
              <a:lnSpc>
                <a:spcPct val="120000"/>
              </a:lnSpc>
            </a:pPr>
            <a:r>
              <a:rPr sz="1400" b="1" i="0">
                <a:solidFill>
                  <a:srgbClr val="0E4F8A"/>
                </a:solidFill>
                <a:latin typeface="Calibri"/>
              </a:rPr>
              <a:t>Pages in the app</a:t>
            </a:r>
          </a:p>
        </p:txBody>
      </p:sp>
      <p:sp>
        <p:nvSpPr>
          <p:cNvPr id="9" name="Rounded Rectangle 8"/>
          <p:cNvSpPr/>
          <p:nvPr/>
        </p:nvSpPr>
        <p:spPr>
          <a:xfrm>
            <a:off x="502920" y="2286000"/>
            <a:ext cx="5669280" cy="594360"/>
          </a:xfrm>
          <a:prstGeom prst="roundRect">
            <a:avLst>
              <a:gd name="adj" fmla="val 16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286000"/>
            <a:ext cx="109728" cy="59436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286000"/>
            <a:ext cx="2194560" cy="594360"/>
          </a:xfrm>
          <a:prstGeom prst="rect">
            <a:avLst/>
          </a:prstGeom>
          <a:noFill/>
        </p:spPr>
        <p:txBody>
          <a:bodyPr wrap="square" lIns="36000" rIns="36000" tIns="18000" bIns="18000" anchor="ctr">
            <a:spAutoFit/>
          </a:bodyPr>
          <a:lstStyle/>
          <a:p>
            <a:pPr algn="l">
              <a:lnSpc>
                <a:spcPct val="120000"/>
              </a:lnSpc>
            </a:pPr>
            <a:r>
              <a:rPr sz="1100" b="1" i="0">
                <a:solidFill>
                  <a:srgbClr val="0F172A"/>
                </a:solidFill>
                <a:latin typeface="Calibri"/>
              </a:rPr>
              <a:t>app.py</a:t>
            </a:r>
          </a:p>
        </p:txBody>
      </p:sp>
      <p:sp>
        <p:nvSpPr>
          <p:cNvPr id="12" name="TextBox 11"/>
          <p:cNvSpPr txBox="1"/>
          <p:nvPr/>
        </p:nvSpPr>
        <p:spPr>
          <a:xfrm>
            <a:off x="2971800" y="2286000"/>
            <a:ext cx="3108960" cy="594360"/>
          </a:xfrm>
          <a:prstGeom prst="rect">
            <a:avLst/>
          </a:prstGeom>
          <a:noFill/>
        </p:spPr>
        <p:txBody>
          <a:bodyPr wrap="square" lIns="36000" rIns="36000" tIns="18000" bIns="18000" anchor="ctr">
            <a:spAutoFit/>
          </a:bodyPr>
          <a:lstStyle/>
          <a:p>
            <a:pPr algn="l">
              <a:lnSpc>
                <a:spcPct val="120000"/>
              </a:lnSpc>
            </a:pPr>
            <a:r>
              <a:rPr sz="1000" b="0" i="1">
                <a:solidFill>
                  <a:srgbClr val="64748B"/>
                </a:solidFill>
                <a:latin typeface="Calibri"/>
              </a:rPr>
              <a:t>Public landing — login, signup, Google OAuth, public chatbot.</a:t>
            </a:r>
          </a:p>
        </p:txBody>
      </p:sp>
      <p:sp>
        <p:nvSpPr>
          <p:cNvPr id="13" name="Rounded Rectangle 12"/>
          <p:cNvSpPr/>
          <p:nvPr/>
        </p:nvSpPr>
        <p:spPr>
          <a:xfrm>
            <a:off x="502920" y="2944368"/>
            <a:ext cx="5669280" cy="594360"/>
          </a:xfrm>
          <a:prstGeom prst="roundRect">
            <a:avLst>
              <a:gd name="adj" fmla="val 16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2944368"/>
            <a:ext cx="109728" cy="59436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944368"/>
            <a:ext cx="2194560" cy="594360"/>
          </a:xfrm>
          <a:prstGeom prst="rect">
            <a:avLst/>
          </a:prstGeom>
          <a:noFill/>
        </p:spPr>
        <p:txBody>
          <a:bodyPr wrap="square" lIns="36000" rIns="36000" tIns="18000" bIns="18000" anchor="ctr">
            <a:spAutoFit/>
          </a:bodyPr>
          <a:lstStyle/>
          <a:p>
            <a:pPr algn="l">
              <a:lnSpc>
                <a:spcPct val="120000"/>
              </a:lnSpc>
            </a:pPr>
            <a:r>
              <a:rPr sz="1100" b="1" i="0">
                <a:solidFill>
                  <a:srgbClr val="0F172A"/>
                </a:solidFill>
                <a:latin typeface="Calibri"/>
              </a:rPr>
              <a:t>auth.py</a:t>
            </a:r>
          </a:p>
        </p:txBody>
      </p:sp>
      <p:sp>
        <p:nvSpPr>
          <p:cNvPr id="16" name="TextBox 15"/>
          <p:cNvSpPr txBox="1"/>
          <p:nvPr/>
        </p:nvSpPr>
        <p:spPr>
          <a:xfrm>
            <a:off x="2971800" y="2944368"/>
            <a:ext cx="3108960" cy="594360"/>
          </a:xfrm>
          <a:prstGeom prst="rect">
            <a:avLst/>
          </a:prstGeom>
          <a:noFill/>
        </p:spPr>
        <p:txBody>
          <a:bodyPr wrap="square" lIns="36000" rIns="36000" tIns="18000" bIns="18000" anchor="ctr">
            <a:spAutoFit/>
          </a:bodyPr>
          <a:lstStyle/>
          <a:p>
            <a:pPr algn="l">
              <a:lnSpc>
                <a:spcPct val="120000"/>
              </a:lnSpc>
            </a:pPr>
            <a:r>
              <a:rPr sz="1000" b="0" i="1">
                <a:solidFill>
                  <a:srgbClr val="64748B"/>
                </a:solidFill>
                <a:latin typeface="Calibri"/>
              </a:rPr>
              <a:t>Hashing, seed users, OAuth handlers.</a:t>
            </a:r>
          </a:p>
        </p:txBody>
      </p:sp>
      <p:sp>
        <p:nvSpPr>
          <p:cNvPr id="17" name="Rounded Rectangle 16"/>
          <p:cNvSpPr/>
          <p:nvPr/>
        </p:nvSpPr>
        <p:spPr>
          <a:xfrm>
            <a:off x="502920" y="3602736"/>
            <a:ext cx="5669280" cy="594360"/>
          </a:xfrm>
          <a:prstGeom prst="roundRect">
            <a:avLst>
              <a:gd name="adj" fmla="val 16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3602736"/>
            <a:ext cx="109728" cy="59436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602736"/>
            <a:ext cx="2194560" cy="594360"/>
          </a:xfrm>
          <a:prstGeom prst="rect">
            <a:avLst/>
          </a:prstGeom>
          <a:noFill/>
        </p:spPr>
        <p:txBody>
          <a:bodyPr wrap="square" lIns="36000" rIns="36000" tIns="18000" bIns="18000" anchor="ctr">
            <a:spAutoFit/>
          </a:bodyPr>
          <a:lstStyle/>
          <a:p>
            <a:pPr algn="l">
              <a:lnSpc>
                <a:spcPct val="120000"/>
              </a:lnSpc>
            </a:pPr>
            <a:r>
              <a:rPr sz="1100" b="1" i="0">
                <a:solidFill>
                  <a:srgbClr val="0F172A"/>
                </a:solidFill>
                <a:latin typeface="Calibri"/>
              </a:rPr>
              <a:t>pages/patient_dashboard.py</a:t>
            </a:r>
          </a:p>
        </p:txBody>
      </p:sp>
      <p:sp>
        <p:nvSpPr>
          <p:cNvPr id="20" name="TextBox 19"/>
          <p:cNvSpPr txBox="1"/>
          <p:nvPr/>
        </p:nvSpPr>
        <p:spPr>
          <a:xfrm>
            <a:off x="2971800" y="3602736"/>
            <a:ext cx="3108960" cy="594360"/>
          </a:xfrm>
          <a:prstGeom prst="rect">
            <a:avLst/>
          </a:prstGeom>
          <a:noFill/>
        </p:spPr>
        <p:txBody>
          <a:bodyPr wrap="square" lIns="36000" rIns="36000" tIns="18000" bIns="18000" anchor="ctr">
            <a:spAutoFit/>
          </a:bodyPr>
          <a:lstStyle/>
          <a:p>
            <a:pPr algn="l">
              <a:lnSpc>
                <a:spcPct val="120000"/>
              </a:lnSpc>
            </a:pPr>
            <a:r>
              <a:rPr sz="1000" b="0" i="1">
                <a:solidFill>
                  <a:srgbClr val="64748B"/>
                </a:solidFill>
                <a:latin typeface="Calibri"/>
              </a:rPr>
              <a:t>Patient UI — history, booking, AI.</a:t>
            </a:r>
          </a:p>
        </p:txBody>
      </p:sp>
      <p:sp>
        <p:nvSpPr>
          <p:cNvPr id="21" name="Rounded Rectangle 20"/>
          <p:cNvSpPr/>
          <p:nvPr/>
        </p:nvSpPr>
        <p:spPr>
          <a:xfrm>
            <a:off x="502920" y="4261104"/>
            <a:ext cx="5669280" cy="594360"/>
          </a:xfrm>
          <a:prstGeom prst="roundRect">
            <a:avLst>
              <a:gd name="adj" fmla="val 16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4261104"/>
            <a:ext cx="109728" cy="59436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261104"/>
            <a:ext cx="2194560" cy="594360"/>
          </a:xfrm>
          <a:prstGeom prst="rect">
            <a:avLst/>
          </a:prstGeom>
          <a:noFill/>
        </p:spPr>
        <p:txBody>
          <a:bodyPr wrap="square" lIns="36000" rIns="36000" tIns="18000" bIns="18000" anchor="ctr">
            <a:spAutoFit/>
          </a:bodyPr>
          <a:lstStyle/>
          <a:p>
            <a:pPr algn="l">
              <a:lnSpc>
                <a:spcPct val="120000"/>
              </a:lnSpc>
            </a:pPr>
            <a:r>
              <a:rPr sz="1100" b="1" i="0">
                <a:solidFill>
                  <a:srgbClr val="0F172A"/>
                </a:solidFill>
                <a:latin typeface="Calibri"/>
              </a:rPr>
              <a:t>pages/doctor_dashboard.py</a:t>
            </a:r>
          </a:p>
        </p:txBody>
      </p:sp>
      <p:sp>
        <p:nvSpPr>
          <p:cNvPr id="24" name="TextBox 23"/>
          <p:cNvSpPr txBox="1"/>
          <p:nvPr/>
        </p:nvSpPr>
        <p:spPr>
          <a:xfrm>
            <a:off x="2971800" y="4261104"/>
            <a:ext cx="3108960" cy="594360"/>
          </a:xfrm>
          <a:prstGeom prst="rect">
            <a:avLst/>
          </a:prstGeom>
          <a:noFill/>
        </p:spPr>
        <p:txBody>
          <a:bodyPr wrap="square" lIns="36000" rIns="36000" tIns="18000" bIns="18000" anchor="ctr">
            <a:spAutoFit/>
          </a:bodyPr>
          <a:lstStyle/>
          <a:p>
            <a:pPr algn="l">
              <a:lnSpc>
                <a:spcPct val="120000"/>
              </a:lnSpc>
            </a:pPr>
            <a:r>
              <a:rPr sz="1000" b="0" i="1">
                <a:solidFill>
                  <a:srgbClr val="64748B"/>
                </a:solidFill>
                <a:latin typeface="Calibri"/>
              </a:rPr>
              <a:t>Doctor UI — schedule, notes, AI.</a:t>
            </a:r>
          </a:p>
        </p:txBody>
      </p:sp>
      <p:sp>
        <p:nvSpPr>
          <p:cNvPr id="25" name="Rounded Rectangle 24"/>
          <p:cNvSpPr/>
          <p:nvPr/>
        </p:nvSpPr>
        <p:spPr>
          <a:xfrm>
            <a:off x="502920" y="4919472"/>
            <a:ext cx="5669280" cy="594360"/>
          </a:xfrm>
          <a:prstGeom prst="roundRect">
            <a:avLst>
              <a:gd name="adj" fmla="val 16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919472"/>
            <a:ext cx="109728" cy="59436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919472"/>
            <a:ext cx="2194560" cy="594360"/>
          </a:xfrm>
          <a:prstGeom prst="rect">
            <a:avLst/>
          </a:prstGeom>
          <a:noFill/>
        </p:spPr>
        <p:txBody>
          <a:bodyPr wrap="square" lIns="36000" rIns="36000" tIns="18000" bIns="18000" anchor="ctr">
            <a:spAutoFit/>
          </a:bodyPr>
          <a:lstStyle/>
          <a:p>
            <a:pPr algn="l">
              <a:lnSpc>
                <a:spcPct val="120000"/>
              </a:lnSpc>
            </a:pPr>
            <a:r>
              <a:rPr sz="1100" b="1" i="0">
                <a:solidFill>
                  <a:srgbClr val="0F172A"/>
                </a:solidFill>
                <a:latin typeface="Calibri"/>
              </a:rPr>
              <a:t>pages/admin_dashboard.py</a:t>
            </a:r>
          </a:p>
        </p:txBody>
      </p:sp>
      <p:sp>
        <p:nvSpPr>
          <p:cNvPr id="28" name="TextBox 27"/>
          <p:cNvSpPr txBox="1"/>
          <p:nvPr/>
        </p:nvSpPr>
        <p:spPr>
          <a:xfrm>
            <a:off x="2971800" y="4919472"/>
            <a:ext cx="3108960" cy="594360"/>
          </a:xfrm>
          <a:prstGeom prst="rect">
            <a:avLst/>
          </a:prstGeom>
          <a:noFill/>
        </p:spPr>
        <p:txBody>
          <a:bodyPr wrap="square" lIns="36000" rIns="36000" tIns="18000" bIns="18000" anchor="ctr">
            <a:spAutoFit/>
          </a:bodyPr>
          <a:lstStyle/>
          <a:p>
            <a:pPr algn="l">
              <a:lnSpc>
                <a:spcPct val="120000"/>
              </a:lnSpc>
            </a:pPr>
            <a:r>
              <a:rPr sz="1000" b="0" i="1">
                <a:solidFill>
                  <a:srgbClr val="64748B"/>
                </a:solidFill>
                <a:latin typeface="Calibri"/>
              </a:rPr>
              <a:t>Admin UI — onboard, analytics, reset.</a:t>
            </a:r>
          </a:p>
        </p:txBody>
      </p:sp>
      <p:sp>
        <p:nvSpPr>
          <p:cNvPr id="29" name="Rounded Rectangle 28"/>
          <p:cNvSpPr/>
          <p:nvPr/>
        </p:nvSpPr>
        <p:spPr>
          <a:xfrm>
            <a:off x="502920" y="5577840"/>
            <a:ext cx="5669280" cy="594360"/>
          </a:xfrm>
          <a:prstGeom prst="roundRect">
            <a:avLst>
              <a:gd name="adj" fmla="val 16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2920" y="5577840"/>
            <a:ext cx="109728" cy="59436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577840"/>
            <a:ext cx="2194560" cy="594360"/>
          </a:xfrm>
          <a:prstGeom prst="rect">
            <a:avLst/>
          </a:prstGeom>
          <a:noFill/>
        </p:spPr>
        <p:txBody>
          <a:bodyPr wrap="square" lIns="36000" rIns="36000" tIns="18000" bIns="18000" anchor="ctr">
            <a:spAutoFit/>
          </a:bodyPr>
          <a:lstStyle/>
          <a:p>
            <a:pPr algn="l">
              <a:lnSpc>
                <a:spcPct val="120000"/>
              </a:lnSpc>
            </a:pPr>
            <a:r>
              <a:rPr sz="1100" b="1" i="0">
                <a:solidFill>
                  <a:srgbClr val="0F172A"/>
                </a:solidFill>
                <a:latin typeface="Calibri"/>
              </a:rPr>
              <a:t>pages/shared_styles.py</a:t>
            </a:r>
          </a:p>
        </p:txBody>
      </p:sp>
      <p:sp>
        <p:nvSpPr>
          <p:cNvPr id="32" name="TextBox 31"/>
          <p:cNvSpPr txBox="1"/>
          <p:nvPr/>
        </p:nvSpPr>
        <p:spPr>
          <a:xfrm>
            <a:off x="2971800" y="5577840"/>
            <a:ext cx="3108960" cy="594360"/>
          </a:xfrm>
          <a:prstGeom prst="rect">
            <a:avLst/>
          </a:prstGeom>
          <a:noFill/>
        </p:spPr>
        <p:txBody>
          <a:bodyPr wrap="square" lIns="36000" rIns="36000" tIns="18000" bIns="18000" anchor="ctr">
            <a:spAutoFit/>
          </a:bodyPr>
          <a:lstStyle/>
          <a:p>
            <a:pPr algn="l">
              <a:lnSpc>
                <a:spcPct val="120000"/>
              </a:lnSpc>
            </a:pPr>
            <a:r>
              <a:rPr sz="1000" b="0" i="1">
                <a:solidFill>
                  <a:srgbClr val="64748B"/>
                </a:solidFill>
                <a:latin typeface="Calibri"/>
              </a:rPr>
              <a:t>Common CSS + theme tokens.</a:t>
            </a:r>
          </a:p>
        </p:txBody>
      </p:sp>
      <p:sp>
        <p:nvSpPr>
          <p:cNvPr id="33" name="TextBox 32"/>
          <p:cNvSpPr txBox="1"/>
          <p:nvPr/>
        </p:nvSpPr>
        <p:spPr>
          <a:xfrm>
            <a:off x="6400800" y="1828800"/>
            <a:ext cx="5394960" cy="365760"/>
          </a:xfrm>
          <a:prstGeom prst="rect">
            <a:avLst/>
          </a:prstGeom>
          <a:noFill/>
        </p:spPr>
        <p:txBody>
          <a:bodyPr wrap="square" lIns="36000" rIns="36000" tIns="18000" bIns="18000" anchor="t">
            <a:spAutoFit/>
          </a:bodyPr>
          <a:lstStyle/>
          <a:p>
            <a:pPr algn="l">
              <a:lnSpc>
                <a:spcPct val="120000"/>
              </a:lnSpc>
            </a:pPr>
            <a:r>
              <a:rPr sz="1400" b="1" i="0">
                <a:solidFill>
                  <a:srgbClr val="0E4F8A"/>
                </a:solidFill>
                <a:latin typeface="Calibri"/>
              </a:rPr>
              <a:t>Design system (hand-rolled, in CSS)</a:t>
            </a:r>
          </a:p>
        </p:txBody>
      </p:sp>
      <p:sp>
        <p:nvSpPr>
          <p:cNvPr id="34" name="Rounded Rectangle 33"/>
          <p:cNvSpPr/>
          <p:nvPr/>
        </p:nvSpPr>
        <p:spPr>
          <a:xfrm>
            <a:off x="6400800" y="2286000"/>
            <a:ext cx="5394960" cy="594360"/>
          </a:xfrm>
          <a:prstGeom prst="roundRect">
            <a:avLst>
              <a:gd name="adj" fmla="val 16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0" y="2286000"/>
            <a:ext cx="1463040" cy="594360"/>
          </a:xfrm>
          <a:prstGeom prst="rect">
            <a:avLst/>
          </a:prstGeom>
          <a:noFill/>
        </p:spPr>
        <p:txBody>
          <a:bodyPr wrap="square" lIns="36000" rIns="36000" tIns="18000" bIns="18000" anchor="ctr">
            <a:spAutoFit/>
          </a:bodyPr>
          <a:lstStyle/>
          <a:p>
            <a:pPr algn="l">
              <a:lnSpc>
                <a:spcPct val="120000"/>
              </a:lnSpc>
            </a:pPr>
            <a:r>
              <a:rPr sz="1100" b="1" i="0">
                <a:solidFill>
                  <a:srgbClr val="0E4F8A"/>
                </a:solidFill>
                <a:latin typeface="Calibri"/>
              </a:rPr>
              <a:t>Theme</a:t>
            </a:r>
          </a:p>
        </p:txBody>
      </p:sp>
      <p:sp>
        <p:nvSpPr>
          <p:cNvPr id="36" name="TextBox 35"/>
          <p:cNvSpPr txBox="1"/>
          <p:nvPr/>
        </p:nvSpPr>
        <p:spPr>
          <a:xfrm>
            <a:off x="8092440" y="2286000"/>
            <a:ext cx="3611880" cy="594360"/>
          </a:xfrm>
          <a:prstGeom prst="rect">
            <a:avLst/>
          </a:prstGeom>
          <a:noFill/>
        </p:spPr>
        <p:txBody>
          <a:bodyPr wrap="square" lIns="36000" rIns="36000" tIns="18000" bIns="18000" anchor="ctr">
            <a:spAutoFit/>
          </a:bodyPr>
          <a:lstStyle/>
          <a:p>
            <a:pPr algn="l">
              <a:lnSpc>
                <a:spcPct val="120000"/>
              </a:lnSpc>
            </a:pPr>
            <a:r>
              <a:rPr sz="1000" b="0" i="0">
                <a:solidFill>
                  <a:srgbClr val="334E68"/>
                </a:solidFill>
                <a:latin typeface="Calibri"/>
              </a:rPr>
              <a:t>Medical white + glassmorphism overlays.</a:t>
            </a:r>
          </a:p>
        </p:txBody>
      </p:sp>
      <p:sp>
        <p:nvSpPr>
          <p:cNvPr id="37" name="Rounded Rectangle 36"/>
          <p:cNvSpPr/>
          <p:nvPr/>
        </p:nvSpPr>
        <p:spPr>
          <a:xfrm>
            <a:off x="6400800" y="2944368"/>
            <a:ext cx="5394960" cy="594360"/>
          </a:xfrm>
          <a:prstGeom prst="roundRect">
            <a:avLst>
              <a:gd name="adj" fmla="val 16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0" y="2944368"/>
            <a:ext cx="1463040" cy="594360"/>
          </a:xfrm>
          <a:prstGeom prst="rect">
            <a:avLst/>
          </a:prstGeom>
          <a:noFill/>
        </p:spPr>
        <p:txBody>
          <a:bodyPr wrap="square" lIns="36000" rIns="36000" tIns="18000" bIns="18000" anchor="ctr">
            <a:spAutoFit/>
          </a:bodyPr>
          <a:lstStyle/>
          <a:p>
            <a:pPr algn="l">
              <a:lnSpc>
                <a:spcPct val="120000"/>
              </a:lnSpc>
            </a:pPr>
            <a:r>
              <a:rPr sz="1100" b="1" i="0">
                <a:solidFill>
                  <a:srgbClr val="0E4F8A"/>
                </a:solidFill>
                <a:latin typeface="Calibri"/>
              </a:rPr>
              <a:t>Typography</a:t>
            </a:r>
          </a:p>
        </p:txBody>
      </p:sp>
      <p:sp>
        <p:nvSpPr>
          <p:cNvPr id="39" name="TextBox 38"/>
          <p:cNvSpPr txBox="1"/>
          <p:nvPr/>
        </p:nvSpPr>
        <p:spPr>
          <a:xfrm>
            <a:off x="8092440" y="2944368"/>
            <a:ext cx="3611880" cy="594360"/>
          </a:xfrm>
          <a:prstGeom prst="rect">
            <a:avLst/>
          </a:prstGeom>
          <a:noFill/>
        </p:spPr>
        <p:txBody>
          <a:bodyPr wrap="square" lIns="36000" rIns="36000" tIns="18000" bIns="18000" anchor="ctr">
            <a:spAutoFit/>
          </a:bodyPr>
          <a:lstStyle/>
          <a:p>
            <a:pPr algn="l">
              <a:lnSpc>
                <a:spcPct val="120000"/>
              </a:lnSpc>
            </a:pPr>
            <a:r>
              <a:rPr sz="1000" b="0" i="0">
                <a:solidFill>
                  <a:srgbClr val="334E68"/>
                </a:solidFill>
                <a:latin typeface="Calibri"/>
              </a:rPr>
              <a:t>Inter + Plus Jakarta Sans via Google Fonts.</a:t>
            </a:r>
          </a:p>
        </p:txBody>
      </p:sp>
      <p:sp>
        <p:nvSpPr>
          <p:cNvPr id="40" name="Rounded Rectangle 39"/>
          <p:cNvSpPr/>
          <p:nvPr/>
        </p:nvSpPr>
        <p:spPr>
          <a:xfrm>
            <a:off x="6400800" y="3602736"/>
            <a:ext cx="5394960" cy="594360"/>
          </a:xfrm>
          <a:prstGeom prst="roundRect">
            <a:avLst>
              <a:gd name="adj" fmla="val 16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0" y="3602736"/>
            <a:ext cx="1463040" cy="594360"/>
          </a:xfrm>
          <a:prstGeom prst="rect">
            <a:avLst/>
          </a:prstGeom>
          <a:noFill/>
        </p:spPr>
        <p:txBody>
          <a:bodyPr wrap="square" lIns="36000" rIns="36000" tIns="18000" bIns="18000" anchor="ctr">
            <a:spAutoFit/>
          </a:bodyPr>
          <a:lstStyle/>
          <a:p>
            <a:pPr algn="l">
              <a:lnSpc>
                <a:spcPct val="120000"/>
              </a:lnSpc>
            </a:pPr>
            <a:r>
              <a:rPr sz="1100" b="1" i="0">
                <a:solidFill>
                  <a:srgbClr val="0E4F8A"/>
                </a:solidFill>
                <a:latin typeface="Calibri"/>
              </a:rPr>
              <a:t>Palette</a:t>
            </a:r>
          </a:p>
        </p:txBody>
      </p:sp>
      <p:sp>
        <p:nvSpPr>
          <p:cNvPr id="42" name="TextBox 41"/>
          <p:cNvSpPr txBox="1"/>
          <p:nvPr/>
        </p:nvSpPr>
        <p:spPr>
          <a:xfrm>
            <a:off x="8092440" y="3602736"/>
            <a:ext cx="3611880" cy="594360"/>
          </a:xfrm>
          <a:prstGeom prst="rect">
            <a:avLst/>
          </a:prstGeom>
          <a:noFill/>
        </p:spPr>
        <p:txBody>
          <a:bodyPr wrap="square" lIns="36000" rIns="36000" tIns="18000" bIns="18000" anchor="ctr">
            <a:spAutoFit/>
          </a:bodyPr>
          <a:lstStyle/>
          <a:p>
            <a:pPr algn="l">
              <a:lnSpc>
                <a:spcPct val="120000"/>
              </a:lnSpc>
            </a:pPr>
            <a:r>
              <a:rPr sz="1000" b="0" i="0">
                <a:solidFill>
                  <a:srgbClr val="334E68"/>
                </a:solidFill>
                <a:latin typeface="Calibri"/>
              </a:rPr>
              <a:t>Slate text, sky/teal accents, soft slate backgrounds.</a:t>
            </a:r>
          </a:p>
        </p:txBody>
      </p:sp>
      <p:sp>
        <p:nvSpPr>
          <p:cNvPr id="43" name="Rounded Rectangle 42"/>
          <p:cNvSpPr/>
          <p:nvPr/>
        </p:nvSpPr>
        <p:spPr>
          <a:xfrm>
            <a:off x="6400800" y="4261104"/>
            <a:ext cx="5394960" cy="594360"/>
          </a:xfrm>
          <a:prstGeom prst="roundRect">
            <a:avLst>
              <a:gd name="adj" fmla="val 16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83680" y="4261104"/>
            <a:ext cx="1463040" cy="594360"/>
          </a:xfrm>
          <a:prstGeom prst="rect">
            <a:avLst/>
          </a:prstGeom>
          <a:noFill/>
        </p:spPr>
        <p:txBody>
          <a:bodyPr wrap="square" lIns="36000" rIns="36000" tIns="18000" bIns="18000" anchor="ctr">
            <a:spAutoFit/>
          </a:bodyPr>
          <a:lstStyle/>
          <a:p>
            <a:pPr algn="l">
              <a:lnSpc>
                <a:spcPct val="120000"/>
              </a:lnSpc>
            </a:pPr>
            <a:r>
              <a:rPr sz="1100" b="1" i="0">
                <a:solidFill>
                  <a:srgbClr val="0E4F8A"/>
                </a:solidFill>
                <a:latin typeface="Calibri"/>
              </a:rPr>
              <a:t>Backgrounds</a:t>
            </a:r>
          </a:p>
        </p:txBody>
      </p:sp>
      <p:sp>
        <p:nvSpPr>
          <p:cNvPr id="45" name="TextBox 44"/>
          <p:cNvSpPr txBox="1"/>
          <p:nvPr/>
        </p:nvSpPr>
        <p:spPr>
          <a:xfrm>
            <a:off x="8092440" y="4261104"/>
            <a:ext cx="3611880" cy="594360"/>
          </a:xfrm>
          <a:prstGeom prst="rect">
            <a:avLst/>
          </a:prstGeom>
          <a:noFill/>
        </p:spPr>
        <p:txBody>
          <a:bodyPr wrap="square" lIns="36000" rIns="36000" tIns="18000" bIns="18000" anchor="ctr">
            <a:spAutoFit/>
          </a:bodyPr>
          <a:lstStyle/>
          <a:p>
            <a:pPr algn="l">
              <a:lnSpc>
                <a:spcPct val="120000"/>
              </a:lnSpc>
            </a:pPr>
            <a:r>
              <a:rPr sz="1000" b="0" i="0">
                <a:solidFill>
                  <a:srgbClr val="334E68"/>
                </a:solidFill>
                <a:latin typeface="Calibri"/>
              </a:rPr>
              <a:t>Base64-encoded image + soft overlay per page.</a:t>
            </a:r>
          </a:p>
        </p:txBody>
      </p:sp>
      <p:sp>
        <p:nvSpPr>
          <p:cNvPr id="46" name="Rounded Rectangle 45"/>
          <p:cNvSpPr/>
          <p:nvPr/>
        </p:nvSpPr>
        <p:spPr>
          <a:xfrm>
            <a:off x="6400800" y="4919472"/>
            <a:ext cx="5394960" cy="594360"/>
          </a:xfrm>
          <a:prstGeom prst="roundRect">
            <a:avLst>
              <a:gd name="adj" fmla="val 16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83680" y="4919472"/>
            <a:ext cx="1463040" cy="594360"/>
          </a:xfrm>
          <a:prstGeom prst="rect">
            <a:avLst/>
          </a:prstGeom>
          <a:noFill/>
        </p:spPr>
        <p:txBody>
          <a:bodyPr wrap="square" lIns="36000" rIns="36000" tIns="18000" bIns="18000" anchor="ctr">
            <a:spAutoFit/>
          </a:bodyPr>
          <a:lstStyle/>
          <a:p>
            <a:pPr algn="l">
              <a:lnSpc>
                <a:spcPct val="120000"/>
              </a:lnSpc>
            </a:pPr>
            <a:r>
              <a:rPr sz="1100" b="1" i="0">
                <a:solidFill>
                  <a:srgbClr val="0E4F8A"/>
                </a:solidFill>
                <a:latin typeface="Calibri"/>
              </a:rPr>
              <a:t>Components</a:t>
            </a:r>
          </a:p>
        </p:txBody>
      </p:sp>
      <p:sp>
        <p:nvSpPr>
          <p:cNvPr id="48" name="TextBox 47"/>
          <p:cNvSpPr txBox="1"/>
          <p:nvPr/>
        </p:nvSpPr>
        <p:spPr>
          <a:xfrm>
            <a:off x="8092440" y="4919472"/>
            <a:ext cx="3611880" cy="594360"/>
          </a:xfrm>
          <a:prstGeom prst="rect">
            <a:avLst/>
          </a:prstGeom>
          <a:noFill/>
        </p:spPr>
        <p:txBody>
          <a:bodyPr wrap="square" lIns="36000" rIns="36000" tIns="18000" bIns="18000" anchor="ctr">
            <a:spAutoFit/>
          </a:bodyPr>
          <a:lstStyle/>
          <a:p>
            <a:pPr algn="l">
              <a:lnSpc>
                <a:spcPct val="120000"/>
              </a:lnSpc>
            </a:pPr>
            <a:r>
              <a:rPr sz="1000" b="0" i="0">
                <a:solidFill>
                  <a:srgbClr val="334E68"/>
                </a:solidFill>
                <a:latin typeface="Calibri"/>
              </a:rPr>
              <a:t>Cards, chips, pill buttons, sticky header, floating voice button.</a:t>
            </a:r>
          </a:p>
        </p:txBody>
      </p:sp>
      <p:sp>
        <p:nvSpPr>
          <p:cNvPr id="49" name="Rounded Rectangle 48"/>
          <p:cNvSpPr/>
          <p:nvPr/>
        </p:nvSpPr>
        <p:spPr>
          <a:xfrm>
            <a:off x="6400800" y="5577840"/>
            <a:ext cx="5394960" cy="594360"/>
          </a:xfrm>
          <a:prstGeom prst="roundRect">
            <a:avLst>
              <a:gd name="adj" fmla="val 16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583680" y="5577840"/>
            <a:ext cx="1463040" cy="594360"/>
          </a:xfrm>
          <a:prstGeom prst="rect">
            <a:avLst/>
          </a:prstGeom>
          <a:noFill/>
        </p:spPr>
        <p:txBody>
          <a:bodyPr wrap="square" lIns="36000" rIns="36000" tIns="18000" bIns="18000" anchor="ctr">
            <a:spAutoFit/>
          </a:bodyPr>
          <a:lstStyle/>
          <a:p>
            <a:pPr algn="l">
              <a:lnSpc>
                <a:spcPct val="120000"/>
              </a:lnSpc>
            </a:pPr>
            <a:r>
              <a:rPr sz="1100" b="1" i="0">
                <a:solidFill>
                  <a:srgbClr val="0E4F8A"/>
                </a:solidFill>
                <a:latin typeface="Calibri"/>
              </a:rPr>
              <a:t>Responsive</a:t>
            </a:r>
          </a:p>
        </p:txBody>
      </p:sp>
      <p:sp>
        <p:nvSpPr>
          <p:cNvPr id="51" name="TextBox 50"/>
          <p:cNvSpPr txBox="1"/>
          <p:nvPr/>
        </p:nvSpPr>
        <p:spPr>
          <a:xfrm>
            <a:off x="8092440" y="5577840"/>
            <a:ext cx="3611880" cy="594360"/>
          </a:xfrm>
          <a:prstGeom prst="rect">
            <a:avLst/>
          </a:prstGeom>
          <a:noFill/>
        </p:spPr>
        <p:txBody>
          <a:bodyPr wrap="square" lIns="36000" rIns="36000" tIns="18000" bIns="18000" anchor="ctr">
            <a:spAutoFit/>
          </a:bodyPr>
          <a:lstStyle/>
          <a:p>
            <a:pPr algn="l">
              <a:lnSpc>
                <a:spcPct val="120000"/>
              </a:lnSpc>
            </a:pPr>
            <a:r>
              <a:rPr sz="1000" b="0" i="0">
                <a:solidFill>
                  <a:srgbClr val="334E68"/>
                </a:solidFill>
                <a:latin typeface="Calibri"/>
              </a:rPr>
              <a:t>Wide layout by default; cards collapse on narrow.</a:t>
            </a:r>
          </a:p>
        </p:txBody>
      </p:sp>
      <p:sp>
        <p:nvSpPr>
          <p:cNvPr id="52" name="Rectangle 51"/>
          <p:cNvSpPr/>
          <p:nvPr/>
        </p:nvSpPr>
        <p:spPr>
          <a:xfrm>
            <a:off x="0" y="6565392"/>
            <a:ext cx="12191695" cy="29260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65760" y="6601968"/>
            <a:ext cx="8229600" cy="228600"/>
          </a:xfrm>
          <a:prstGeom prst="rect">
            <a:avLst/>
          </a:prstGeom>
          <a:noFill/>
        </p:spPr>
        <p:txBody>
          <a:bodyPr wrap="square" lIns="36000" rIns="36000" tIns="18000" bIns="18000" anchor="t">
            <a:spAutoFit/>
          </a:bodyPr>
          <a:lstStyle/>
          <a:p>
            <a:pPr algn="l">
              <a:lnSpc>
                <a:spcPct val="120000"/>
              </a:lnSpc>
            </a:pPr>
            <a:r>
              <a:rPr sz="900" b="0" i="1">
                <a:solidFill>
                  <a:srgbClr val="64748B"/>
                </a:solidFill>
                <a:latin typeface="Calibri"/>
              </a:rPr>
              <a:t>IPCMS — Integrated Patient Care Management System</a:t>
            </a:r>
          </a:p>
        </p:txBody>
      </p:sp>
      <p:sp>
        <p:nvSpPr>
          <p:cNvPr id="54" name="TextBox 53"/>
          <p:cNvSpPr txBox="1"/>
          <p:nvPr/>
        </p:nvSpPr>
        <p:spPr>
          <a:xfrm>
            <a:off x="10607040" y="6601968"/>
            <a:ext cx="1280160" cy="228600"/>
          </a:xfrm>
          <a:prstGeom prst="rect">
            <a:avLst/>
          </a:prstGeom>
          <a:noFill/>
        </p:spPr>
        <p:txBody>
          <a:bodyPr wrap="square" lIns="36000" rIns="36000" tIns="18000" bIns="18000" anchor="t">
            <a:spAutoFit/>
          </a:bodyPr>
          <a:lstStyle/>
          <a:p>
            <a:pPr algn="r">
              <a:lnSpc>
                <a:spcPct val="120000"/>
              </a:lnSpc>
            </a:pPr>
            <a:r>
              <a:rPr sz="900" b="0" i="0">
                <a:solidFill>
                  <a:srgbClr val="64748B"/>
                </a:solidFill>
                <a:latin typeface="Calibri"/>
              </a:rP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972800" cy="256032"/>
          </a:xfrm>
          <a:prstGeom prst="rect">
            <a:avLst/>
          </a:prstGeom>
          <a:noFill/>
        </p:spPr>
        <p:txBody>
          <a:bodyPr wrap="square" lIns="36000" rIns="36000" tIns="18000" bIns="18000" anchor="t">
            <a:spAutoFit/>
          </a:bodyPr>
          <a:lstStyle/>
          <a:p>
            <a:pPr algn="l">
              <a:lnSpc>
                <a:spcPct val="120000"/>
              </a:lnSpc>
            </a:pPr>
            <a:r>
              <a:rPr sz="1000" b="1" i="0">
                <a:solidFill>
                  <a:srgbClr val="14B8A6"/>
                </a:solidFill>
                <a:latin typeface="Calibri"/>
              </a:rPr>
              <a:t>SECTION 08</a:t>
            </a:r>
          </a:p>
        </p:txBody>
      </p:sp>
      <p:sp>
        <p:nvSpPr>
          <p:cNvPr id="5" name="TextBox 4"/>
          <p:cNvSpPr txBox="1"/>
          <p:nvPr/>
        </p:nvSpPr>
        <p:spPr>
          <a:xfrm>
            <a:off x="713232" y="713232"/>
            <a:ext cx="11155680" cy="502920"/>
          </a:xfrm>
          <a:prstGeom prst="rect">
            <a:avLst/>
          </a:prstGeom>
          <a:noFill/>
        </p:spPr>
        <p:txBody>
          <a:bodyPr wrap="square" lIns="36000" rIns="36000" tIns="18000" bIns="18000" anchor="t">
            <a:spAutoFit/>
          </a:bodyPr>
          <a:lstStyle/>
          <a:p>
            <a:pPr algn="l">
              <a:lnSpc>
                <a:spcPct val="120000"/>
              </a:lnSpc>
            </a:pPr>
            <a:r>
              <a:rPr sz="2600" b="1" i="0">
                <a:solidFill>
                  <a:srgbClr val="0F172A"/>
                </a:solidFill>
                <a:latin typeface="Calibri"/>
              </a:rPr>
              <a:t>Backend — what runs server-side</a:t>
            </a:r>
          </a:p>
        </p:txBody>
      </p:sp>
      <p:sp>
        <p:nvSpPr>
          <p:cNvPr id="6" name="TextBox 5"/>
          <p:cNvSpPr txBox="1"/>
          <p:nvPr/>
        </p:nvSpPr>
        <p:spPr>
          <a:xfrm>
            <a:off x="713232" y="1234440"/>
            <a:ext cx="11155680" cy="365760"/>
          </a:xfrm>
          <a:prstGeom prst="rect">
            <a:avLst/>
          </a:prstGeom>
          <a:noFill/>
        </p:spPr>
        <p:txBody>
          <a:bodyPr wrap="square" lIns="36000" rIns="36000" tIns="18000" bIns="18000" anchor="t">
            <a:spAutoFit/>
          </a:bodyPr>
          <a:lstStyle/>
          <a:p>
            <a:pPr algn="l">
              <a:lnSpc>
                <a:spcPct val="120000"/>
              </a:lnSpc>
            </a:pPr>
            <a:r>
              <a:rPr sz="1200" b="0" i="1">
                <a:solidFill>
                  <a:srgbClr val="64748B"/>
                </a:solidFill>
                <a:latin typeface="Calibri"/>
              </a:rPr>
              <a:t>Pure Python. MySQL at the center, two AI side-paths, SMTP for mail.</a:t>
            </a:r>
          </a:p>
        </p:txBody>
      </p:sp>
      <p:cxnSp>
        <p:nvCxnSpPr>
          <p:cNvPr id="7" name="Connector 6"/>
          <p:cNvCxnSpPr/>
          <p:nvPr/>
        </p:nvCxnSpPr>
        <p:spPr>
          <a:xfrm>
            <a:off x="713232" y="1627632"/>
            <a:ext cx="10808208"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480560" y="1874519"/>
            <a:ext cx="3200400" cy="1051560"/>
          </a:xfrm>
          <a:prstGeom prst="roundRect">
            <a:avLst>
              <a:gd name="adj" fmla="val 8000"/>
            </a:avLst>
          </a:prstGeom>
          <a:solidFill>
            <a:srgbClr val="0E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874519"/>
            <a:ext cx="3200400" cy="1051560"/>
          </a:xfrm>
          <a:prstGeom prst="rect">
            <a:avLst/>
          </a:prstGeom>
          <a:noFill/>
        </p:spPr>
        <p:txBody>
          <a:bodyPr wrap="square" lIns="36000" rIns="36000" tIns="18000" bIns="18000" anchor="ctr">
            <a:spAutoFit/>
          </a:bodyPr>
          <a:lstStyle/>
          <a:p>
            <a:pPr algn="ctr">
              <a:lnSpc>
                <a:spcPct val="120000"/>
              </a:lnSpc>
            </a:pPr>
            <a:r>
              <a:rPr sz="1200" b="1" i="0">
                <a:solidFill>
                  <a:srgbClr val="FFFFFF"/>
                </a:solidFill>
                <a:latin typeface="Calibri"/>
              </a:rPr>
              <a:t>MySQL (SQLite fallback)</a:t>
            </a:r>
          </a:p>
          <a:p>
            <a:pPr algn="ctr">
              <a:lnSpc>
                <a:spcPct val="120000"/>
              </a:lnSpc>
            </a:pPr>
            <a:r>
              <a:rPr sz="1200" b="1" i="0">
                <a:solidFill>
                  <a:srgbClr val="FFFFFF"/>
                </a:solidFill>
                <a:latin typeface="Calibri"/>
              </a:rPr>
              <a:t>users • doctors • slots</a:t>
            </a:r>
          </a:p>
          <a:p>
            <a:pPr algn="ctr">
              <a:lnSpc>
                <a:spcPct val="120000"/>
              </a:lnSpc>
            </a:pPr>
            <a:r>
              <a:rPr sz="1200" b="1" i="0">
                <a:solidFill>
                  <a:srgbClr val="FFFFFF"/>
                </a:solidFill>
                <a:latin typeface="Calibri"/>
              </a:rPr>
              <a:t>visits • prescriptions</a:t>
            </a:r>
          </a:p>
        </p:txBody>
      </p:sp>
      <p:sp>
        <p:nvSpPr>
          <p:cNvPr id="10" name="Rounded Rectangle 9"/>
          <p:cNvSpPr/>
          <p:nvPr/>
        </p:nvSpPr>
        <p:spPr>
          <a:xfrm>
            <a:off x="548640" y="3520440"/>
            <a:ext cx="3200400" cy="1051560"/>
          </a:xfrm>
          <a:prstGeom prst="roundRect">
            <a:avLst>
              <a:gd name="adj" fmla="val 6000"/>
            </a:avLst>
          </a:prstGeom>
          <a:solidFill>
            <a:srgbClr val="FFFFFF"/>
          </a:solidFill>
          <a:ln w="9525">
            <a:solidFill>
              <a:srgbClr val="066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611880"/>
            <a:ext cx="3200400" cy="365760"/>
          </a:xfrm>
          <a:prstGeom prst="rect">
            <a:avLst/>
          </a:prstGeom>
          <a:noFill/>
        </p:spPr>
        <p:txBody>
          <a:bodyPr wrap="square" lIns="36000" rIns="36000" tIns="18000" bIns="18000" anchor="t">
            <a:spAutoFit/>
          </a:bodyPr>
          <a:lstStyle/>
          <a:p>
            <a:pPr algn="ctr">
              <a:lnSpc>
                <a:spcPct val="120000"/>
              </a:lnSpc>
            </a:pPr>
            <a:r>
              <a:rPr sz="1200" b="1" i="0">
                <a:solidFill>
                  <a:srgbClr val="066FA8"/>
                </a:solidFill>
                <a:latin typeface="Calibri"/>
              </a:rPr>
              <a:t>auth.py</a:t>
            </a:r>
          </a:p>
        </p:txBody>
      </p:sp>
      <p:sp>
        <p:nvSpPr>
          <p:cNvPr id="12" name="TextBox 11"/>
          <p:cNvSpPr txBox="1"/>
          <p:nvPr/>
        </p:nvSpPr>
        <p:spPr>
          <a:xfrm>
            <a:off x="548640" y="4023360"/>
            <a:ext cx="3200400" cy="502920"/>
          </a:xfrm>
          <a:prstGeom prst="rect">
            <a:avLst/>
          </a:prstGeom>
          <a:noFill/>
        </p:spPr>
        <p:txBody>
          <a:bodyPr wrap="square" lIns="36000" rIns="36000" tIns="18000" bIns="18000" anchor="t">
            <a:spAutoFit/>
          </a:bodyPr>
          <a:lstStyle/>
          <a:p>
            <a:pPr algn="ctr">
              <a:lnSpc>
                <a:spcPct val="120000"/>
              </a:lnSpc>
            </a:pPr>
            <a:r>
              <a:rPr sz="1000" b="0" i="0">
                <a:solidFill>
                  <a:srgbClr val="334E68"/>
                </a:solidFill>
                <a:latin typeface="Calibri"/>
              </a:rPr>
              <a:t>Hash, OAuth,</a:t>
            </a:r>
          </a:p>
          <a:p>
            <a:pPr algn="ctr">
              <a:lnSpc>
                <a:spcPct val="120000"/>
              </a:lnSpc>
            </a:pPr>
            <a:r>
              <a:rPr sz="1000" b="0" i="0">
                <a:solidFill>
                  <a:srgbClr val="334E68"/>
                </a:solidFill>
                <a:latin typeface="Calibri"/>
              </a:rPr>
              <a:t>seed users</a:t>
            </a:r>
          </a:p>
        </p:txBody>
      </p:sp>
      <p:sp>
        <p:nvSpPr>
          <p:cNvPr id="13" name="Rounded Rectangle 12"/>
          <p:cNvSpPr/>
          <p:nvPr/>
        </p:nvSpPr>
        <p:spPr>
          <a:xfrm>
            <a:off x="8183879" y="3520440"/>
            <a:ext cx="3200400" cy="1051560"/>
          </a:xfrm>
          <a:prstGeom prst="roundRect">
            <a:avLst>
              <a:gd name="adj" fmla="val 6000"/>
            </a:avLst>
          </a:prstGeom>
          <a:solidFill>
            <a:srgbClr val="FFFFFF"/>
          </a:solidFill>
          <a:ln w="9525">
            <a:solidFill>
              <a:srgbClr val="14B8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79" y="3611880"/>
            <a:ext cx="3200400" cy="365760"/>
          </a:xfrm>
          <a:prstGeom prst="rect">
            <a:avLst/>
          </a:prstGeom>
          <a:noFill/>
        </p:spPr>
        <p:txBody>
          <a:bodyPr wrap="square" lIns="36000" rIns="36000" tIns="18000" bIns="18000" anchor="t">
            <a:spAutoFit/>
          </a:bodyPr>
          <a:lstStyle/>
          <a:p>
            <a:pPr algn="ctr">
              <a:lnSpc>
                <a:spcPct val="120000"/>
              </a:lnSpc>
            </a:pPr>
            <a:r>
              <a:rPr sz="1200" b="1" i="0">
                <a:solidFill>
                  <a:srgbClr val="14B8A6"/>
                </a:solidFill>
                <a:latin typeface="Calibri"/>
              </a:rPr>
              <a:t>db.py</a:t>
            </a:r>
          </a:p>
        </p:txBody>
      </p:sp>
      <p:sp>
        <p:nvSpPr>
          <p:cNvPr id="15" name="TextBox 14"/>
          <p:cNvSpPr txBox="1"/>
          <p:nvPr/>
        </p:nvSpPr>
        <p:spPr>
          <a:xfrm>
            <a:off x="8183879" y="4023360"/>
            <a:ext cx="3200400" cy="502920"/>
          </a:xfrm>
          <a:prstGeom prst="rect">
            <a:avLst/>
          </a:prstGeom>
          <a:noFill/>
        </p:spPr>
        <p:txBody>
          <a:bodyPr wrap="square" lIns="36000" rIns="36000" tIns="18000" bIns="18000" anchor="t">
            <a:spAutoFit/>
          </a:bodyPr>
          <a:lstStyle/>
          <a:p>
            <a:pPr algn="ctr">
              <a:lnSpc>
                <a:spcPct val="120000"/>
              </a:lnSpc>
            </a:pPr>
            <a:r>
              <a:rPr sz="1000" b="0" i="0">
                <a:solidFill>
                  <a:srgbClr val="334E68"/>
                </a:solidFill>
                <a:latin typeface="Calibri"/>
              </a:rPr>
              <a:t>Schema, CRUD,</a:t>
            </a:r>
          </a:p>
          <a:p>
            <a:pPr algn="ctr">
              <a:lnSpc>
                <a:spcPct val="120000"/>
              </a:lnSpc>
            </a:pPr>
            <a:r>
              <a:rPr sz="1000" b="0" i="0">
                <a:solidFill>
                  <a:srgbClr val="334E68"/>
                </a:solidFill>
                <a:latin typeface="Calibri"/>
              </a:rPr>
              <a:t>dynamic config</a:t>
            </a:r>
          </a:p>
        </p:txBody>
      </p:sp>
      <p:sp>
        <p:nvSpPr>
          <p:cNvPr id="16" name="Rounded Rectangle 15"/>
          <p:cNvSpPr/>
          <p:nvPr/>
        </p:nvSpPr>
        <p:spPr>
          <a:xfrm>
            <a:off x="548640" y="5029200"/>
            <a:ext cx="3200400" cy="1051560"/>
          </a:xfrm>
          <a:prstGeom prst="roundRect">
            <a:avLst>
              <a:gd name="adj" fmla="val 6000"/>
            </a:avLst>
          </a:prstGeom>
          <a:solidFill>
            <a:srgbClr val="FFFFFF"/>
          </a:solidFill>
          <a:ln w="9525">
            <a:solidFill>
              <a:srgbClr val="DB27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5120640"/>
            <a:ext cx="3200400" cy="365760"/>
          </a:xfrm>
          <a:prstGeom prst="rect">
            <a:avLst/>
          </a:prstGeom>
          <a:noFill/>
        </p:spPr>
        <p:txBody>
          <a:bodyPr wrap="square" lIns="36000" rIns="36000" tIns="18000" bIns="18000" anchor="t">
            <a:spAutoFit/>
          </a:bodyPr>
          <a:lstStyle/>
          <a:p>
            <a:pPr algn="ctr">
              <a:lnSpc>
                <a:spcPct val="120000"/>
              </a:lnSpc>
            </a:pPr>
            <a:r>
              <a:rPr sz="1200" b="1" i="0">
                <a:solidFill>
                  <a:srgbClr val="DB2777"/>
                </a:solidFill>
                <a:latin typeface="Calibri"/>
              </a:rPr>
              <a:t>email_service.py</a:t>
            </a:r>
          </a:p>
        </p:txBody>
      </p:sp>
      <p:sp>
        <p:nvSpPr>
          <p:cNvPr id="18" name="TextBox 17"/>
          <p:cNvSpPr txBox="1"/>
          <p:nvPr/>
        </p:nvSpPr>
        <p:spPr>
          <a:xfrm>
            <a:off x="548640" y="5532120"/>
            <a:ext cx="3200400" cy="502920"/>
          </a:xfrm>
          <a:prstGeom prst="rect">
            <a:avLst/>
          </a:prstGeom>
          <a:noFill/>
        </p:spPr>
        <p:txBody>
          <a:bodyPr wrap="square" lIns="36000" rIns="36000" tIns="18000" bIns="18000" anchor="t">
            <a:spAutoFit/>
          </a:bodyPr>
          <a:lstStyle/>
          <a:p>
            <a:pPr algn="ctr">
              <a:lnSpc>
                <a:spcPct val="120000"/>
              </a:lnSpc>
            </a:pPr>
            <a:r>
              <a:rPr sz="1000" b="0" i="0">
                <a:solidFill>
                  <a:srgbClr val="334E68"/>
                </a:solidFill>
                <a:latin typeface="Calibri"/>
              </a:rPr>
              <a:t>SMTP + HTML</a:t>
            </a:r>
          </a:p>
          <a:p>
            <a:pPr algn="ctr">
              <a:lnSpc>
                <a:spcPct val="120000"/>
              </a:lnSpc>
            </a:pPr>
            <a:r>
              <a:rPr sz="1000" b="0" i="0">
                <a:solidFill>
                  <a:srgbClr val="334E68"/>
                </a:solidFill>
                <a:latin typeface="Calibri"/>
              </a:rPr>
              <a:t>doctor welcome</a:t>
            </a:r>
          </a:p>
        </p:txBody>
      </p:sp>
      <p:sp>
        <p:nvSpPr>
          <p:cNvPr id="19" name="Rounded Rectangle 18"/>
          <p:cNvSpPr/>
          <p:nvPr/>
        </p:nvSpPr>
        <p:spPr>
          <a:xfrm>
            <a:off x="8183879" y="5029200"/>
            <a:ext cx="3200400" cy="1051560"/>
          </a:xfrm>
          <a:prstGeom prst="roundRect">
            <a:avLst>
              <a:gd name="adj" fmla="val 6000"/>
            </a:avLst>
          </a:prstGeom>
          <a:solidFill>
            <a:srgbClr val="FFFFFF"/>
          </a:solidFill>
          <a:ln w="952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83879" y="5120640"/>
            <a:ext cx="3200400" cy="365760"/>
          </a:xfrm>
          <a:prstGeom prst="rect">
            <a:avLst/>
          </a:prstGeom>
          <a:noFill/>
        </p:spPr>
        <p:txBody>
          <a:bodyPr wrap="square" lIns="36000" rIns="36000" tIns="18000" bIns="18000" anchor="t">
            <a:spAutoFit/>
          </a:bodyPr>
          <a:lstStyle/>
          <a:p>
            <a:pPr algn="ctr">
              <a:lnSpc>
                <a:spcPct val="120000"/>
              </a:lnSpc>
            </a:pPr>
            <a:r>
              <a:rPr sz="1200" b="1" i="0">
                <a:solidFill>
                  <a:srgbClr val="7C3AED"/>
                </a:solidFill>
                <a:latin typeface="Calibri"/>
              </a:rPr>
              <a:t>ai_care.py</a:t>
            </a:r>
          </a:p>
        </p:txBody>
      </p:sp>
      <p:sp>
        <p:nvSpPr>
          <p:cNvPr id="21" name="TextBox 20"/>
          <p:cNvSpPr txBox="1"/>
          <p:nvPr/>
        </p:nvSpPr>
        <p:spPr>
          <a:xfrm>
            <a:off x="8183879" y="5532120"/>
            <a:ext cx="3200400" cy="502920"/>
          </a:xfrm>
          <a:prstGeom prst="rect">
            <a:avLst/>
          </a:prstGeom>
          <a:noFill/>
        </p:spPr>
        <p:txBody>
          <a:bodyPr wrap="square" lIns="36000" rIns="36000" tIns="18000" bIns="18000" anchor="t">
            <a:spAutoFit/>
          </a:bodyPr>
          <a:lstStyle/>
          <a:p>
            <a:pPr algn="ctr">
              <a:lnSpc>
                <a:spcPct val="120000"/>
              </a:lnSpc>
            </a:pPr>
            <a:r>
              <a:rPr sz="1000" b="0" i="0">
                <a:solidFill>
                  <a:srgbClr val="334E68"/>
                </a:solidFill>
                <a:latin typeface="Calibri"/>
              </a:rPr>
              <a:t>LangChain + Groq</a:t>
            </a:r>
          </a:p>
          <a:p>
            <a:pPr algn="ctr">
              <a:lnSpc>
                <a:spcPct val="120000"/>
              </a:lnSpc>
            </a:pPr>
            <a:r>
              <a:rPr sz="1000" b="0" i="0">
                <a:solidFill>
                  <a:srgbClr val="334E68"/>
                </a:solidFill>
                <a:latin typeface="Calibri"/>
              </a:rPr>
              <a:t>DB-aware AI</a:t>
            </a:r>
          </a:p>
        </p:txBody>
      </p:sp>
      <p:cxnSp>
        <p:nvCxnSpPr>
          <p:cNvPr id="22" name="Connector 21"/>
          <p:cNvCxnSpPr/>
          <p:nvPr/>
        </p:nvCxnSpPr>
        <p:spPr>
          <a:xfrm flipV="1">
            <a:off x="2606040" y="2606040"/>
            <a:ext cx="1874520" cy="1417320"/>
          </a:xfrm>
          <a:prstGeom prst="line">
            <a:avLst/>
          </a:prstGeom>
          <a:ln w="19050">
            <a:solidFill>
              <a:srgbClr val="14B8A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680960" y="2606040"/>
            <a:ext cx="1874520" cy="1417320"/>
          </a:xfrm>
          <a:prstGeom prst="line">
            <a:avLst/>
          </a:prstGeom>
          <a:ln w="19050">
            <a:solidFill>
              <a:srgbClr val="14B8A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606040" y="2926080"/>
            <a:ext cx="1874520" cy="2606040"/>
          </a:xfrm>
          <a:prstGeom prst="line">
            <a:avLst/>
          </a:prstGeom>
          <a:ln w="19050">
            <a:solidFill>
              <a:srgbClr val="14B8A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680960" y="2926080"/>
            <a:ext cx="1874520" cy="2606040"/>
          </a:xfrm>
          <a:prstGeom prst="line">
            <a:avLst/>
          </a:prstGeom>
          <a:ln w="19050">
            <a:solidFill>
              <a:srgbClr val="14B8A6"/>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0" y="6565392"/>
            <a:ext cx="12191695" cy="29260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6601968"/>
            <a:ext cx="8229600" cy="228600"/>
          </a:xfrm>
          <a:prstGeom prst="rect">
            <a:avLst/>
          </a:prstGeom>
          <a:noFill/>
        </p:spPr>
        <p:txBody>
          <a:bodyPr wrap="square" lIns="36000" rIns="36000" tIns="18000" bIns="18000" anchor="t">
            <a:spAutoFit/>
          </a:bodyPr>
          <a:lstStyle/>
          <a:p>
            <a:pPr algn="l">
              <a:lnSpc>
                <a:spcPct val="120000"/>
              </a:lnSpc>
            </a:pPr>
            <a:r>
              <a:rPr sz="900" b="0" i="1">
                <a:solidFill>
                  <a:srgbClr val="64748B"/>
                </a:solidFill>
                <a:latin typeface="Calibri"/>
              </a:rPr>
              <a:t>IPCMS — Integrated Patient Care Management System</a:t>
            </a:r>
          </a:p>
        </p:txBody>
      </p:sp>
      <p:sp>
        <p:nvSpPr>
          <p:cNvPr id="28" name="TextBox 27"/>
          <p:cNvSpPr txBox="1"/>
          <p:nvPr/>
        </p:nvSpPr>
        <p:spPr>
          <a:xfrm>
            <a:off x="10607040" y="6601968"/>
            <a:ext cx="1280160" cy="228600"/>
          </a:xfrm>
          <a:prstGeom prst="rect">
            <a:avLst/>
          </a:prstGeom>
          <a:noFill/>
        </p:spPr>
        <p:txBody>
          <a:bodyPr wrap="square" lIns="36000" rIns="36000" tIns="18000" bIns="18000" anchor="t">
            <a:spAutoFit/>
          </a:bodyPr>
          <a:lstStyle/>
          <a:p>
            <a:pPr algn="r">
              <a:lnSpc>
                <a:spcPct val="120000"/>
              </a:lnSpc>
            </a:pPr>
            <a:r>
              <a:rPr sz="900" b="0" i="0">
                <a:solidFill>
                  <a:srgbClr val="64748B"/>
                </a:solidFill>
                <a:latin typeface="Calibri"/>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972800" cy="256032"/>
          </a:xfrm>
          <a:prstGeom prst="rect">
            <a:avLst/>
          </a:prstGeom>
          <a:noFill/>
        </p:spPr>
        <p:txBody>
          <a:bodyPr wrap="square" lIns="36000" rIns="36000" tIns="18000" bIns="18000" anchor="t">
            <a:spAutoFit/>
          </a:bodyPr>
          <a:lstStyle/>
          <a:p>
            <a:pPr algn="l">
              <a:lnSpc>
                <a:spcPct val="120000"/>
              </a:lnSpc>
            </a:pPr>
            <a:r>
              <a:rPr sz="1000" b="1" i="0">
                <a:solidFill>
                  <a:srgbClr val="14B8A6"/>
                </a:solidFill>
                <a:latin typeface="Calibri"/>
              </a:rPr>
              <a:t>SECTION 09</a:t>
            </a:r>
          </a:p>
        </p:txBody>
      </p:sp>
      <p:sp>
        <p:nvSpPr>
          <p:cNvPr id="5" name="TextBox 4"/>
          <p:cNvSpPr txBox="1"/>
          <p:nvPr/>
        </p:nvSpPr>
        <p:spPr>
          <a:xfrm>
            <a:off x="713232" y="713232"/>
            <a:ext cx="11155680" cy="502920"/>
          </a:xfrm>
          <a:prstGeom prst="rect">
            <a:avLst/>
          </a:prstGeom>
          <a:noFill/>
        </p:spPr>
        <p:txBody>
          <a:bodyPr wrap="square" lIns="36000" rIns="36000" tIns="18000" bIns="18000" anchor="t">
            <a:spAutoFit/>
          </a:bodyPr>
          <a:lstStyle/>
          <a:p>
            <a:pPr algn="l">
              <a:lnSpc>
                <a:spcPct val="120000"/>
              </a:lnSpc>
            </a:pPr>
            <a:r>
              <a:rPr sz="2600" b="1" i="0">
                <a:solidFill>
                  <a:srgbClr val="0F172A"/>
                </a:solidFill>
                <a:latin typeface="Calibri"/>
              </a:rPr>
              <a:t>Features — the long list</a:t>
            </a:r>
          </a:p>
        </p:txBody>
      </p:sp>
      <p:sp>
        <p:nvSpPr>
          <p:cNvPr id="6" name="TextBox 5"/>
          <p:cNvSpPr txBox="1"/>
          <p:nvPr/>
        </p:nvSpPr>
        <p:spPr>
          <a:xfrm>
            <a:off x="713232" y="1234440"/>
            <a:ext cx="11155680" cy="365760"/>
          </a:xfrm>
          <a:prstGeom prst="rect">
            <a:avLst/>
          </a:prstGeom>
          <a:noFill/>
        </p:spPr>
        <p:txBody>
          <a:bodyPr wrap="square" lIns="36000" rIns="36000" tIns="18000" bIns="18000" anchor="t">
            <a:spAutoFit/>
          </a:bodyPr>
          <a:lstStyle/>
          <a:p>
            <a:pPr algn="l">
              <a:lnSpc>
                <a:spcPct val="120000"/>
              </a:lnSpc>
            </a:pPr>
            <a:r>
              <a:rPr sz="1200" b="0" i="1">
                <a:solidFill>
                  <a:srgbClr val="64748B"/>
                </a:solidFill>
                <a:latin typeface="Calibri"/>
              </a:rPr>
              <a:t>Twelve things that actually work today, not just in spec.</a:t>
            </a:r>
          </a:p>
        </p:txBody>
      </p:sp>
      <p:cxnSp>
        <p:nvCxnSpPr>
          <p:cNvPr id="7" name="Connector 6"/>
          <p:cNvCxnSpPr/>
          <p:nvPr/>
        </p:nvCxnSpPr>
        <p:spPr>
          <a:xfrm>
            <a:off x="713232" y="1627632"/>
            <a:ext cx="10808208"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02920" y="1828800"/>
            <a:ext cx="2743200" cy="1417320"/>
          </a:xfrm>
          <a:prstGeom prst="roundRect">
            <a:avLst>
              <a:gd name="adj" fmla="val 8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28800"/>
            <a:ext cx="91440" cy="1417320"/>
          </a:xfrm>
          <a:prstGeom prst="rect">
            <a:avLst/>
          </a:prstGeom>
          <a:solidFill>
            <a:srgbClr val="0E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920240"/>
            <a:ext cx="640080" cy="274320"/>
          </a:xfrm>
          <a:prstGeom prst="rect">
            <a:avLst/>
          </a:prstGeom>
          <a:noFill/>
        </p:spPr>
        <p:txBody>
          <a:bodyPr wrap="square" lIns="36000" rIns="36000" tIns="18000" bIns="18000" anchor="t">
            <a:spAutoFit/>
          </a:bodyPr>
          <a:lstStyle/>
          <a:p>
            <a:pPr algn="l">
              <a:lnSpc>
                <a:spcPct val="120000"/>
              </a:lnSpc>
            </a:pPr>
            <a:r>
              <a:rPr sz="1000" b="1" i="0">
                <a:solidFill>
                  <a:srgbClr val="0E4F8A"/>
                </a:solidFill>
                <a:latin typeface="Calibri"/>
              </a:rPr>
              <a:t>#01</a:t>
            </a:r>
          </a:p>
        </p:txBody>
      </p:sp>
      <p:sp>
        <p:nvSpPr>
          <p:cNvPr id="11" name="TextBox 10"/>
          <p:cNvSpPr txBox="1"/>
          <p:nvPr/>
        </p:nvSpPr>
        <p:spPr>
          <a:xfrm>
            <a:off x="731520" y="2194560"/>
            <a:ext cx="2377440" cy="365760"/>
          </a:xfrm>
          <a:prstGeom prst="rect">
            <a:avLst/>
          </a:prstGeom>
          <a:noFill/>
        </p:spPr>
        <p:txBody>
          <a:bodyPr wrap="square" lIns="36000" rIns="36000" tIns="18000" bIns="18000" anchor="t">
            <a:spAutoFit/>
          </a:bodyPr>
          <a:lstStyle/>
          <a:p>
            <a:pPr algn="l">
              <a:lnSpc>
                <a:spcPct val="120000"/>
              </a:lnSpc>
            </a:pPr>
            <a:r>
              <a:rPr sz="1200" b="1" i="0">
                <a:solidFill>
                  <a:srgbClr val="0F172A"/>
                </a:solidFill>
                <a:latin typeface="Calibri"/>
              </a:rPr>
              <a:t>Role-aware auth</a:t>
            </a:r>
          </a:p>
        </p:txBody>
      </p:sp>
      <p:sp>
        <p:nvSpPr>
          <p:cNvPr id="12" name="TextBox 11"/>
          <p:cNvSpPr txBox="1"/>
          <p:nvPr/>
        </p:nvSpPr>
        <p:spPr>
          <a:xfrm>
            <a:off x="731520" y="2542032"/>
            <a:ext cx="2377440" cy="640080"/>
          </a:xfrm>
          <a:prstGeom prst="rect">
            <a:avLst/>
          </a:prstGeom>
          <a:noFill/>
        </p:spPr>
        <p:txBody>
          <a:bodyPr wrap="square" lIns="36000" rIns="36000" tIns="18000" bIns="18000" anchor="t">
            <a:spAutoFit/>
          </a:bodyPr>
          <a:lstStyle/>
          <a:p>
            <a:pPr algn="l">
              <a:lnSpc>
                <a:spcPct val="125000"/>
              </a:lnSpc>
            </a:pPr>
            <a:r>
              <a:rPr sz="950" b="0" i="1">
                <a:solidFill>
                  <a:srgbClr val="64748B"/>
                </a:solidFill>
                <a:latin typeface="Calibri"/>
              </a:rPr>
              <a:t>Email+password + Google OAuth, session state per role.</a:t>
            </a:r>
          </a:p>
        </p:txBody>
      </p:sp>
      <p:sp>
        <p:nvSpPr>
          <p:cNvPr id="13" name="Rounded Rectangle 12"/>
          <p:cNvSpPr/>
          <p:nvPr/>
        </p:nvSpPr>
        <p:spPr>
          <a:xfrm>
            <a:off x="3355848" y="1828800"/>
            <a:ext cx="2743200" cy="1417320"/>
          </a:xfrm>
          <a:prstGeom prst="roundRect">
            <a:avLst>
              <a:gd name="adj" fmla="val 8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55848" y="1828800"/>
            <a:ext cx="91440" cy="1417320"/>
          </a:xfrm>
          <a:prstGeom prst="rect">
            <a:avLst/>
          </a:prstGeom>
          <a:solidFill>
            <a:srgbClr val="06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4448" y="1920240"/>
            <a:ext cx="640080" cy="274320"/>
          </a:xfrm>
          <a:prstGeom prst="rect">
            <a:avLst/>
          </a:prstGeom>
          <a:noFill/>
        </p:spPr>
        <p:txBody>
          <a:bodyPr wrap="square" lIns="36000" rIns="36000" tIns="18000" bIns="18000" anchor="t">
            <a:spAutoFit/>
          </a:bodyPr>
          <a:lstStyle/>
          <a:p>
            <a:pPr algn="l">
              <a:lnSpc>
                <a:spcPct val="120000"/>
              </a:lnSpc>
            </a:pPr>
            <a:r>
              <a:rPr sz="1000" b="1" i="0">
                <a:solidFill>
                  <a:srgbClr val="066FA8"/>
                </a:solidFill>
                <a:latin typeface="Calibri"/>
              </a:rPr>
              <a:t>#02</a:t>
            </a:r>
          </a:p>
        </p:txBody>
      </p:sp>
      <p:sp>
        <p:nvSpPr>
          <p:cNvPr id="16" name="TextBox 15"/>
          <p:cNvSpPr txBox="1"/>
          <p:nvPr/>
        </p:nvSpPr>
        <p:spPr>
          <a:xfrm>
            <a:off x="3584448" y="2194560"/>
            <a:ext cx="2377440" cy="365760"/>
          </a:xfrm>
          <a:prstGeom prst="rect">
            <a:avLst/>
          </a:prstGeom>
          <a:noFill/>
        </p:spPr>
        <p:txBody>
          <a:bodyPr wrap="square" lIns="36000" rIns="36000" tIns="18000" bIns="18000" anchor="t">
            <a:spAutoFit/>
          </a:bodyPr>
          <a:lstStyle/>
          <a:p>
            <a:pPr algn="l">
              <a:lnSpc>
                <a:spcPct val="120000"/>
              </a:lnSpc>
            </a:pPr>
            <a:r>
              <a:rPr sz="1200" b="1" i="0">
                <a:solidFill>
                  <a:srgbClr val="0F172A"/>
                </a:solidFill>
                <a:latin typeface="Calibri"/>
              </a:rPr>
              <a:t>Smart booking</a:t>
            </a:r>
          </a:p>
        </p:txBody>
      </p:sp>
      <p:sp>
        <p:nvSpPr>
          <p:cNvPr id="17" name="TextBox 16"/>
          <p:cNvSpPr txBox="1"/>
          <p:nvPr/>
        </p:nvSpPr>
        <p:spPr>
          <a:xfrm>
            <a:off x="3584448" y="2542032"/>
            <a:ext cx="2377440" cy="640080"/>
          </a:xfrm>
          <a:prstGeom prst="rect">
            <a:avLst/>
          </a:prstGeom>
          <a:noFill/>
        </p:spPr>
        <p:txBody>
          <a:bodyPr wrap="square" lIns="36000" rIns="36000" tIns="18000" bIns="18000" anchor="t">
            <a:spAutoFit/>
          </a:bodyPr>
          <a:lstStyle/>
          <a:p>
            <a:pPr algn="l">
              <a:lnSpc>
                <a:spcPct val="125000"/>
              </a:lnSpc>
            </a:pPr>
            <a:r>
              <a:rPr sz="950" b="0" i="1">
                <a:solidFill>
                  <a:srgbClr val="64748B"/>
                </a:solidFill>
                <a:latin typeface="Calibri"/>
              </a:rPr>
              <a:t>Patients see only valid future slots; doctors see only their queue.</a:t>
            </a:r>
          </a:p>
        </p:txBody>
      </p:sp>
      <p:sp>
        <p:nvSpPr>
          <p:cNvPr id="18" name="Rounded Rectangle 17"/>
          <p:cNvSpPr/>
          <p:nvPr/>
        </p:nvSpPr>
        <p:spPr>
          <a:xfrm>
            <a:off x="6208776" y="1828800"/>
            <a:ext cx="2743200" cy="1417320"/>
          </a:xfrm>
          <a:prstGeom prst="roundRect">
            <a:avLst>
              <a:gd name="adj" fmla="val 8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08776" y="1828800"/>
            <a:ext cx="91440" cy="14173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7376" y="1920240"/>
            <a:ext cx="640080" cy="274320"/>
          </a:xfrm>
          <a:prstGeom prst="rect">
            <a:avLst/>
          </a:prstGeom>
          <a:noFill/>
        </p:spPr>
        <p:txBody>
          <a:bodyPr wrap="square" lIns="36000" rIns="36000" tIns="18000" bIns="18000" anchor="t">
            <a:spAutoFit/>
          </a:bodyPr>
          <a:lstStyle/>
          <a:p>
            <a:pPr algn="l">
              <a:lnSpc>
                <a:spcPct val="120000"/>
              </a:lnSpc>
            </a:pPr>
            <a:r>
              <a:rPr sz="1000" b="1" i="0">
                <a:solidFill>
                  <a:srgbClr val="14B8A6"/>
                </a:solidFill>
                <a:latin typeface="Calibri"/>
              </a:rPr>
              <a:t>#03</a:t>
            </a:r>
          </a:p>
        </p:txBody>
      </p:sp>
      <p:sp>
        <p:nvSpPr>
          <p:cNvPr id="21" name="TextBox 20"/>
          <p:cNvSpPr txBox="1"/>
          <p:nvPr/>
        </p:nvSpPr>
        <p:spPr>
          <a:xfrm>
            <a:off x="6437376" y="2194560"/>
            <a:ext cx="2377440" cy="365760"/>
          </a:xfrm>
          <a:prstGeom prst="rect">
            <a:avLst/>
          </a:prstGeom>
          <a:noFill/>
        </p:spPr>
        <p:txBody>
          <a:bodyPr wrap="square" lIns="36000" rIns="36000" tIns="18000" bIns="18000" anchor="t">
            <a:spAutoFit/>
          </a:bodyPr>
          <a:lstStyle/>
          <a:p>
            <a:pPr algn="l">
              <a:lnSpc>
                <a:spcPct val="120000"/>
              </a:lnSpc>
            </a:pPr>
            <a:r>
              <a:rPr sz="1200" b="1" i="0">
                <a:solidFill>
                  <a:srgbClr val="0F172A"/>
                </a:solidFill>
                <a:latin typeface="Calibri"/>
              </a:rPr>
              <a:t>AI symptom checker</a:t>
            </a:r>
          </a:p>
        </p:txBody>
      </p:sp>
      <p:sp>
        <p:nvSpPr>
          <p:cNvPr id="22" name="TextBox 21"/>
          <p:cNvSpPr txBox="1"/>
          <p:nvPr/>
        </p:nvSpPr>
        <p:spPr>
          <a:xfrm>
            <a:off x="6437376" y="2542032"/>
            <a:ext cx="2377440" cy="640080"/>
          </a:xfrm>
          <a:prstGeom prst="rect">
            <a:avLst/>
          </a:prstGeom>
          <a:noFill/>
        </p:spPr>
        <p:txBody>
          <a:bodyPr wrap="square" lIns="36000" rIns="36000" tIns="18000" bIns="18000" anchor="t">
            <a:spAutoFit/>
          </a:bodyPr>
          <a:lstStyle/>
          <a:p>
            <a:pPr algn="l">
              <a:lnSpc>
                <a:spcPct val="125000"/>
              </a:lnSpc>
            </a:pPr>
            <a:r>
              <a:rPr sz="950" b="0" i="1">
                <a:solidFill>
                  <a:srgbClr val="64748B"/>
                </a:solidFill>
                <a:latin typeface="Calibri"/>
              </a:rPr>
              <a:t>Patient describes symptoms → AI returns structured triage.</a:t>
            </a:r>
          </a:p>
        </p:txBody>
      </p:sp>
      <p:sp>
        <p:nvSpPr>
          <p:cNvPr id="23" name="Rounded Rectangle 22"/>
          <p:cNvSpPr/>
          <p:nvPr/>
        </p:nvSpPr>
        <p:spPr>
          <a:xfrm>
            <a:off x="9061704" y="1828800"/>
            <a:ext cx="2743200" cy="1417320"/>
          </a:xfrm>
          <a:prstGeom prst="roundRect">
            <a:avLst>
              <a:gd name="adj" fmla="val 8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61704" y="1828800"/>
            <a:ext cx="91440"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90304" y="1920240"/>
            <a:ext cx="640080" cy="274320"/>
          </a:xfrm>
          <a:prstGeom prst="rect">
            <a:avLst/>
          </a:prstGeom>
          <a:noFill/>
        </p:spPr>
        <p:txBody>
          <a:bodyPr wrap="square" lIns="36000" rIns="36000" tIns="18000" bIns="18000" anchor="t">
            <a:spAutoFit/>
          </a:bodyPr>
          <a:lstStyle/>
          <a:p>
            <a:pPr algn="l">
              <a:lnSpc>
                <a:spcPct val="120000"/>
              </a:lnSpc>
            </a:pPr>
            <a:r>
              <a:rPr sz="1000" b="1" i="0">
                <a:solidFill>
                  <a:srgbClr val="7C3AED"/>
                </a:solidFill>
                <a:latin typeface="Calibri"/>
              </a:rPr>
              <a:t>#04</a:t>
            </a:r>
          </a:p>
        </p:txBody>
      </p:sp>
      <p:sp>
        <p:nvSpPr>
          <p:cNvPr id="26" name="TextBox 25"/>
          <p:cNvSpPr txBox="1"/>
          <p:nvPr/>
        </p:nvSpPr>
        <p:spPr>
          <a:xfrm>
            <a:off x="9290304" y="2194560"/>
            <a:ext cx="2377440" cy="365760"/>
          </a:xfrm>
          <a:prstGeom prst="rect">
            <a:avLst/>
          </a:prstGeom>
          <a:noFill/>
        </p:spPr>
        <p:txBody>
          <a:bodyPr wrap="square" lIns="36000" rIns="36000" tIns="18000" bIns="18000" anchor="t">
            <a:spAutoFit/>
          </a:bodyPr>
          <a:lstStyle/>
          <a:p>
            <a:pPr algn="l">
              <a:lnSpc>
                <a:spcPct val="120000"/>
              </a:lnSpc>
            </a:pPr>
            <a:r>
              <a:rPr sz="1200" b="1" i="0">
                <a:solidFill>
                  <a:srgbClr val="0F172A"/>
                </a:solidFill>
                <a:latin typeface="Calibri"/>
              </a:rPr>
              <a:t>Doctor AI brief</a:t>
            </a:r>
          </a:p>
        </p:txBody>
      </p:sp>
      <p:sp>
        <p:nvSpPr>
          <p:cNvPr id="27" name="TextBox 26"/>
          <p:cNvSpPr txBox="1"/>
          <p:nvPr/>
        </p:nvSpPr>
        <p:spPr>
          <a:xfrm>
            <a:off x="9290304" y="2542032"/>
            <a:ext cx="2377440" cy="640080"/>
          </a:xfrm>
          <a:prstGeom prst="rect">
            <a:avLst/>
          </a:prstGeom>
          <a:noFill/>
        </p:spPr>
        <p:txBody>
          <a:bodyPr wrap="square" lIns="36000" rIns="36000" tIns="18000" bIns="18000" anchor="t">
            <a:spAutoFit/>
          </a:bodyPr>
          <a:lstStyle/>
          <a:p>
            <a:pPr algn="l">
              <a:lnSpc>
                <a:spcPct val="125000"/>
              </a:lnSpc>
            </a:pPr>
            <a:r>
              <a:rPr sz="950" b="0" i="1">
                <a:solidFill>
                  <a:srgbClr val="64748B"/>
                </a:solidFill>
                <a:latin typeface="Calibri"/>
              </a:rPr>
              <a:t>Auto-generated 5-bullet patient summary before each consult.</a:t>
            </a:r>
          </a:p>
        </p:txBody>
      </p:sp>
      <p:sp>
        <p:nvSpPr>
          <p:cNvPr id="28" name="Rounded Rectangle 27"/>
          <p:cNvSpPr/>
          <p:nvPr/>
        </p:nvSpPr>
        <p:spPr>
          <a:xfrm>
            <a:off x="502920" y="3383280"/>
            <a:ext cx="2743200" cy="1417320"/>
          </a:xfrm>
          <a:prstGeom prst="roundRect">
            <a:avLst>
              <a:gd name="adj" fmla="val 8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3383280"/>
            <a:ext cx="91440" cy="1417320"/>
          </a:xfrm>
          <a:prstGeom prst="rect">
            <a:avLst/>
          </a:prstGeom>
          <a:solidFill>
            <a:srgbClr val="0E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3474720"/>
            <a:ext cx="640080" cy="274320"/>
          </a:xfrm>
          <a:prstGeom prst="rect">
            <a:avLst/>
          </a:prstGeom>
          <a:noFill/>
        </p:spPr>
        <p:txBody>
          <a:bodyPr wrap="square" lIns="36000" rIns="36000" tIns="18000" bIns="18000" anchor="t">
            <a:spAutoFit/>
          </a:bodyPr>
          <a:lstStyle/>
          <a:p>
            <a:pPr algn="l">
              <a:lnSpc>
                <a:spcPct val="120000"/>
              </a:lnSpc>
            </a:pPr>
            <a:r>
              <a:rPr sz="1000" b="1" i="0">
                <a:solidFill>
                  <a:srgbClr val="0E4F8A"/>
                </a:solidFill>
                <a:latin typeface="Calibri"/>
              </a:rPr>
              <a:t>#05</a:t>
            </a:r>
          </a:p>
        </p:txBody>
      </p:sp>
      <p:sp>
        <p:nvSpPr>
          <p:cNvPr id="31" name="TextBox 30"/>
          <p:cNvSpPr txBox="1"/>
          <p:nvPr/>
        </p:nvSpPr>
        <p:spPr>
          <a:xfrm>
            <a:off x="731520" y="3749040"/>
            <a:ext cx="2377440" cy="365760"/>
          </a:xfrm>
          <a:prstGeom prst="rect">
            <a:avLst/>
          </a:prstGeom>
          <a:noFill/>
        </p:spPr>
        <p:txBody>
          <a:bodyPr wrap="square" lIns="36000" rIns="36000" tIns="18000" bIns="18000" anchor="t">
            <a:spAutoFit/>
          </a:bodyPr>
          <a:lstStyle/>
          <a:p>
            <a:pPr algn="l">
              <a:lnSpc>
                <a:spcPct val="120000"/>
              </a:lnSpc>
            </a:pPr>
            <a:r>
              <a:rPr sz="1200" b="1" i="0">
                <a:solidFill>
                  <a:srgbClr val="0F172A"/>
                </a:solidFill>
                <a:latin typeface="Calibri"/>
              </a:rPr>
              <a:t>Prescription writer</a:t>
            </a:r>
          </a:p>
        </p:txBody>
      </p:sp>
      <p:sp>
        <p:nvSpPr>
          <p:cNvPr id="32" name="TextBox 31"/>
          <p:cNvSpPr txBox="1"/>
          <p:nvPr/>
        </p:nvSpPr>
        <p:spPr>
          <a:xfrm>
            <a:off x="731520" y="4096512"/>
            <a:ext cx="2377440" cy="640080"/>
          </a:xfrm>
          <a:prstGeom prst="rect">
            <a:avLst/>
          </a:prstGeom>
          <a:noFill/>
        </p:spPr>
        <p:txBody>
          <a:bodyPr wrap="square" lIns="36000" rIns="36000" tIns="18000" bIns="18000" anchor="t">
            <a:spAutoFit/>
          </a:bodyPr>
          <a:lstStyle/>
          <a:p>
            <a:pPr algn="l">
              <a:lnSpc>
                <a:spcPct val="125000"/>
              </a:lnSpc>
            </a:pPr>
            <a:r>
              <a:rPr sz="950" b="0" i="1">
                <a:solidFill>
                  <a:srgbClr val="64748B"/>
                </a:solidFill>
                <a:latin typeface="Calibri"/>
              </a:rPr>
              <a:t>Add medicine + dosage + duration; visible to patient.</a:t>
            </a:r>
          </a:p>
        </p:txBody>
      </p:sp>
      <p:sp>
        <p:nvSpPr>
          <p:cNvPr id="33" name="Rounded Rectangle 32"/>
          <p:cNvSpPr/>
          <p:nvPr/>
        </p:nvSpPr>
        <p:spPr>
          <a:xfrm>
            <a:off x="3355848" y="3383280"/>
            <a:ext cx="2743200" cy="1417320"/>
          </a:xfrm>
          <a:prstGeom prst="roundRect">
            <a:avLst>
              <a:gd name="adj" fmla="val 8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355848" y="3383280"/>
            <a:ext cx="91440" cy="1417320"/>
          </a:xfrm>
          <a:prstGeom prst="rect">
            <a:avLst/>
          </a:prstGeom>
          <a:solidFill>
            <a:srgbClr val="06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84448" y="3474720"/>
            <a:ext cx="640080" cy="274320"/>
          </a:xfrm>
          <a:prstGeom prst="rect">
            <a:avLst/>
          </a:prstGeom>
          <a:noFill/>
        </p:spPr>
        <p:txBody>
          <a:bodyPr wrap="square" lIns="36000" rIns="36000" tIns="18000" bIns="18000" anchor="t">
            <a:spAutoFit/>
          </a:bodyPr>
          <a:lstStyle/>
          <a:p>
            <a:pPr algn="l">
              <a:lnSpc>
                <a:spcPct val="120000"/>
              </a:lnSpc>
            </a:pPr>
            <a:r>
              <a:rPr sz="1000" b="1" i="0">
                <a:solidFill>
                  <a:srgbClr val="066FA8"/>
                </a:solidFill>
                <a:latin typeface="Calibri"/>
              </a:rPr>
              <a:t>#06</a:t>
            </a:r>
          </a:p>
        </p:txBody>
      </p:sp>
      <p:sp>
        <p:nvSpPr>
          <p:cNvPr id="36" name="TextBox 35"/>
          <p:cNvSpPr txBox="1"/>
          <p:nvPr/>
        </p:nvSpPr>
        <p:spPr>
          <a:xfrm>
            <a:off x="3584448" y="3749040"/>
            <a:ext cx="2377440" cy="365760"/>
          </a:xfrm>
          <a:prstGeom prst="rect">
            <a:avLst/>
          </a:prstGeom>
          <a:noFill/>
        </p:spPr>
        <p:txBody>
          <a:bodyPr wrap="square" lIns="36000" rIns="36000" tIns="18000" bIns="18000" anchor="t">
            <a:spAutoFit/>
          </a:bodyPr>
          <a:lstStyle/>
          <a:p>
            <a:pPr algn="l">
              <a:lnSpc>
                <a:spcPct val="120000"/>
              </a:lnSpc>
            </a:pPr>
            <a:r>
              <a:rPr sz="1200" b="1" i="0">
                <a:solidFill>
                  <a:srgbClr val="0F172A"/>
                </a:solidFill>
                <a:latin typeface="Calibri"/>
              </a:rPr>
              <a:t>PDF medical record</a:t>
            </a:r>
          </a:p>
        </p:txBody>
      </p:sp>
      <p:sp>
        <p:nvSpPr>
          <p:cNvPr id="37" name="TextBox 36"/>
          <p:cNvSpPr txBox="1"/>
          <p:nvPr/>
        </p:nvSpPr>
        <p:spPr>
          <a:xfrm>
            <a:off x="3584448" y="4096512"/>
            <a:ext cx="2377440" cy="640080"/>
          </a:xfrm>
          <a:prstGeom prst="rect">
            <a:avLst/>
          </a:prstGeom>
          <a:noFill/>
        </p:spPr>
        <p:txBody>
          <a:bodyPr wrap="square" lIns="36000" rIns="36000" tIns="18000" bIns="18000" anchor="t">
            <a:spAutoFit/>
          </a:bodyPr>
          <a:lstStyle/>
          <a:p>
            <a:pPr algn="l">
              <a:lnSpc>
                <a:spcPct val="125000"/>
              </a:lnSpc>
            </a:pPr>
            <a:r>
              <a:rPr sz="950" b="0" i="1">
                <a:solidFill>
                  <a:srgbClr val="64748B"/>
                </a:solidFill>
                <a:latin typeface="Calibri"/>
              </a:rPr>
              <a:t>ReportLab-generated downloadable record.</a:t>
            </a:r>
          </a:p>
        </p:txBody>
      </p:sp>
      <p:sp>
        <p:nvSpPr>
          <p:cNvPr id="38" name="Rounded Rectangle 37"/>
          <p:cNvSpPr/>
          <p:nvPr/>
        </p:nvSpPr>
        <p:spPr>
          <a:xfrm>
            <a:off x="6208776" y="3383280"/>
            <a:ext cx="2743200" cy="1417320"/>
          </a:xfrm>
          <a:prstGeom prst="roundRect">
            <a:avLst>
              <a:gd name="adj" fmla="val 8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08776" y="3383280"/>
            <a:ext cx="91440" cy="14173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37376" y="3474720"/>
            <a:ext cx="640080" cy="274320"/>
          </a:xfrm>
          <a:prstGeom prst="rect">
            <a:avLst/>
          </a:prstGeom>
          <a:noFill/>
        </p:spPr>
        <p:txBody>
          <a:bodyPr wrap="square" lIns="36000" rIns="36000" tIns="18000" bIns="18000" anchor="t">
            <a:spAutoFit/>
          </a:bodyPr>
          <a:lstStyle/>
          <a:p>
            <a:pPr algn="l">
              <a:lnSpc>
                <a:spcPct val="120000"/>
              </a:lnSpc>
            </a:pPr>
            <a:r>
              <a:rPr sz="1000" b="1" i="0">
                <a:solidFill>
                  <a:srgbClr val="14B8A6"/>
                </a:solidFill>
                <a:latin typeface="Calibri"/>
              </a:rPr>
              <a:t>#07</a:t>
            </a:r>
          </a:p>
        </p:txBody>
      </p:sp>
      <p:sp>
        <p:nvSpPr>
          <p:cNvPr id="41" name="TextBox 40"/>
          <p:cNvSpPr txBox="1"/>
          <p:nvPr/>
        </p:nvSpPr>
        <p:spPr>
          <a:xfrm>
            <a:off x="6437376" y="3749040"/>
            <a:ext cx="2377440" cy="365760"/>
          </a:xfrm>
          <a:prstGeom prst="rect">
            <a:avLst/>
          </a:prstGeom>
          <a:noFill/>
        </p:spPr>
        <p:txBody>
          <a:bodyPr wrap="square" lIns="36000" rIns="36000" tIns="18000" bIns="18000" anchor="t">
            <a:spAutoFit/>
          </a:bodyPr>
          <a:lstStyle/>
          <a:p>
            <a:pPr algn="l">
              <a:lnSpc>
                <a:spcPct val="120000"/>
              </a:lnSpc>
            </a:pPr>
            <a:r>
              <a:rPr sz="1200" b="1" i="0">
                <a:solidFill>
                  <a:srgbClr val="0F172A"/>
                </a:solidFill>
                <a:latin typeface="Calibri"/>
              </a:rPr>
              <a:t>Voice chatbot</a:t>
            </a:r>
          </a:p>
        </p:txBody>
      </p:sp>
      <p:sp>
        <p:nvSpPr>
          <p:cNvPr id="42" name="TextBox 41"/>
          <p:cNvSpPr txBox="1"/>
          <p:nvPr/>
        </p:nvSpPr>
        <p:spPr>
          <a:xfrm>
            <a:off x="6437376" y="4096512"/>
            <a:ext cx="2377440" cy="640080"/>
          </a:xfrm>
          <a:prstGeom prst="rect">
            <a:avLst/>
          </a:prstGeom>
          <a:noFill/>
        </p:spPr>
        <p:txBody>
          <a:bodyPr wrap="square" lIns="36000" rIns="36000" tIns="18000" bIns="18000" anchor="t">
            <a:spAutoFit/>
          </a:bodyPr>
          <a:lstStyle/>
          <a:p>
            <a:pPr algn="l">
              <a:lnSpc>
                <a:spcPct val="125000"/>
              </a:lnSpc>
            </a:pPr>
            <a:r>
              <a:rPr sz="950" b="0" i="1">
                <a:solidFill>
                  <a:srgbClr val="64748B"/>
                </a:solidFill>
                <a:latin typeface="Calibri"/>
              </a:rPr>
              <a:t>Floating mic button on every page; speaks back via Web Speech.</a:t>
            </a:r>
          </a:p>
        </p:txBody>
      </p:sp>
      <p:sp>
        <p:nvSpPr>
          <p:cNvPr id="43" name="Rounded Rectangle 42"/>
          <p:cNvSpPr/>
          <p:nvPr/>
        </p:nvSpPr>
        <p:spPr>
          <a:xfrm>
            <a:off x="9061704" y="3383280"/>
            <a:ext cx="2743200" cy="1417320"/>
          </a:xfrm>
          <a:prstGeom prst="roundRect">
            <a:avLst>
              <a:gd name="adj" fmla="val 8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061704" y="3383280"/>
            <a:ext cx="91440"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90304" y="3474720"/>
            <a:ext cx="640080" cy="274320"/>
          </a:xfrm>
          <a:prstGeom prst="rect">
            <a:avLst/>
          </a:prstGeom>
          <a:noFill/>
        </p:spPr>
        <p:txBody>
          <a:bodyPr wrap="square" lIns="36000" rIns="36000" tIns="18000" bIns="18000" anchor="t">
            <a:spAutoFit/>
          </a:bodyPr>
          <a:lstStyle/>
          <a:p>
            <a:pPr algn="l">
              <a:lnSpc>
                <a:spcPct val="120000"/>
              </a:lnSpc>
            </a:pPr>
            <a:r>
              <a:rPr sz="1000" b="1" i="0">
                <a:solidFill>
                  <a:srgbClr val="7C3AED"/>
                </a:solidFill>
                <a:latin typeface="Calibri"/>
              </a:rPr>
              <a:t>#08</a:t>
            </a:r>
          </a:p>
        </p:txBody>
      </p:sp>
      <p:sp>
        <p:nvSpPr>
          <p:cNvPr id="46" name="TextBox 45"/>
          <p:cNvSpPr txBox="1"/>
          <p:nvPr/>
        </p:nvSpPr>
        <p:spPr>
          <a:xfrm>
            <a:off x="9290304" y="3749040"/>
            <a:ext cx="2377440" cy="365760"/>
          </a:xfrm>
          <a:prstGeom prst="rect">
            <a:avLst/>
          </a:prstGeom>
          <a:noFill/>
        </p:spPr>
        <p:txBody>
          <a:bodyPr wrap="square" lIns="36000" rIns="36000" tIns="18000" bIns="18000" anchor="t">
            <a:spAutoFit/>
          </a:bodyPr>
          <a:lstStyle/>
          <a:p>
            <a:pPr algn="l">
              <a:lnSpc>
                <a:spcPct val="120000"/>
              </a:lnSpc>
            </a:pPr>
            <a:r>
              <a:rPr sz="1200" b="1" i="0">
                <a:solidFill>
                  <a:srgbClr val="0F172A"/>
                </a:solidFill>
                <a:latin typeface="Calibri"/>
              </a:rPr>
              <a:t>Voice / text fallback</a:t>
            </a:r>
          </a:p>
        </p:txBody>
      </p:sp>
      <p:sp>
        <p:nvSpPr>
          <p:cNvPr id="47" name="TextBox 46"/>
          <p:cNvSpPr txBox="1"/>
          <p:nvPr/>
        </p:nvSpPr>
        <p:spPr>
          <a:xfrm>
            <a:off x="9290304" y="4096512"/>
            <a:ext cx="2377440" cy="640080"/>
          </a:xfrm>
          <a:prstGeom prst="rect">
            <a:avLst/>
          </a:prstGeom>
          <a:noFill/>
        </p:spPr>
        <p:txBody>
          <a:bodyPr wrap="square" lIns="36000" rIns="36000" tIns="18000" bIns="18000" anchor="t">
            <a:spAutoFit/>
          </a:bodyPr>
          <a:lstStyle/>
          <a:p>
            <a:pPr algn="l">
              <a:lnSpc>
                <a:spcPct val="125000"/>
              </a:lnSpc>
            </a:pPr>
            <a:r>
              <a:rPr sz="950" b="0" i="1">
                <a:solidFill>
                  <a:srgbClr val="64748B"/>
                </a:solidFill>
                <a:latin typeface="Calibri"/>
              </a:rPr>
              <a:t>Mic-less users still get text chat, same AI brain.</a:t>
            </a:r>
          </a:p>
        </p:txBody>
      </p:sp>
      <p:sp>
        <p:nvSpPr>
          <p:cNvPr id="48" name="Rounded Rectangle 47"/>
          <p:cNvSpPr/>
          <p:nvPr/>
        </p:nvSpPr>
        <p:spPr>
          <a:xfrm>
            <a:off x="502920" y="4937760"/>
            <a:ext cx="2743200" cy="1417320"/>
          </a:xfrm>
          <a:prstGeom prst="roundRect">
            <a:avLst>
              <a:gd name="adj" fmla="val 8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2920" y="4937760"/>
            <a:ext cx="91440" cy="1417320"/>
          </a:xfrm>
          <a:prstGeom prst="rect">
            <a:avLst/>
          </a:prstGeom>
          <a:solidFill>
            <a:srgbClr val="0E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 y="5029200"/>
            <a:ext cx="640080" cy="274320"/>
          </a:xfrm>
          <a:prstGeom prst="rect">
            <a:avLst/>
          </a:prstGeom>
          <a:noFill/>
        </p:spPr>
        <p:txBody>
          <a:bodyPr wrap="square" lIns="36000" rIns="36000" tIns="18000" bIns="18000" anchor="t">
            <a:spAutoFit/>
          </a:bodyPr>
          <a:lstStyle/>
          <a:p>
            <a:pPr algn="l">
              <a:lnSpc>
                <a:spcPct val="120000"/>
              </a:lnSpc>
            </a:pPr>
            <a:r>
              <a:rPr sz="1000" b="1" i="0">
                <a:solidFill>
                  <a:srgbClr val="0E4F8A"/>
                </a:solidFill>
                <a:latin typeface="Calibri"/>
              </a:rPr>
              <a:t>#09</a:t>
            </a:r>
          </a:p>
        </p:txBody>
      </p:sp>
      <p:sp>
        <p:nvSpPr>
          <p:cNvPr id="51" name="TextBox 50"/>
          <p:cNvSpPr txBox="1"/>
          <p:nvPr/>
        </p:nvSpPr>
        <p:spPr>
          <a:xfrm>
            <a:off x="731520" y="5303520"/>
            <a:ext cx="2377440" cy="365760"/>
          </a:xfrm>
          <a:prstGeom prst="rect">
            <a:avLst/>
          </a:prstGeom>
          <a:noFill/>
        </p:spPr>
        <p:txBody>
          <a:bodyPr wrap="square" lIns="36000" rIns="36000" tIns="18000" bIns="18000" anchor="t">
            <a:spAutoFit/>
          </a:bodyPr>
          <a:lstStyle/>
          <a:p>
            <a:pPr algn="l">
              <a:lnSpc>
                <a:spcPct val="120000"/>
              </a:lnSpc>
            </a:pPr>
            <a:r>
              <a:rPr sz="1200" b="1" i="0">
                <a:solidFill>
                  <a:srgbClr val="0F172A"/>
                </a:solidFill>
                <a:latin typeface="Calibri"/>
              </a:rPr>
              <a:t>Doctor onboarding</a:t>
            </a:r>
          </a:p>
        </p:txBody>
      </p:sp>
      <p:sp>
        <p:nvSpPr>
          <p:cNvPr id="52" name="TextBox 51"/>
          <p:cNvSpPr txBox="1"/>
          <p:nvPr/>
        </p:nvSpPr>
        <p:spPr>
          <a:xfrm>
            <a:off x="731520" y="5650992"/>
            <a:ext cx="2377440" cy="640080"/>
          </a:xfrm>
          <a:prstGeom prst="rect">
            <a:avLst/>
          </a:prstGeom>
          <a:noFill/>
        </p:spPr>
        <p:txBody>
          <a:bodyPr wrap="square" lIns="36000" rIns="36000" tIns="18000" bIns="18000" anchor="t">
            <a:spAutoFit/>
          </a:bodyPr>
          <a:lstStyle/>
          <a:p>
            <a:pPr algn="l">
              <a:lnSpc>
                <a:spcPct val="125000"/>
              </a:lnSpc>
            </a:pPr>
            <a:r>
              <a:rPr sz="950" b="0" i="1">
                <a:solidFill>
                  <a:srgbClr val="64748B"/>
                </a:solidFill>
                <a:latin typeface="Calibri"/>
              </a:rPr>
              <a:t>Admin creates doctor → email goes out with temp password.</a:t>
            </a:r>
          </a:p>
        </p:txBody>
      </p:sp>
      <p:sp>
        <p:nvSpPr>
          <p:cNvPr id="53" name="Rounded Rectangle 52"/>
          <p:cNvSpPr/>
          <p:nvPr/>
        </p:nvSpPr>
        <p:spPr>
          <a:xfrm>
            <a:off x="3355848" y="4937760"/>
            <a:ext cx="2743200" cy="1417320"/>
          </a:xfrm>
          <a:prstGeom prst="roundRect">
            <a:avLst>
              <a:gd name="adj" fmla="val 8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355848" y="4937760"/>
            <a:ext cx="91440" cy="1417320"/>
          </a:xfrm>
          <a:prstGeom prst="rect">
            <a:avLst/>
          </a:prstGeom>
          <a:solidFill>
            <a:srgbClr val="06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584448" y="5029200"/>
            <a:ext cx="640080" cy="274320"/>
          </a:xfrm>
          <a:prstGeom prst="rect">
            <a:avLst/>
          </a:prstGeom>
          <a:noFill/>
        </p:spPr>
        <p:txBody>
          <a:bodyPr wrap="square" lIns="36000" rIns="36000" tIns="18000" bIns="18000" anchor="t">
            <a:spAutoFit/>
          </a:bodyPr>
          <a:lstStyle/>
          <a:p>
            <a:pPr algn="l">
              <a:lnSpc>
                <a:spcPct val="120000"/>
              </a:lnSpc>
            </a:pPr>
            <a:r>
              <a:rPr sz="1000" b="1" i="0">
                <a:solidFill>
                  <a:srgbClr val="066FA8"/>
                </a:solidFill>
                <a:latin typeface="Calibri"/>
              </a:rPr>
              <a:t>#10</a:t>
            </a:r>
          </a:p>
        </p:txBody>
      </p:sp>
      <p:sp>
        <p:nvSpPr>
          <p:cNvPr id="56" name="TextBox 55"/>
          <p:cNvSpPr txBox="1"/>
          <p:nvPr/>
        </p:nvSpPr>
        <p:spPr>
          <a:xfrm>
            <a:off x="3584448" y="5303520"/>
            <a:ext cx="2377440" cy="365760"/>
          </a:xfrm>
          <a:prstGeom prst="rect">
            <a:avLst/>
          </a:prstGeom>
          <a:noFill/>
        </p:spPr>
        <p:txBody>
          <a:bodyPr wrap="square" lIns="36000" rIns="36000" tIns="18000" bIns="18000" anchor="t">
            <a:spAutoFit/>
          </a:bodyPr>
          <a:lstStyle/>
          <a:p>
            <a:pPr algn="l">
              <a:lnSpc>
                <a:spcPct val="120000"/>
              </a:lnSpc>
            </a:pPr>
            <a:r>
              <a:rPr sz="1200" b="1" i="0">
                <a:solidFill>
                  <a:srgbClr val="0F172A"/>
                </a:solidFill>
                <a:latin typeface="Calibri"/>
              </a:rPr>
              <a:t>Password reset</a:t>
            </a:r>
          </a:p>
        </p:txBody>
      </p:sp>
      <p:sp>
        <p:nvSpPr>
          <p:cNvPr id="57" name="TextBox 56"/>
          <p:cNvSpPr txBox="1"/>
          <p:nvPr/>
        </p:nvSpPr>
        <p:spPr>
          <a:xfrm>
            <a:off x="3584448" y="5650992"/>
            <a:ext cx="2377440" cy="640080"/>
          </a:xfrm>
          <a:prstGeom prst="rect">
            <a:avLst/>
          </a:prstGeom>
          <a:noFill/>
        </p:spPr>
        <p:txBody>
          <a:bodyPr wrap="square" lIns="36000" rIns="36000" tIns="18000" bIns="18000" anchor="t">
            <a:spAutoFit/>
          </a:bodyPr>
          <a:lstStyle/>
          <a:p>
            <a:pPr algn="l">
              <a:lnSpc>
                <a:spcPct val="125000"/>
              </a:lnSpc>
            </a:pPr>
            <a:r>
              <a:rPr sz="950" b="0" i="1">
                <a:solidFill>
                  <a:srgbClr val="64748B"/>
                </a:solidFill>
                <a:latin typeface="Calibri"/>
              </a:rPr>
              <a:t>Admin can reset any doctor's password.</a:t>
            </a:r>
          </a:p>
        </p:txBody>
      </p:sp>
      <p:sp>
        <p:nvSpPr>
          <p:cNvPr id="58" name="Rounded Rectangle 57"/>
          <p:cNvSpPr/>
          <p:nvPr/>
        </p:nvSpPr>
        <p:spPr>
          <a:xfrm>
            <a:off x="6208776" y="4937760"/>
            <a:ext cx="2743200" cy="1417320"/>
          </a:xfrm>
          <a:prstGeom prst="roundRect">
            <a:avLst>
              <a:gd name="adj" fmla="val 8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208776" y="4937760"/>
            <a:ext cx="91440" cy="14173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37376" y="5029200"/>
            <a:ext cx="640080" cy="274320"/>
          </a:xfrm>
          <a:prstGeom prst="rect">
            <a:avLst/>
          </a:prstGeom>
          <a:noFill/>
        </p:spPr>
        <p:txBody>
          <a:bodyPr wrap="square" lIns="36000" rIns="36000" tIns="18000" bIns="18000" anchor="t">
            <a:spAutoFit/>
          </a:bodyPr>
          <a:lstStyle/>
          <a:p>
            <a:pPr algn="l">
              <a:lnSpc>
                <a:spcPct val="120000"/>
              </a:lnSpc>
            </a:pPr>
            <a:r>
              <a:rPr sz="1000" b="1" i="0">
                <a:solidFill>
                  <a:srgbClr val="14B8A6"/>
                </a:solidFill>
                <a:latin typeface="Calibri"/>
              </a:rPr>
              <a:t>#11</a:t>
            </a:r>
          </a:p>
        </p:txBody>
      </p:sp>
      <p:sp>
        <p:nvSpPr>
          <p:cNvPr id="61" name="TextBox 60"/>
          <p:cNvSpPr txBox="1"/>
          <p:nvPr/>
        </p:nvSpPr>
        <p:spPr>
          <a:xfrm>
            <a:off x="6437376" y="5303520"/>
            <a:ext cx="2377440" cy="365760"/>
          </a:xfrm>
          <a:prstGeom prst="rect">
            <a:avLst/>
          </a:prstGeom>
          <a:noFill/>
        </p:spPr>
        <p:txBody>
          <a:bodyPr wrap="square" lIns="36000" rIns="36000" tIns="18000" bIns="18000" anchor="t">
            <a:spAutoFit/>
          </a:bodyPr>
          <a:lstStyle/>
          <a:p>
            <a:pPr algn="l">
              <a:lnSpc>
                <a:spcPct val="120000"/>
              </a:lnSpc>
            </a:pPr>
            <a:r>
              <a:rPr sz="1200" b="1" i="0">
                <a:solidFill>
                  <a:srgbClr val="0F172A"/>
                </a:solidFill>
                <a:latin typeface="Calibri"/>
              </a:rPr>
              <a:t>Activate / deactivate</a:t>
            </a:r>
          </a:p>
        </p:txBody>
      </p:sp>
      <p:sp>
        <p:nvSpPr>
          <p:cNvPr id="62" name="TextBox 61"/>
          <p:cNvSpPr txBox="1"/>
          <p:nvPr/>
        </p:nvSpPr>
        <p:spPr>
          <a:xfrm>
            <a:off x="6437376" y="5650992"/>
            <a:ext cx="2377440" cy="640080"/>
          </a:xfrm>
          <a:prstGeom prst="rect">
            <a:avLst/>
          </a:prstGeom>
          <a:noFill/>
        </p:spPr>
        <p:txBody>
          <a:bodyPr wrap="square" lIns="36000" rIns="36000" tIns="18000" bIns="18000" anchor="t">
            <a:spAutoFit/>
          </a:bodyPr>
          <a:lstStyle/>
          <a:p>
            <a:pPr algn="l">
              <a:lnSpc>
                <a:spcPct val="125000"/>
              </a:lnSpc>
            </a:pPr>
            <a:r>
              <a:rPr sz="950" b="0" i="1">
                <a:solidFill>
                  <a:srgbClr val="64748B"/>
                </a:solidFill>
                <a:latin typeface="Calibri"/>
              </a:rPr>
              <a:t>Admin can suspend users in one click.</a:t>
            </a:r>
          </a:p>
        </p:txBody>
      </p:sp>
      <p:sp>
        <p:nvSpPr>
          <p:cNvPr id="63" name="Rounded Rectangle 62"/>
          <p:cNvSpPr/>
          <p:nvPr/>
        </p:nvSpPr>
        <p:spPr>
          <a:xfrm>
            <a:off x="9061704" y="4937760"/>
            <a:ext cx="2743200" cy="1417320"/>
          </a:xfrm>
          <a:prstGeom prst="roundRect">
            <a:avLst>
              <a:gd name="adj" fmla="val 8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061704" y="4937760"/>
            <a:ext cx="91440"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290304" y="5029200"/>
            <a:ext cx="640080" cy="274320"/>
          </a:xfrm>
          <a:prstGeom prst="rect">
            <a:avLst/>
          </a:prstGeom>
          <a:noFill/>
        </p:spPr>
        <p:txBody>
          <a:bodyPr wrap="square" lIns="36000" rIns="36000" tIns="18000" bIns="18000" anchor="t">
            <a:spAutoFit/>
          </a:bodyPr>
          <a:lstStyle/>
          <a:p>
            <a:pPr algn="l">
              <a:lnSpc>
                <a:spcPct val="120000"/>
              </a:lnSpc>
            </a:pPr>
            <a:r>
              <a:rPr sz="1000" b="1" i="0">
                <a:solidFill>
                  <a:srgbClr val="7C3AED"/>
                </a:solidFill>
                <a:latin typeface="Calibri"/>
              </a:rPr>
              <a:t>#12</a:t>
            </a:r>
          </a:p>
        </p:txBody>
      </p:sp>
      <p:sp>
        <p:nvSpPr>
          <p:cNvPr id="66" name="TextBox 65"/>
          <p:cNvSpPr txBox="1"/>
          <p:nvPr/>
        </p:nvSpPr>
        <p:spPr>
          <a:xfrm>
            <a:off x="9290304" y="5303520"/>
            <a:ext cx="2377440" cy="365760"/>
          </a:xfrm>
          <a:prstGeom prst="rect">
            <a:avLst/>
          </a:prstGeom>
          <a:noFill/>
        </p:spPr>
        <p:txBody>
          <a:bodyPr wrap="square" lIns="36000" rIns="36000" tIns="18000" bIns="18000" anchor="t">
            <a:spAutoFit/>
          </a:bodyPr>
          <a:lstStyle/>
          <a:p>
            <a:pPr algn="l">
              <a:lnSpc>
                <a:spcPct val="120000"/>
              </a:lnSpc>
            </a:pPr>
            <a:r>
              <a:rPr sz="1200" b="1" i="0">
                <a:solidFill>
                  <a:srgbClr val="0F172A"/>
                </a:solidFill>
                <a:latin typeface="Calibri"/>
              </a:rPr>
              <a:t>Analytics dashboard</a:t>
            </a:r>
          </a:p>
        </p:txBody>
      </p:sp>
      <p:sp>
        <p:nvSpPr>
          <p:cNvPr id="67" name="TextBox 66"/>
          <p:cNvSpPr txBox="1"/>
          <p:nvPr/>
        </p:nvSpPr>
        <p:spPr>
          <a:xfrm>
            <a:off x="9290304" y="5650992"/>
            <a:ext cx="2377440" cy="640080"/>
          </a:xfrm>
          <a:prstGeom prst="rect">
            <a:avLst/>
          </a:prstGeom>
          <a:noFill/>
        </p:spPr>
        <p:txBody>
          <a:bodyPr wrap="square" lIns="36000" rIns="36000" tIns="18000" bIns="18000" anchor="t">
            <a:spAutoFit/>
          </a:bodyPr>
          <a:lstStyle/>
          <a:p>
            <a:pPr algn="l">
              <a:lnSpc>
                <a:spcPct val="125000"/>
              </a:lnSpc>
            </a:pPr>
            <a:r>
              <a:rPr sz="950" b="0" i="1">
                <a:solidFill>
                  <a:srgbClr val="64748B"/>
                </a:solidFill>
                <a:latin typeface="Calibri"/>
              </a:rPr>
              <a:t>Visit counts, revenue, doctor load — pandas-powered.</a:t>
            </a:r>
          </a:p>
        </p:txBody>
      </p:sp>
      <p:sp>
        <p:nvSpPr>
          <p:cNvPr id="68" name="Rectangle 67"/>
          <p:cNvSpPr/>
          <p:nvPr/>
        </p:nvSpPr>
        <p:spPr>
          <a:xfrm>
            <a:off x="0" y="6565392"/>
            <a:ext cx="12191695" cy="29260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65760" y="6601968"/>
            <a:ext cx="8229600" cy="228600"/>
          </a:xfrm>
          <a:prstGeom prst="rect">
            <a:avLst/>
          </a:prstGeom>
          <a:noFill/>
        </p:spPr>
        <p:txBody>
          <a:bodyPr wrap="square" lIns="36000" rIns="36000" tIns="18000" bIns="18000" anchor="t">
            <a:spAutoFit/>
          </a:bodyPr>
          <a:lstStyle/>
          <a:p>
            <a:pPr algn="l">
              <a:lnSpc>
                <a:spcPct val="120000"/>
              </a:lnSpc>
            </a:pPr>
            <a:r>
              <a:rPr sz="900" b="0" i="1">
                <a:solidFill>
                  <a:srgbClr val="64748B"/>
                </a:solidFill>
                <a:latin typeface="Calibri"/>
              </a:rPr>
              <a:t>IPCMS — Integrated Patient Care Management System</a:t>
            </a:r>
          </a:p>
        </p:txBody>
      </p:sp>
      <p:sp>
        <p:nvSpPr>
          <p:cNvPr id="70" name="TextBox 69"/>
          <p:cNvSpPr txBox="1"/>
          <p:nvPr/>
        </p:nvSpPr>
        <p:spPr>
          <a:xfrm>
            <a:off x="10607040" y="6601968"/>
            <a:ext cx="1280160" cy="228600"/>
          </a:xfrm>
          <a:prstGeom prst="rect">
            <a:avLst/>
          </a:prstGeom>
          <a:noFill/>
        </p:spPr>
        <p:txBody>
          <a:bodyPr wrap="square" lIns="36000" rIns="36000" tIns="18000" bIns="18000" anchor="t">
            <a:spAutoFit/>
          </a:bodyPr>
          <a:lstStyle/>
          <a:p>
            <a:pPr algn="r">
              <a:lnSpc>
                <a:spcPct val="120000"/>
              </a:lnSpc>
            </a:pPr>
            <a:r>
              <a:rPr sz="900" b="0" i="0">
                <a:solidFill>
                  <a:srgbClr val="64748B"/>
                </a:solidFill>
                <a:latin typeface="Calibri"/>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972800" cy="256032"/>
          </a:xfrm>
          <a:prstGeom prst="rect">
            <a:avLst/>
          </a:prstGeom>
          <a:noFill/>
        </p:spPr>
        <p:txBody>
          <a:bodyPr wrap="square" lIns="36000" rIns="36000" tIns="18000" bIns="18000" anchor="t">
            <a:spAutoFit/>
          </a:bodyPr>
          <a:lstStyle/>
          <a:p>
            <a:pPr algn="l">
              <a:lnSpc>
                <a:spcPct val="120000"/>
              </a:lnSpc>
            </a:pPr>
            <a:r>
              <a:rPr sz="1000" b="1" i="0">
                <a:solidFill>
                  <a:srgbClr val="14B8A6"/>
                </a:solidFill>
                <a:latin typeface="Calibri"/>
              </a:rPr>
              <a:t>SECTION 10</a:t>
            </a:r>
          </a:p>
        </p:txBody>
      </p:sp>
      <p:sp>
        <p:nvSpPr>
          <p:cNvPr id="5" name="TextBox 4"/>
          <p:cNvSpPr txBox="1"/>
          <p:nvPr/>
        </p:nvSpPr>
        <p:spPr>
          <a:xfrm>
            <a:off x="713232" y="713232"/>
            <a:ext cx="11155680" cy="502920"/>
          </a:xfrm>
          <a:prstGeom prst="rect">
            <a:avLst/>
          </a:prstGeom>
          <a:noFill/>
        </p:spPr>
        <p:txBody>
          <a:bodyPr wrap="square" lIns="36000" rIns="36000" tIns="18000" bIns="18000" anchor="t">
            <a:spAutoFit/>
          </a:bodyPr>
          <a:lstStyle/>
          <a:p>
            <a:pPr algn="l">
              <a:lnSpc>
                <a:spcPct val="120000"/>
              </a:lnSpc>
            </a:pPr>
            <a:r>
              <a:rPr sz="2600" b="1" i="0">
                <a:solidFill>
                  <a:srgbClr val="0F172A"/>
                </a:solidFill>
                <a:latin typeface="Calibri"/>
              </a:rPr>
              <a:t>Core concepts</a:t>
            </a:r>
          </a:p>
        </p:txBody>
      </p:sp>
      <p:sp>
        <p:nvSpPr>
          <p:cNvPr id="6" name="TextBox 5"/>
          <p:cNvSpPr txBox="1"/>
          <p:nvPr/>
        </p:nvSpPr>
        <p:spPr>
          <a:xfrm>
            <a:off x="713232" y="1234440"/>
            <a:ext cx="11155680" cy="365760"/>
          </a:xfrm>
          <a:prstGeom prst="rect">
            <a:avLst/>
          </a:prstGeom>
          <a:noFill/>
        </p:spPr>
        <p:txBody>
          <a:bodyPr wrap="square" lIns="36000" rIns="36000" tIns="18000" bIns="18000" anchor="t">
            <a:spAutoFit/>
          </a:bodyPr>
          <a:lstStyle/>
          <a:p>
            <a:pPr algn="l">
              <a:lnSpc>
                <a:spcPct val="120000"/>
              </a:lnSpc>
            </a:pPr>
            <a:r>
              <a:rPr sz="1200" b="0" i="1">
                <a:solidFill>
                  <a:srgbClr val="64748B"/>
                </a:solidFill>
                <a:latin typeface="Calibri"/>
              </a:rPr>
              <a:t>The handful of ideas everything else hangs off.</a:t>
            </a:r>
          </a:p>
        </p:txBody>
      </p:sp>
      <p:cxnSp>
        <p:nvCxnSpPr>
          <p:cNvPr id="7" name="Connector 6"/>
          <p:cNvCxnSpPr/>
          <p:nvPr/>
        </p:nvCxnSpPr>
        <p:spPr>
          <a:xfrm>
            <a:off x="713232" y="1627632"/>
            <a:ext cx="10808208"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02920" y="1828800"/>
            <a:ext cx="5532120" cy="1417320"/>
          </a:xfrm>
          <a:prstGeom prst="roundRect">
            <a:avLst>
              <a:gd name="adj" fmla="val 5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2057400"/>
            <a:ext cx="502920" cy="502920"/>
          </a:xfrm>
          <a:prstGeom prst="roundRect">
            <a:avLst>
              <a:gd name="adj" fmla="val 50000"/>
            </a:avLst>
          </a:prstGeom>
          <a:solidFill>
            <a:srgbClr val="0E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57400"/>
            <a:ext cx="502920" cy="502920"/>
          </a:xfrm>
          <a:prstGeom prst="rect">
            <a:avLst/>
          </a:prstGeom>
          <a:noFill/>
        </p:spPr>
        <p:txBody>
          <a:bodyPr wrap="square" lIns="36000" rIns="36000" tIns="18000" bIns="18000" anchor="ctr">
            <a:spAutoFit/>
          </a:bodyPr>
          <a:lstStyle/>
          <a:p>
            <a:pPr algn="ctr">
              <a:lnSpc>
                <a:spcPct val="120000"/>
              </a:lnSpc>
            </a:pPr>
            <a:r>
              <a:rPr sz="1600" b="1" i="0">
                <a:solidFill>
                  <a:srgbClr val="FFFFFF"/>
                </a:solidFill>
                <a:latin typeface="Calibri"/>
              </a:rPr>
              <a:t>1</a:t>
            </a:r>
          </a:p>
        </p:txBody>
      </p:sp>
      <p:sp>
        <p:nvSpPr>
          <p:cNvPr id="11" name="TextBox 10"/>
          <p:cNvSpPr txBox="1"/>
          <p:nvPr/>
        </p:nvSpPr>
        <p:spPr>
          <a:xfrm>
            <a:off x="1417320" y="1993392"/>
            <a:ext cx="4434840" cy="365760"/>
          </a:xfrm>
          <a:prstGeom prst="rect">
            <a:avLst/>
          </a:prstGeom>
          <a:noFill/>
        </p:spPr>
        <p:txBody>
          <a:bodyPr wrap="square" lIns="36000" rIns="36000" tIns="18000" bIns="18000" anchor="t">
            <a:spAutoFit/>
          </a:bodyPr>
          <a:lstStyle/>
          <a:p>
            <a:pPr algn="l">
              <a:lnSpc>
                <a:spcPct val="120000"/>
              </a:lnSpc>
            </a:pPr>
            <a:r>
              <a:rPr sz="1350" b="1" i="0">
                <a:solidFill>
                  <a:srgbClr val="0F172A"/>
                </a:solidFill>
                <a:latin typeface="Calibri"/>
              </a:rPr>
              <a:t>Role</a:t>
            </a:r>
          </a:p>
        </p:txBody>
      </p:sp>
      <p:sp>
        <p:nvSpPr>
          <p:cNvPr id="12" name="TextBox 11"/>
          <p:cNvSpPr txBox="1"/>
          <p:nvPr/>
        </p:nvSpPr>
        <p:spPr>
          <a:xfrm>
            <a:off x="1417320" y="2359152"/>
            <a:ext cx="4434840" cy="868680"/>
          </a:xfrm>
          <a:prstGeom prst="rect">
            <a:avLst/>
          </a:prstGeom>
          <a:noFill/>
        </p:spPr>
        <p:txBody>
          <a:bodyPr wrap="square" lIns="36000" rIns="36000" tIns="18000" bIns="18000" anchor="t">
            <a:spAutoFit/>
          </a:bodyPr>
          <a:lstStyle/>
          <a:p>
            <a:pPr algn="l">
              <a:lnSpc>
                <a:spcPct val="130000"/>
              </a:lnSpc>
            </a:pPr>
            <a:r>
              <a:rPr sz="1050" b="0" i="0">
                <a:solidFill>
                  <a:srgbClr val="334E68"/>
                </a:solidFill>
                <a:latin typeface="Calibri"/>
              </a:rPr>
              <a:t>The single switch that decides which dashboard renders. Stored on the users table, enforced server-side, never trusted from the browser.</a:t>
            </a:r>
          </a:p>
        </p:txBody>
      </p:sp>
      <p:sp>
        <p:nvSpPr>
          <p:cNvPr id="13" name="Rounded Rectangle 12"/>
          <p:cNvSpPr/>
          <p:nvPr/>
        </p:nvSpPr>
        <p:spPr>
          <a:xfrm>
            <a:off x="6172200" y="1828800"/>
            <a:ext cx="5532120" cy="1417320"/>
          </a:xfrm>
          <a:prstGeom prst="roundRect">
            <a:avLst>
              <a:gd name="adj" fmla="val 5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800" y="2057400"/>
            <a:ext cx="502920" cy="502920"/>
          </a:xfrm>
          <a:prstGeom prst="roundRect">
            <a:avLst>
              <a:gd name="adj" fmla="val 50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057400"/>
            <a:ext cx="502920" cy="502920"/>
          </a:xfrm>
          <a:prstGeom prst="rect">
            <a:avLst/>
          </a:prstGeom>
          <a:noFill/>
        </p:spPr>
        <p:txBody>
          <a:bodyPr wrap="square" lIns="36000" rIns="36000" tIns="18000" bIns="18000" anchor="ctr">
            <a:spAutoFit/>
          </a:bodyPr>
          <a:lstStyle/>
          <a:p>
            <a:pPr algn="ctr">
              <a:lnSpc>
                <a:spcPct val="120000"/>
              </a:lnSpc>
            </a:pPr>
            <a:r>
              <a:rPr sz="1600" b="1" i="0">
                <a:solidFill>
                  <a:srgbClr val="FFFFFF"/>
                </a:solidFill>
                <a:latin typeface="Calibri"/>
              </a:rPr>
              <a:t>2</a:t>
            </a:r>
          </a:p>
        </p:txBody>
      </p:sp>
      <p:sp>
        <p:nvSpPr>
          <p:cNvPr id="16" name="TextBox 15"/>
          <p:cNvSpPr txBox="1"/>
          <p:nvPr/>
        </p:nvSpPr>
        <p:spPr>
          <a:xfrm>
            <a:off x="7086600" y="1993392"/>
            <a:ext cx="4434840" cy="365760"/>
          </a:xfrm>
          <a:prstGeom prst="rect">
            <a:avLst/>
          </a:prstGeom>
          <a:noFill/>
        </p:spPr>
        <p:txBody>
          <a:bodyPr wrap="square" lIns="36000" rIns="36000" tIns="18000" bIns="18000" anchor="t">
            <a:spAutoFit/>
          </a:bodyPr>
          <a:lstStyle/>
          <a:p>
            <a:pPr algn="l">
              <a:lnSpc>
                <a:spcPct val="120000"/>
              </a:lnSpc>
            </a:pPr>
            <a:r>
              <a:rPr sz="1350" b="1" i="0">
                <a:solidFill>
                  <a:srgbClr val="0F172A"/>
                </a:solidFill>
                <a:latin typeface="Calibri"/>
              </a:rPr>
              <a:t>Visit</a:t>
            </a:r>
          </a:p>
        </p:txBody>
      </p:sp>
      <p:sp>
        <p:nvSpPr>
          <p:cNvPr id="17" name="TextBox 16"/>
          <p:cNvSpPr txBox="1"/>
          <p:nvPr/>
        </p:nvSpPr>
        <p:spPr>
          <a:xfrm>
            <a:off x="7086600" y="2359152"/>
            <a:ext cx="4434840" cy="868680"/>
          </a:xfrm>
          <a:prstGeom prst="rect">
            <a:avLst/>
          </a:prstGeom>
          <a:noFill/>
        </p:spPr>
        <p:txBody>
          <a:bodyPr wrap="square" lIns="36000" rIns="36000" tIns="18000" bIns="18000" anchor="t">
            <a:spAutoFit/>
          </a:bodyPr>
          <a:lstStyle/>
          <a:p>
            <a:pPr algn="l">
              <a:lnSpc>
                <a:spcPct val="130000"/>
              </a:lnSpc>
            </a:pPr>
            <a:r>
              <a:rPr sz="1050" b="0" i="0">
                <a:solidFill>
                  <a:srgbClr val="334E68"/>
                </a:solidFill>
                <a:latin typeface="Calibri"/>
              </a:rPr>
              <a:t>An appointment becomes a visit only after the doctor marks it complete — that's when AI summary, prescription, and PDF kick in.</a:t>
            </a:r>
          </a:p>
        </p:txBody>
      </p:sp>
      <p:sp>
        <p:nvSpPr>
          <p:cNvPr id="18" name="Rounded Rectangle 17"/>
          <p:cNvSpPr/>
          <p:nvPr/>
        </p:nvSpPr>
        <p:spPr>
          <a:xfrm>
            <a:off x="502920" y="3383280"/>
            <a:ext cx="5532120" cy="1417320"/>
          </a:xfrm>
          <a:prstGeom prst="roundRect">
            <a:avLst>
              <a:gd name="adj" fmla="val 5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3611880"/>
            <a:ext cx="502920" cy="502920"/>
          </a:xfrm>
          <a:prstGeom prst="roundRect">
            <a:avLst>
              <a:gd name="adj" fmla="val 50000"/>
            </a:avLst>
          </a:prstGeom>
          <a:solidFill>
            <a:srgbClr val="06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611880"/>
            <a:ext cx="502920" cy="502920"/>
          </a:xfrm>
          <a:prstGeom prst="rect">
            <a:avLst/>
          </a:prstGeom>
          <a:noFill/>
        </p:spPr>
        <p:txBody>
          <a:bodyPr wrap="square" lIns="36000" rIns="36000" tIns="18000" bIns="18000" anchor="ctr">
            <a:spAutoFit/>
          </a:bodyPr>
          <a:lstStyle/>
          <a:p>
            <a:pPr algn="ctr">
              <a:lnSpc>
                <a:spcPct val="120000"/>
              </a:lnSpc>
            </a:pPr>
            <a:r>
              <a:rPr sz="1600" b="1" i="0">
                <a:solidFill>
                  <a:srgbClr val="FFFFFF"/>
                </a:solidFill>
                <a:latin typeface="Calibri"/>
              </a:rPr>
              <a:t>3</a:t>
            </a:r>
          </a:p>
        </p:txBody>
      </p:sp>
      <p:sp>
        <p:nvSpPr>
          <p:cNvPr id="21" name="TextBox 20"/>
          <p:cNvSpPr txBox="1"/>
          <p:nvPr/>
        </p:nvSpPr>
        <p:spPr>
          <a:xfrm>
            <a:off x="1417320" y="3547872"/>
            <a:ext cx="4434840" cy="365760"/>
          </a:xfrm>
          <a:prstGeom prst="rect">
            <a:avLst/>
          </a:prstGeom>
          <a:noFill/>
        </p:spPr>
        <p:txBody>
          <a:bodyPr wrap="square" lIns="36000" rIns="36000" tIns="18000" bIns="18000" anchor="t">
            <a:spAutoFit/>
          </a:bodyPr>
          <a:lstStyle/>
          <a:p>
            <a:pPr algn="l">
              <a:lnSpc>
                <a:spcPct val="120000"/>
              </a:lnSpc>
            </a:pPr>
            <a:r>
              <a:rPr sz="1350" b="1" i="0">
                <a:solidFill>
                  <a:srgbClr val="0F172A"/>
                </a:solidFill>
                <a:latin typeface="Calibri"/>
              </a:rPr>
              <a:t>Slot</a:t>
            </a:r>
          </a:p>
        </p:txBody>
      </p:sp>
      <p:sp>
        <p:nvSpPr>
          <p:cNvPr id="22" name="TextBox 21"/>
          <p:cNvSpPr txBox="1"/>
          <p:nvPr/>
        </p:nvSpPr>
        <p:spPr>
          <a:xfrm>
            <a:off x="1417320" y="3913632"/>
            <a:ext cx="4434840" cy="868680"/>
          </a:xfrm>
          <a:prstGeom prst="rect">
            <a:avLst/>
          </a:prstGeom>
          <a:noFill/>
        </p:spPr>
        <p:txBody>
          <a:bodyPr wrap="square" lIns="36000" rIns="36000" tIns="18000" bIns="18000" anchor="t">
            <a:spAutoFit/>
          </a:bodyPr>
          <a:lstStyle/>
          <a:p>
            <a:pPr algn="l">
              <a:lnSpc>
                <a:spcPct val="130000"/>
              </a:lnSpc>
            </a:pPr>
            <a:r>
              <a:rPr sz="1050" b="0" i="0">
                <a:solidFill>
                  <a:srgbClr val="334E68"/>
                </a:solidFill>
                <a:latin typeface="Calibri"/>
              </a:rPr>
              <a:t>A (doctor, weekday, time-window) tuple. Free / booked is computed, not stored — fewer race conditions.</a:t>
            </a:r>
          </a:p>
        </p:txBody>
      </p:sp>
      <p:sp>
        <p:nvSpPr>
          <p:cNvPr id="23" name="Rounded Rectangle 22"/>
          <p:cNvSpPr/>
          <p:nvPr/>
        </p:nvSpPr>
        <p:spPr>
          <a:xfrm>
            <a:off x="6172200" y="3383280"/>
            <a:ext cx="5532120" cy="1417320"/>
          </a:xfrm>
          <a:prstGeom prst="roundRect">
            <a:avLst>
              <a:gd name="adj" fmla="val 5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00800" y="3611880"/>
            <a:ext cx="502920" cy="502920"/>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3611880"/>
            <a:ext cx="502920" cy="502920"/>
          </a:xfrm>
          <a:prstGeom prst="rect">
            <a:avLst/>
          </a:prstGeom>
          <a:noFill/>
        </p:spPr>
        <p:txBody>
          <a:bodyPr wrap="square" lIns="36000" rIns="36000" tIns="18000" bIns="18000" anchor="ctr">
            <a:spAutoFit/>
          </a:bodyPr>
          <a:lstStyle/>
          <a:p>
            <a:pPr algn="ctr">
              <a:lnSpc>
                <a:spcPct val="120000"/>
              </a:lnSpc>
            </a:pPr>
            <a:r>
              <a:rPr sz="1600" b="1" i="0">
                <a:solidFill>
                  <a:srgbClr val="FFFFFF"/>
                </a:solidFill>
                <a:latin typeface="Calibri"/>
              </a:rPr>
              <a:t>4</a:t>
            </a:r>
          </a:p>
        </p:txBody>
      </p:sp>
      <p:sp>
        <p:nvSpPr>
          <p:cNvPr id="26" name="TextBox 25"/>
          <p:cNvSpPr txBox="1"/>
          <p:nvPr/>
        </p:nvSpPr>
        <p:spPr>
          <a:xfrm>
            <a:off x="7086600" y="3547872"/>
            <a:ext cx="4434840" cy="365760"/>
          </a:xfrm>
          <a:prstGeom prst="rect">
            <a:avLst/>
          </a:prstGeom>
          <a:noFill/>
        </p:spPr>
        <p:txBody>
          <a:bodyPr wrap="square" lIns="36000" rIns="36000" tIns="18000" bIns="18000" anchor="t">
            <a:spAutoFit/>
          </a:bodyPr>
          <a:lstStyle/>
          <a:p>
            <a:pPr algn="l">
              <a:lnSpc>
                <a:spcPct val="120000"/>
              </a:lnSpc>
            </a:pPr>
            <a:r>
              <a:rPr sz="1350" b="1" i="0">
                <a:solidFill>
                  <a:srgbClr val="0F172A"/>
                </a:solidFill>
                <a:latin typeface="Calibri"/>
              </a:rPr>
              <a:t>AI context</a:t>
            </a:r>
          </a:p>
        </p:txBody>
      </p:sp>
      <p:sp>
        <p:nvSpPr>
          <p:cNvPr id="27" name="TextBox 26"/>
          <p:cNvSpPr txBox="1"/>
          <p:nvPr/>
        </p:nvSpPr>
        <p:spPr>
          <a:xfrm>
            <a:off x="7086600" y="3913632"/>
            <a:ext cx="4434840" cy="868680"/>
          </a:xfrm>
          <a:prstGeom prst="rect">
            <a:avLst/>
          </a:prstGeom>
          <a:noFill/>
        </p:spPr>
        <p:txBody>
          <a:bodyPr wrap="square" lIns="36000" rIns="36000" tIns="18000" bIns="18000" anchor="t">
            <a:spAutoFit/>
          </a:bodyPr>
          <a:lstStyle/>
          <a:p>
            <a:pPr algn="l">
              <a:lnSpc>
                <a:spcPct val="130000"/>
              </a:lnSpc>
            </a:pPr>
            <a:r>
              <a:rPr sz="1050" b="0" i="0">
                <a:solidFill>
                  <a:srgbClr val="334E68"/>
                </a:solidFill>
                <a:latin typeface="Calibri"/>
              </a:rPr>
              <a:t>Every LLM call is given the same DB slice the user is looking at. This is what makes 'book Dr. Sharma at 4pm' actually work.</a:t>
            </a:r>
          </a:p>
        </p:txBody>
      </p:sp>
      <p:sp>
        <p:nvSpPr>
          <p:cNvPr id="28" name="Rounded Rectangle 27"/>
          <p:cNvSpPr/>
          <p:nvPr/>
        </p:nvSpPr>
        <p:spPr>
          <a:xfrm>
            <a:off x="502920" y="4937760"/>
            <a:ext cx="5532120" cy="1417320"/>
          </a:xfrm>
          <a:prstGeom prst="roundRect">
            <a:avLst>
              <a:gd name="adj" fmla="val 5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31520" y="5166360"/>
            <a:ext cx="502920" cy="502920"/>
          </a:xfrm>
          <a:prstGeom prst="roundRect">
            <a:avLst>
              <a:gd name="adj" fmla="val 50000"/>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5166360"/>
            <a:ext cx="502920" cy="502920"/>
          </a:xfrm>
          <a:prstGeom prst="rect">
            <a:avLst/>
          </a:prstGeom>
          <a:noFill/>
        </p:spPr>
        <p:txBody>
          <a:bodyPr wrap="square" lIns="36000" rIns="36000" tIns="18000" bIns="18000" anchor="ctr">
            <a:spAutoFit/>
          </a:bodyPr>
          <a:lstStyle/>
          <a:p>
            <a:pPr algn="ctr">
              <a:lnSpc>
                <a:spcPct val="120000"/>
              </a:lnSpc>
            </a:pPr>
            <a:r>
              <a:rPr sz="1600" b="1" i="0">
                <a:solidFill>
                  <a:srgbClr val="FFFFFF"/>
                </a:solidFill>
                <a:latin typeface="Calibri"/>
              </a:rPr>
              <a:t>5</a:t>
            </a:r>
          </a:p>
        </p:txBody>
      </p:sp>
      <p:sp>
        <p:nvSpPr>
          <p:cNvPr id="31" name="TextBox 30"/>
          <p:cNvSpPr txBox="1"/>
          <p:nvPr/>
        </p:nvSpPr>
        <p:spPr>
          <a:xfrm>
            <a:off x="1417320" y="5102352"/>
            <a:ext cx="4434840" cy="365760"/>
          </a:xfrm>
          <a:prstGeom prst="rect">
            <a:avLst/>
          </a:prstGeom>
          <a:noFill/>
        </p:spPr>
        <p:txBody>
          <a:bodyPr wrap="square" lIns="36000" rIns="36000" tIns="18000" bIns="18000" anchor="t">
            <a:spAutoFit/>
          </a:bodyPr>
          <a:lstStyle/>
          <a:p>
            <a:pPr algn="l">
              <a:lnSpc>
                <a:spcPct val="120000"/>
              </a:lnSpc>
            </a:pPr>
            <a:r>
              <a:rPr sz="1350" b="1" i="0">
                <a:solidFill>
                  <a:srgbClr val="0F172A"/>
                </a:solidFill>
                <a:latin typeface="Calibri"/>
              </a:rPr>
              <a:t>Voice loop</a:t>
            </a:r>
          </a:p>
        </p:txBody>
      </p:sp>
      <p:sp>
        <p:nvSpPr>
          <p:cNvPr id="32" name="TextBox 31"/>
          <p:cNvSpPr txBox="1"/>
          <p:nvPr/>
        </p:nvSpPr>
        <p:spPr>
          <a:xfrm>
            <a:off x="1417320" y="5468112"/>
            <a:ext cx="4434840" cy="868680"/>
          </a:xfrm>
          <a:prstGeom prst="rect">
            <a:avLst/>
          </a:prstGeom>
          <a:noFill/>
        </p:spPr>
        <p:txBody>
          <a:bodyPr wrap="square" lIns="36000" rIns="36000" tIns="18000" bIns="18000" anchor="t">
            <a:spAutoFit/>
          </a:bodyPr>
          <a:lstStyle/>
          <a:p>
            <a:pPr algn="l">
              <a:lnSpc>
                <a:spcPct val="130000"/>
              </a:lnSpc>
            </a:pPr>
            <a:r>
              <a:rPr sz="1050" b="0" i="0">
                <a:solidFill>
                  <a:srgbClr val="334E68"/>
                </a:solidFill>
                <a:latin typeface="Calibri"/>
              </a:rPr>
              <a:t>Browser mic → STT → backend LLM → TTS → speaker. Each step falls back independently if the next one fails.</a:t>
            </a:r>
          </a:p>
        </p:txBody>
      </p:sp>
      <p:sp>
        <p:nvSpPr>
          <p:cNvPr id="33" name="Rounded Rectangle 32"/>
          <p:cNvSpPr/>
          <p:nvPr/>
        </p:nvSpPr>
        <p:spPr>
          <a:xfrm>
            <a:off x="6172200" y="4937760"/>
            <a:ext cx="5532120" cy="1417320"/>
          </a:xfrm>
          <a:prstGeom prst="roundRect">
            <a:avLst>
              <a:gd name="adj" fmla="val 5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400800" y="5166360"/>
            <a:ext cx="502920" cy="502920"/>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5166360"/>
            <a:ext cx="502920" cy="502920"/>
          </a:xfrm>
          <a:prstGeom prst="rect">
            <a:avLst/>
          </a:prstGeom>
          <a:noFill/>
        </p:spPr>
        <p:txBody>
          <a:bodyPr wrap="square" lIns="36000" rIns="36000" tIns="18000" bIns="18000" anchor="ctr">
            <a:spAutoFit/>
          </a:bodyPr>
          <a:lstStyle/>
          <a:p>
            <a:pPr algn="ctr">
              <a:lnSpc>
                <a:spcPct val="120000"/>
              </a:lnSpc>
            </a:pPr>
            <a:r>
              <a:rPr sz="1600" b="1" i="0">
                <a:solidFill>
                  <a:srgbClr val="FFFFFF"/>
                </a:solidFill>
                <a:latin typeface="Calibri"/>
              </a:rPr>
              <a:t>6</a:t>
            </a:r>
          </a:p>
        </p:txBody>
      </p:sp>
      <p:sp>
        <p:nvSpPr>
          <p:cNvPr id="36" name="TextBox 35"/>
          <p:cNvSpPr txBox="1"/>
          <p:nvPr/>
        </p:nvSpPr>
        <p:spPr>
          <a:xfrm>
            <a:off x="7086600" y="5102352"/>
            <a:ext cx="4434840" cy="365760"/>
          </a:xfrm>
          <a:prstGeom prst="rect">
            <a:avLst/>
          </a:prstGeom>
          <a:noFill/>
        </p:spPr>
        <p:txBody>
          <a:bodyPr wrap="square" lIns="36000" rIns="36000" tIns="18000" bIns="18000" anchor="t">
            <a:spAutoFit/>
          </a:bodyPr>
          <a:lstStyle/>
          <a:p>
            <a:pPr algn="l">
              <a:lnSpc>
                <a:spcPct val="120000"/>
              </a:lnSpc>
            </a:pPr>
            <a:r>
              <a:rPr sz="1350" b="1" i="0">
                <a:solidFill>
                  <a:srgbClr val="0F172A"/>
                </a:solidFill>
                <a:latin typeface="Calibri"/>
              </a:rPr>
              <a:t>One DB, three views</a:t>
            </a:r>
          </a:p>
        </p:txBody>
      </p:sp>
      <p:sp>
        <p:nvSpPr>
          <p:cNvPr id="37" name="TextBox 36"/>
          <p:cNvSpPr txBox="1"/>
          <p:nvPr/>
        </p:nvSpPr>
        <p:spPr>
          <a:xfrm>
            <a:off x="7086600" y="5468112"/>
            <a:ext cx="4434840" cy="868680"/>
          </a:xfrm>
          <a:prstGeom prst="rect">
            <a:avLst/>
          </a:prstGeom>
          <a:noFill/>
        </p:spPr>
        <p:txBody>
          <a:bodyPr wrap="square" lIns="36000" rIns="36000" tIns="18000" bIns="18000" anchor="t">
            <a:spAutoFit/>
          </a:bodyPr>
          <a:lstStyle/>
          <a:p>
            <a:pPr algn="l">
              <a:lnSpc>
                <a:spcPct val="130000"/>
              </a:lnSpc>
            </a:pPr>
            <a:r>
              <a:rPr sz="1050" b="0" i="0">
                <a:solidFill>
                  <a:srgbClr val="334E68"/>
                </a:solidFill>
                <a:latin typeface="Calibri"/>
              </a:rPr>
              <a:t>Patients, doctors and admins all read the same rows — only the columns and actions differ.</a:t>
            </a:r>
          </a:p>
        </p:txBody>
      </p:sp>
      <p:sp>
        <p:nvSpPr>
          <p:cNvPr id="38" name="Rectangle 37"/>
          <p:cNvSpPr/>
          <p:nvPr/>
        </p:nvSpPr>
        <p:spPr>
          <a:xfrm>
            <a:off x="0" y="6565392"/>
            <a:ext cx="12191695" cy="29260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6601968"/>
            <a:ext cx="8229600" cy="228600"/>
          </a:xfrm>
          <a:prstGeom prst="rect">
            <a:avLst/>
          </a:prstGeom>
          <a:noFill/>
        </p:spPr>
        <p:txBody>
          <a:bodyPr wrap="square" lIns="36000" rIns="36000" tIns="18000" bIns="18000" anchor="t">
            <a:spAutoFit/>
          </a:bodyPr>
          <a:lstStyle/>
          <a:p>
            <a:pPr algn="l">
              <a:lnSpc>
                <a:spcPct val="120000"/>
              </a:lnSpc>
            </a:pPr>
            <a:r>
              <a:rPr sz="900" b="0" i="1">
                <a:solidFill>
                  <a:srgbClr val="64748B"/>
                </a:solidFill>
                <a:latin typeface="Calibri"/>
              </a:rPr>
              <a:t>IPCMS — Integrated Patient Care Management System</a:t>
            </a:r>
          </a:p>
        </p:txBody>
      </p:sp>
      <p:sp>
        <p:nvSpPr>
          <p:cNvPr id="40" name="TextBox 39"/>
          <p:cNvSpPr txBox="1"/>
          <p:nvPr/>
        </p:nvSpPr>
        <p:spPr>
          <a:xfrm>
            <a:off x="10607040" y="6601968"/>
            <a:ext cx="1280160" cy="228600"/>
          </a:xfrm>
          <a:prstGeom prst="rect">
            <a:avLst/>
          </a:prstGeom>
          <a:noFill/>
        </p:spPr>
        <p:txBody>
          <a:bodyPr wrap="square" lIns="36000" rIns="36000" tIns="18000" bIns="18000" anchor="t">
            <a:spAutoFit/>
          </a:bodyPr>
          <a:lstStyle/>
          <a:p>
            <a:pPr algn="r">
              <a:lnSpc>
                <a:spcPct val="120000"/>
              </a:lnSpc>
            </a:pPr>
            <a:r>
              <a:rPr sz="900" b="0" i="0">
                <a:solidFill>
                  <a:srgbClr val="64748B"/>
                </a:solidFill>
                <a:latin typeface="Calibri"/>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02920"/>
            <a:ext cx="109728"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57200"/>
            <a:ext cx="10972800" cy="256032"/>
          </a:xfrm>
          <a:prstGeom prst="rect">
            <a:avLst/>
          </a:prstGeom>
          <a:noFill/>
        </p:spPr>
        <p:txBody>
          <a:bodyPr wrap="square" lIns="36000" rIns="36000" tIns="18000" bIns="18000" anchor="t">
            <a:spAutoFit/>
          </a:bodyPr>
          <a:lstStyle/>
          <a:p>
            <a:pPr algn="l">
              <a:lnSpc>
                <a:spcPct val="120000"/>
              </a:lnSpc>
            </a:pPr>
            <a:r>
              <a:rPr sz="1000" b="1" i="0">
                <a:solidFill>
                  <a:srgbClr val="14B8A6"/>
                </a:solidFill>
                <a:latin typeface="Calibri"/>
              </a:rPr>
              <a:t>SECTION 11</a:t>
            </a:r>
          </a:p>
        </p:txBody>
      </p:sp>
      <p:sp>
        <p:nvSpPr>
          <p:cNvPr id="5" name="TextBox 4"/>
          <p:cNvSpPr txBox="1"/>
          <p:nvPr/>
        </p:nvSpPr>
        <p:spPr>
          <a:xfrm>
            <a:off x="713232" y="713232"/>
            <a:ext cx="11155680" cy="502920"/>
          </a:xfrm>
          <a:prstGeom prst="rect">
            <a:avLst/>
          </a:prstGeom>
          <a:noFill/>
        </p:spPr>
        <p:txBody>
          <a:bodyPr wrap="square" lIns="36000" rIns="36000" tIns="18000" bIns="18000" anchor="t">
            <a:spAutoFit/>
          </a:bodyPr>
          <a:lstStyle/>
          <a:p>
            <a:pPr algn="l">
              <a:lnSpc>
                <a:spcPct val="120000"/>
              </a:lnSpc>
            </a:pPr>
            <a:r>
              <a:rPr sz="2600" b="1" i="0">
                <a:solidFill>
                  <a:srgbClr val="0F172A"/>
                </a:solidFill>
                <a:latin typeface="Calibri"/>
              </a:rPr>
              <a:t>Difficulties, honestly</a:t>
            </a:r>
          </a:p>
        </p:txBody>
      </p:sp>
      <p:sp>
        <p:nvSpPr>
          <p:cNvPr id="6" name="TextBox 5"/>
          <p:cNvSpPr txBox="1"/>
          <p:nvPr/>
        </p:nvSpPr>
        <p:spPr>
          <a:xfrm>
            <a:off x="713232" y="1234440"/>
            <a:ext cx="11155680" cy="365760"/>
          </a:xfrm>
          <a:prstGeom prst="rect">
            <a:avLst/>
          </a:prstGeom>
          <a:noFill/>
        </p:spPr>
        <p:txBody>
          <a:bodyPr wrap="square" lIns="36000" rIns="36000" tIns="18000" bIns="18000" anchor="t">
            <a:spAutoFit/>
          </a:bodyPr>
          <a:lstStyle/>
          <a:p>
            <a:pPr algn="l">
              <a:lnSpc>
                <a:spcPct val="120000"/>
              </a:lnSpc>
            </a:pPr>
            <a:r>
              <a:rPr sz="1200" b="0" i="1">
                <a:solidFill>
                  <a:srgbClr val="64748B"/>
                </a:solidFill>
                <a:latin typeface="Calibri"/>
              </a:rPr>
              <a:t>Things that took longer than they should have.</a:t>
            </a:r>
          </a:p>
        </p:txBody>
      </p:sp>
      <p:cxnSp>
        <p:nvCxnSpPr>
          <p:cNvPr id="7" name="Connector 6"/>
          <p:cNvCxnSpPr/>
          <p:nvPr/>
        </p:nvCxnSpPr>
        <p:spPr>
          <a:xfrm>
            <a:off x="713232" y="1627632"/>
            <a:ext cx="10808208" cy="0"/>
          </a:xfrm>
          <a:prstGeom prst="line">
            <a:avLst/>
          </a:prstGeom>
          <a:ln w="9525">
            <a:solidFill>
              <a:srgbClr val="CBD5E1"/>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02920" y="1828800"/>
            <a:ext cx="5532120" cy="1463040"/>
          </a:xfrm>
          <a:prstGeom prst="roundRect">
            <a:avLst>
              <a:gd name="adj" fmla="val 4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28800"/>
            <a:ext cx="109728" cy="14630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20240"/>
            <a:ext cx="5074920" cy="320040"/>
          </a:xfrm>
          <a:prstGeom prst="rect">
            <a:avLst/>
          </a:prstGeom>
          <a:noFill/>
        </p:spPr>
        <p:txBody>
          <a:bodyPr wrap="square" lIns="36000" rIns="36000" tIns="18000" bIns="18000" anchor="t">
            <a:spAutoFit/>
          </a:bodyPr>
          <a:lstStyle/>
          <a:p>
            <a:pPr algn="l">
              <a:lnSpc>
                <a:spcPct val="120000"/>
              </a:lnSpc>
            </a:pPr>
            <a:r>
              <a:rPr sz="1150" b="1" i="0">
                <a:solidFill>
                  <a:srgbClr val="0F172A"/>
                </a:solidFill>
                <a:latin typeface="Calibri"/>
              </a:rPr>
              <a:t>MySQL not running locally</a:t>
            </a:r>
          </a:p>
        </p:txBody>
      </p:sp>
      <p:sp>
        <p:nvSpPr>
          <p:cNvPr id="11" name="TextBox 10"/>
          <p:cNvSpPr txBox="1"/>
          <p:nvPr/>
        </p:nvSpPr>
        <p:spPr>
          <a:xfrm>
            <a:off x="777240" y="2249424"/>
            <a:ext cx="5074920" cy="1005840"/>
          </a:xfrm>
          <a:prstGeom prst="rect">
            <a:avLst/>
          </a:prstGeom>
          <a:noFill/>
        </p:spPr>
        <p:txBody>
          <a:bodyPr wrap="square" lIns="36000" rIns="36000" tIns="18000" bIns="18000" anchor="t">
            <a:spAutoFit/>
          </a:bodyPr>
          <a:lstStyle/>
          <a:p>
            <a:pPr algn="l">
              <a:lnSpc>
                <a:spcPct val="125000"/>
              </a:lnSpc>
            </a:pPr>
            <a:r>
              <a:rPr sz="950" b="0" i="1">
                <a:solidFill>
                  <a:srgbClr val="334E68"/>
                </a:solidFill>
                <a:latin typeface="Calibri"/>
              </a:rPr>
              <a:t>Most laptops don't have MySQL. First launch crashed. Fix: dynamic db_config + UI prompt to enter creds.</a:t>
            </a:r>
          </a:p>
        </p:txBody>
      </p:sp>
      <p:sp>
        <p:nvSpPr>
          <p:cNvPr id="12" name="Rounded Rectangle 11"/>
          <p:cNvSpPr/>
          <p:nvPr/>
        </p:nvSpPr>
        <p:spPr>
          <a:xfrm>
            <a:off x="6172200" y="1828800"/>
            <a:ext cx="5532120" cy="1463040"/>
          </a:xfrm>
          <a:prstGeom prst="roundRect">
            <a:avLst>
              <a:gd name="adj" fmla="val 4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828800"/>
            <a:ext cx="109728" cy="14630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920240"/>
            <a:ext cx="5074920" cy="320040"/>
          </a:xfrm>
          <a:prstGeom prst="rect">
            <a:avLst/>
          </a:prstGeom>
          <a:noFill/>
        </p:spPr>
        <p:txBody>
          <a:bodyPr wrap="square" lIns="36000" rIns="36000" tIns="18000" bIns="18000" anchor="t">
            <a:spAutoFit/>
          </a:bodyPr>
          <a:lstStyle/>
          <a:p>
            <a:pPr algn="l">
              <a:lnSpc>
                <a:spcPct val="120000"/>
              </a:lnSpc>
            </a:pPr>
            <a:r>
              <a:rPr sz="1150" b="1" i="0">
                <a:solidFill>
                  <a:srgbClr val="0F172A"/>
                </a:solidFill>
                <a:latin typeface="Calibri"/>
              </a:rPr>
              <a:t>Streamlit reruns everything</a:t>
            </a:r>
          </a:p>
        </p:txBody>
      </p:sp>
      <p:sp>
        <p:nvSpPr>
          <p:cNvPr id="15" name="TextBox 14"/>
          <p:cNvSpPr txBox="1"/>
          <p:nvPr/>
        </p:nvSpPr>
        <p:spPr>
          <a:xfrm>
            <a:off x="6446520" y="2249424"/>
            <a:ext cx="5074920" cy="1005840"/>
          </a:xfrm>
          <a:prstGeom prst="rect">
            <a:avLst/>
          </a:prstGeom>
          <a:noFill/>
        </p:spPr>
        <p:txBody>
          <a:bodyPr wrap="square" lIns="36000" rIns="36000" tIns="18000" bIns="18000" anchor="t">
            <a:spAutoFit/>
          </a:bodyPr>
          <a:lstStyle/>
          <a:p>
            <a:pPr algn="l">
              <a:lnSpc>
                <a:spcPct val="125000"/>
              </a:lnSpc>
            </a:pPr>
            <a:r>
              <a:rPr sz="950" b="0" i="1">
                <a:solidFill>
                  <a:srgbClr val="334E68"/>
                </a:solidFill>
                <a:latin typeface="Calibri"/>
              </a:rPr>
              <a:t>Any click reruns the whole script; LLM calls fired multiple times. Fix: st.session_state for chat history.</a:t>
            </a:r>
          </a:p>
        </p:txBody>
      </p:sp>
      <p:sp>
        <p:nvSpPr>
          <p:cNvPr id="16" name="Rounded Rectangle 15"/>
          <p:cNvSpPr/>
          <p:nvPr/>
        </p:nvSpPr>
        <p:spPr>
          <a:xfrm>
            <a:off x="502920" y="3410712"/>
            <a:ext cx="5532120" cy="1463040"/>
          </a:xfrm>
          <a:prstGeom prst="roundRect">
            <a:avLst>
              <a:gd name="adj" fmla="val 4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3410712"/>
            <a:ext cx="109728" cy="14630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502152"/>
            <a:ext cx="5074920" cy="320040"/>
          </a:xfrm>
          <a:prstGeom prst="rect">
            <a:avLst/>
          </a:prstGeom>
          <a:noFill/>
        </p:spPr>
        <p:txBody>
          <a:bodyPr wrap="square" lIns="36000" rIns="36000" tIns="18000" bIns="18000" anchor="t">
            <a:spAutoFit/>
          </a:bodyPr>
          <a:lstStyle/>
          <a:p>
            <a:pPr algn="l">
              <a:lnSpc>
                <a:spcPct val="120000"/>
              </a:lnSpc>
            </a:pPr>
            <a:r>
              <a:rPr sz="1150" b="1" i="0">
                <a:solidFill>
                  <a:srgbClr val="0F172A"/>
                </a:solidFill>
                <a:latin typeface="Calibri"/>
              </a:rPr>
              <a:t>OAuth redirect in dev</a:t>
            </a:r>
          </a:p>
        </p:txBody>
      </p:sp>
      <p:sp>
        <p:nvSpPr>
          <p:cNvPr id="19" name="TextBox 18"/>
          <p:cNvSpPr txBox="1"/>
          <p:nvPr/>
        </p:nvSpPr>
        <p:spPr>
          <a:xfrm>
            <a:off x="777240" y="3831336"/>
            <a:ext cx="5074920" cy="1005840"/>
          </a:xfrm>
          <a:prstGeom prst="rect">
            <a:avLst/>
          </a:prstGeom>
          <a:noFill/>
        </p:spPr>
        <p:txBody>
          <a:bodyPr wrap="square" lIns="36000" rIns="36000" tIns="18000" bIns="18000" anchor="t">
            <a:spAutoFit/>
          </a:bodyPr>
          <a:lstStyle/>
          <a:p>
            <a:pPr algn="l">
              <a:lnSpc>
                <a:spcPct val="125000"/>
              </a:lnSpc>
            </a:pPr>
            <a:r>
              <a:rPr sz="950" b="0" i="1">
                <a:solidFill>
                  <a:srgbClr val="334E68"/>
                </a:solidFill>
                <a:latin typeface="Calibri"/>
              </a:rPr>
              <a:t>Google OAuth needs exact redirect URIs. localhost:8501 worked, 127.0.0.1 didn't. Hard-coded the redirect URI in auth.py.</a:t>
            </a:r>
          </a:p>
        </p:txBody>
      </p:sp>
      <p:sp>
        <p:nvSpPr>
          <p:cNvPr id="20" name="Rounded Rectangle 19"/>
          <p:cNvSpPr/>
          <p:nvPr/>
        </p:nvSpPr>
        <p:spPr>
          <a:xfrm>
            <a:off x="6172200" y="3410712"/>
            <a:ext cx="5532120" cy="1463040"/>
          </a:xfrm>
          <a:prstGeom prst="roundRect">
            <a:avLst>
              <a:gd name="adj" fmla="val 4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3410712"/>
            <a:ext cx="109728" cy="14630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3502152"/>
            <a:ext cx="5074920" cy="320040"/>
          </a:xfrm>
          <a:prstGeom prst="rect">
            <a:avLst/>
          </a:prstGeom>
          <a:noFill/>
        </p:spPr>
        <p:txBody>
          <a:bodyPr wrap="square" lIns="36000" rIns="36000" tIns="18000" bIns="18000" anchor="t">
            <a:spAutoFit/>
          </a:bodyPr>
          <a:lstStyle/>
          <a:p>
            <a:pPr algn="l">
              <a:lnSpc>
                <a:spcPct val="120000"/>
              </a:lnSpc>
            </a:pPr>
            <a:r>
              <a:rPr sz="1150" b="1" i="0">
                <a:solidFill>
                  <a:srgbClr val="0F172A"/>
                </a:solidFill>
                <a:latin typeface="Calibri"/>
              </a:rPr>
              <a:t>AI cost + latency</a:t>
            </a:r>
          </a:p>
        </p:txBody>
      </p:sp>
      <p:sp>
        <p:nvSpPr>
          <p:cNvPr id="23" name="TextBox 22"/>
          <p:cNvSpPr txBox="1"/>
          <p:nvPr/>
        </p:nvSpPr>
        <p:spPr>
          <a:xfrm>
            <a:off x="6446520" y="3831336"/>
            <a:ext cx="5074920" cy="1005840"/>
          </a:xfrm>
          <a:prstGeom prst="rect">
            <a:avLst/>
          </a:prstGeom>
          <a:noFill/>
        </p:spPr>
        <p:txBody>
          <a:bodyPr wrap="square" lIns="36000" rIns="36000" tIns="18000" bIns="18000" anchor="t">
            <a:spAutoFit/>
          </a:bodyPr>
          <a:lstStyle/>
          <a:p>
            <a:pPr algn="l">
              <a:lnSpc>
                <a:spcPct val="125000"/>
              </a:lnSpc>
            </a:pPr>
            <a:r>
              <a:rPr sz="950" b="0" i="1">
                <a:solidFill>
                  <a:srgbClr val="334E68"/>
                </a:solidFill>
                <a:latin typeface="Calibri"/>
              </a:rPr>
              <a:t>Long LLM calls blocked the UI. Fix: st.spinner, smaller prompts, llama-3.1-8b-instant fallback for short queries.</a:t>
            </a:r>
          </a:p>
        </p:txBody>
      </p:sp>
      <p:sp>
        <p:nvSpPr>
          <p:cNvPr id="24" name="Rounded Rectangle 23"/>
          <p:cNvSpPr/>
          <p:nvPr/>
        </p:nvSpPr>
        <p:spPr>
          <a:xfrm>
            <a:off x="502920" y="4992624"/>
            <a:ext cx="5532120" cy="1463040"/>
          </a:xfrm>
          <a:prstGeom prst="roundRect">
            <a:avLst>
              <a:gd name="adj" fmla="val 4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4992624"/>
            <a:ext cx="109728" cy="14630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084064"/>
            <a:ext cx="5074920" cy="320040"/>
          </a:xfrm>
          <a:prstGeom prst="rect">
            <a:avLst/>
          </a:prstGeom>
          <a:noFill/>
        </p:spPr>
        <p:txBody>
          <a:bodyPr wrap="square" lIns="36000" rIns="36000" tIns="18000" bIns="18000" anchor="t">
            <a:spAutoFit/>
          </a:bodyPr>
          <a:lstStyle/>
          <a:p>
            <a:pPr algn="l">
              <a:lnSpc>
                <a:spcPct val="120000"/>
              </a:lnSpc>
            </a:pPr>
            <a:r>
              <a:rPr sz="1150" b="1" i="0">
                <a:solidFill>
                  <a:srgbClr val="0F172A"/>
                </a:solidFill>
                <a:latin typeface="Calibri"/>
              </a:rPr>
              <a:t>Voice in the browser</a:t>
            </a:r>
          </a:p>
        </p:txBody>
      </p:sp>
      <p:sp>
        <p:nvSpPr>
          <p:cNvPr id="27" name="TextBox 26"/>
          <p:cNvSpPr txBox="1"/>
          <p:nvPr/>
        </p:nvSpPr>
        <p:spPr>
          <a:xfrm>
            <a:off x="777240" y="5413248"/>
            <a:ext cx="5074920" cy="1005840"/>
          </a:xfrm>
          <a:prstGeom prst="rect">
            <a:avLst/>
          </a:prstGeom>
          <a:noFill/>
        </p:spPr>
        <p:txBody>
          <a:bodyPr wrap="square" lIns="36000" rIns="36000" tIns="18000" bIns="18000" anchor="t">
            <a:spAutoFit/>
          </a:bodyPr>
          <a:lstStyle/>
          <a:p>
            <a:pPr algn="l">
              <a:lnSpc>
                <a:spcPct val="125000"/>
              </a:lnSpc>
            </a:pPr>
            <a:r>
              <a:rPr sz="950" b="0" i="1">
                <a:solidFill>
                  <a:srgbClr val="334E68"/>
                </a:solidFill>
                <a:latin typeface="Calibri"/>
              </a:rPr>
              <a:t>Web Speech needs user gesture + HTTPS (or localhost). Worked in dev, will need HTTPS in production.</a:t>
            </a:r>
          </a:p>
        </p:txBody>
      </p:sp>
      <p:sp>
        <p:nvSpPr>
          <p:cNvPr id="28" name="Rounded Rectangle 27"/>
          <p:cNvSpPr/>
          <p:nvPr/>
        </p:nvSpPr>
        <p:spPr>
          <a:xfrm>
            <a:off x="6172200" y="4992624"/>
            <a:ext cx="5532120" cy="1463040"/>
          </a:xfrm>
          <a:prstGeom prst="roundRect">
            <a:avLst>
              <a:gd name="adj" fmla="val 4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72200" y="4992624"/>
            <a:ext cx="109728" cy="14630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46520" y="5084064"/>
            <a:ext cx="5074920" cy="320040"/>
          </a:xfrm>
          <a:prstGeom prst="rect">
            <a:avLst/>
          </a:prstGeom>
          <a:noFill/>
        </p:spPr>
        <p:txBody>
          <a:bodyPr wrap="square" lIns="36000" rIns="36000" tIns="18000" bIns="18000" anchor="t">
            <a:spAutoFit/>
          </a:bodyPr>
          <a:lstStyle/>
          <a:p>
            <a:pPr algn="l">
              <a:lnSpc>
                <a:spcPct val="120000"/>
              </a:lnSpc>
            </a:pPr>
            <a:r>
              <a:rPr sz="1150" b="1" i="0">
                <a:solidFill>
                  <a:srgbClr val="0F172A"/>
                </a:solidFill>
                <a:latin typeface="Calibri"/>
              </a:rPr>
              <a:t>Schema drift MySQL/SQLite</a:t>
            </a:r>
          </a:p>
        </p:txBody>
      </p:sp>
      <p:sp>
        <p:nvSpPr>
          <p:cNvPr id="31" name="TextBox 30"/>
          <p:cNvSpPr txBox="1"/>
          <p:nvPr/>
        </p:nvSpPr>
        <p:spPr>
          <a:xfrm>
            <a:off x="6446520" y="5413248"/>
            <a:ext cx="5074920" cy="1005840"/>
          </a:xfrm>
          <a:prstGeom prst="rect">
            <a:avLst/>
          </a:prstGeom>
          <a:noFill/>
        </p:spPr>
        <p:txBody>
          <a:bodyPr wrap="square" lIns="36000" rIns="36000" tIns="18000" bIns="18000" anchor="t">
            <a:spAutoFit/>
          </a:bodyPr>
          <a:lstStyle/>
          <a:p>
            <a:pPr algn="l">
              <a:lnSpc>
                <a:spcPct val="125000"/>
              </a:lnSpc>
            </a:pPr>
            <a:r>
              <a:rPr sz="950" b="0" i="1">
                <a:solidFill>
                  <a:srgbClr val="334E68"/>
                </a:solidFill>
                <a:latin typeface="Calibri"/>
              </a:rPr>
              <a:t>AUTO_INCREMENT vs AUTOINCREMENT, BOOL vs BOOLEAN. Fix: dialect-aware schema builder in db.py.</a:t>
            </a:r>
          </a:p>
        </p:txBody>
      </p:sp>
      <p:sp>
        <p:nvSpPr>
          <p:cNvPr id="32" name="Rectangle 31"/>
          <p:cNvSpPr/>
          <p:nvPr/>
        </p:nvSpPr>
        <p:spPr>
          <a:xfrm>
            <a:off x="0" y="6565392"/>
            <a:ext cx="12191695" cy="29260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6601968"/>
            <a:ext cx="8229600" cy="228600"/>
          </a:xfrm>
          <a:prstGeom prst="rect">
            <a:avLst/>
          </a:prstGeom>
          <a:noFill/>
        </p:spPr>
        <p:txBody>
          <a:bodyPr wrap="square" lIns="36000" rIns="36000" tIns="18000" bIns="18000" anchor="t">
            <a:spAutoFit/>
          </a:bodyPr>
          <a:lstStyle/>
          <a:p>
            <a:pPr algn="l">
              <a:lnSpc>
                <a:spcPct val="120000"/>
              </a:lnSpc>
            </a:pPr>
            <a:r>
              <a:rPr sz="900" b="0" i="1">
                <a:solidFill>
                  <a:srgbClr val="64748B"/>
                </a:solidFill>
                <a:latin typeface="Calibri"/>
              </a:rPr>
              <a:t>IPCMS — Integrated Patient Care Management System</a:t>
            </a:r>
          </a:p>
        </p:txBody>
      </p:sp>
      <p:sp>
        <p:nvSpPr>
          <p:cNvPr id="34" name="TextBox 33"/>
          <p:cNvSpPr txBox="1"/>
          <p:nvPr/>
        </p:nvSpPr>
        <p:spPr>
          <a:xfrm>
            <a:off x="10607040" y="6601968"/>
            <a:ext cx="1280160" cy="228600"/>
          </a:xfrm>
          <a:prstGeom prst="rect">
            <a:avLst/>
          </a:prstGeom>
          <a:noFill/>
        </p:spPr>
        <p:txBody>
          <a:bodyPr wrap="square" lIns="36000" rIns="36000" tIns="18000" bIns="18000" anchor="t">
            <a:spAutoFit/>
          </a:bodyPr>
          <a:lstStyle/>
          <a:p>
            <a:pPr algn="r">
              <a:lnSpc>
                <a:spcPct val="120000"/>
              </a:lnSpc>
            </a:pPr>
            <a:r>
              <a:rPr sz="900" b="0" i="0">
                <a:solidFill>
                  <a:srgbClr val="64748B"/>
                </a:solidFill>
                <a:latin typeface="Calibri"/>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00"/>
          </a:xfrm>
          <a:prstGeom prst="rect">
            <a:avLst/>
          </a:prstGeom>
          <a:solidFill>
            <a:srgbClr val="0E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200400"/>
            <a:ext cx="12191695" cy="5486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601200" y="-1371600"/>
            <a:ext cx="3200400" cy="3200400"/>
          </a:xfrm>
          <a:prstGeom prst="ellipse">
            <a:avLst/>
          </a:prstGeom>
          <a:solidFill>
            <a:srgbClr val="06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789920" y="731520"/>
            <a:ext cx="1828800" cy="182880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0080"/>
            <a:ext cx="10058400" cy="365760"/>
          </a:xfrm>
          <a:prstGeom prst="rect">
            <a:avLst/>
          </a:prstGeom>
          <a:noFill/>
        </p:spPr>
        <p:txBody>
          <a:bodyPr wrap="square" lIns="36000" rIns="36000" tIns="18000" bIns="18000" anchor="t">
            <a:spAutoFit/>
          </a:bodyPr>
          <a:lstStyle/>
          <a:p>
            <a:pPr algn="l">
              <a:lnSpc>
                <a:spcPct val="120000"/>
              </a:lnSpc>
            </a:pPr>
            <a:r>
              <a:rPr sz="1400" b="1" i="0">
                <a:solidFill>
                  <a:srgbClr val="14B8A6"/>
                </a:solidFill>
                <a:latin typeface="Calibri"/>
              </a:rPr>
              <a:t>THANK YOU</a:t>
            </a:r>
          </a:p>
        </p:txBody>
      </p:sp>
      <p:sp>
        <p:nvSpPr>
          <p:cNvPr id="8" name="TextBox 7"/>
          <p:cNvSpPr txBox="1"/>
          <p:nvPr/>
        </p:nvSpPr>
        <p:spPr>
          <a:xfrm>
            <a:off x="640080" y="960120"/>
            <a:ext cx="10058400" cy="1097280"/>
          </a:xfrm>
          <a:prstGeom prst="rect">
            <a:avLst/>
          </a:prstGeom>
          <a:noFill/>
        </p:spPr>
        <p:txBody>
          <a:bodyPr wrap="square" lIns="36000" rIns="36000" tIns="18000" bIns="18000" anchor="t">
            <a:spAutoFit/>
          </a:bodyPr>
          <a:lstStyle/>
          <a:p>
            <a:pPr algn="l">
              <a:lnSpc>
                <a:spcPct val="120000"/>
              </a:lnSpc>
            </a:pPr>
            <a:r>
              <a:rPr sz="4400" b="1" i="0">
                <a:solidFill>
                  <a:srgbClr val="FFFFFF"/>
                </a:solidFill>
                <a:latin typeface="Calibri"/>
              </a:rPr>
              <a:t>That's IPCMS.</a:t>
            </a:r>
          </a:p>
        </p:txBody>
      </p:sp>
      <p:sp>
        <p:nvSpPr>
          <p:cNvPr id="9" name="TextBox 8"/>
          <p:cNvSpPr txBox="1"/>
          <p:nvPr/>
        </p:nvSpPr>
        <p:spPr>
          <a:xfrm>
            <a:off x="640080" y="2011680"/>
            <a:ext cx="9144000" cy="822960"/>
          </a:xfrm>
          <a:prstGeom prst="rect">
            <a:avLst/>
          </a:prstGeom>
          <a:noFill/>
        </p:spPr>
        <p:txBody>
          <a:bodyPr wrap="square" lIns="36000" rIns="36000" tIns="18000" bIns="18000" anchor="t">
            <a:spAutoFit/>
          </a:bodyPr>
          <a:lstStyle/>
          <a:p>
            <a:pPr algn="l">
              <a:lnSpc>
                <a:spcPct val="140000"/>
              </a:lnSpc>
            </a:pPr>
            <a:r>
              <a:rPr sz="1400" b="0" i="1">
                <a:solidFill>
                  <a:srgbClr val="CCFBF1"/>
                </a:solidFill>
                <a:latin typeface="Calibri"/>
              </a:rPr>
              <a:t>A patient-care app that doesn't pretend AI is magic — it just moves the right information to the right person, faster.</a:t>
            </a:r>
          </a:p>
        </p:txBody>
      </p:sp>
      <p:sp>
        <p:nvSpPr>
          <p:cNvPr id="10" name="Rounded Rectangle 9"/>
          <p:cNvSpPr/>
          <p:nvPr/>
        </p:nvSpPr>
        <p:spPr>
          <a:xfrm>
            <a:off x="502920" y="3520440"/>
            <a:ext cx="3703320" cy="2788920"/>
          </a:xfrm>
          <a:prstGeom prst="roundRect">
            <a:avLst>
              <a:gd name="adj" fmla="val 4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520440"/>
            <a:ext cx="3703320" cy="502920"/>
          </a:xfrm>
          <a:prstGeom prst="rect">
            <a:avLst/>
          </a:prstGeom>
          <a:solidFill>
            <a:srgbClr val="0E4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520440"/>
            <a:ext cx="3154680" cy="502920"/>
          </a:xfrm>
          <a:prstGeom prst="rect">
            <a:avLst/>
          </a:prstGeom>
          <a:noFill/>
        </p:spPr>
        <p:txBody>
          <a:bodyPr wrap="square" lIns="36000" rIns="36000" tIns="18000" bIns="18000" anchor="ctr">
            <a:spAutoFit/>
          </a:bodyPr>
          <a:lstStyle/>
          <a:p>
            <a:pPr algn="l">
              <a:lnSpc>
                <a:spcPct val="120000"/>
              </a:lnSpc>
            </a:pPr>
            <a:r>
              <a:rPr sz="1300" b="1" i="0">
                <a:solidFill>
                  <a:srgbClr val="FFFFFF"/>
                </a:solidFill>
                <a:latin typeface="Calibri"/>
              </a:rPr>
              <a:t>What you'd build next</a:t>
            </a:r>
          </a:p>
        </p:txBody>
      </p:sp>
      <p:sp>
        <p:nvSpPr>
          <p:cNvPr id="13" name="TextBox 12"/>
          <p:cNvSpPr txBox="1"/>
          <p:nvPr/>
        </p:nvSpPr>
        <p:spPr>
          <a:xfrm>
            <a:off x="777240" y="4206240"/>
            <a:ext cx="3246120" cy="1965960"/>
          </a:xfrm>
          <a:prstGeom prst="rect">
            <a:avLst/>
          </a:prstGeom>
          <a:noFill/>
        </p:spPr>
        <p:txBody>
          <a:bodyPr wrap="square" lIns="36000" rIns="36000" tIns="18000" bIns="18000">
            <a:spAutoFit/>
          </a:bodyPr>
          <a:lstStyle/>
          <a:p>
            <a:pPr algn="l">
              <a:lnSpc>
                <a:spcPct val="140000"/>
              </a:lnSpc>
              <a:spcBef>
                <a:spcPts val="300"/>
              </a:spcBef>
              <a:spcAft>
                <a:spcPts val="200"/>
              </a:spcAft>
            </a:pPr>
            <a:r>
              <a:rPr sz="1050">
                <a:solidFill>
                  <a:srgbClr val="334E68"/>
                </a:solidFill>
                <a:latin typeface="Calibri"/>
              </a:rPr>
              <a:t>•  Multi-language chatbot (Hindi, Spanish).</a:t>
            </a:r>
          </a:p>
          <a:p>
            <a:pPr algn="l">
              <a:lnSpc>
                <a:spcPct val="140000"/>
              </a:lnSpc>
              <a:spcBef>
                <a:spcPts val="300"/>
              </a:spcBef>
              <a:spcAft>
                <a:spcPts val="200"/>
              </a:spcAft>
            </a:pPr>
            <a:r>
              <a:rPr sz="1050">
                <a:solidFill>
                  <a:srgbClr val="334E68"/>
                </a:solidFill>
                <a:latin typeface="Calibri"/>
              </a:rPr>
              <a:t>•  Doctor-side calendar sync (Google Calendar).</a:t>
            </a:r>
          </a:p>
          <a:p>
            <a:pPr algn="l">
              <a:lnSpc>
                <a:spcPct val="140000"/>
              </a:lnSpc>
              <a:spcBef>
                <a:spcPts val="300"/>
              </a:spcBef>
              <a:spcAft>
                <a:spcPts val="200"/>
              </a:spcAft>
            </a:pPr>
            <a:r>
              <a:rPr sz="1050">
                <a:solidFill>
                  <a:srgbClr val="334E68"/>
                </a:solidFill>
                <a:latin typeface="Calibri"/>
              </a:rPr>
              <a:t>•  Insurance + billing module.</a:t>
            </a:r>
          </a:p>
          <a:p>
            <a:pPr algn="l">
              <a:lnSpc>
                <a:spcPct val="140000"/>
              </a:lnSpc>
              <a:spcBef>
                <a:spcPts val="300"/>
              </a:spcBef>
              <a:spcAft>
                <a:spcPts val="200"/>
              </a:spcAft>
            </a:pPr>
            <a:r>
              <a:rPr sz="1050">
                <a:solidFill>
                  <a:srgbClr val="334E68"/>
                </a:solidFill>
                <a:latin typeface="Calibri"/>
              </a:rPr>
              <a:t>•  Mobile-first layout (current is desktop-tuned).</a:t>
            </a:r>
          </a:p>
        </p:txBody>
      </p:sp>
      <p:sp>
        <p:nvSpPr>
          <p:cNvPr id="14" name="Rounded Rectangle 13"/>
          <p:cNvSpPr/>
          <p:nvPr/>
        </p:nvSpPr>
        <p:spPr>
          <a:xfrm>
            <a:off x="4343400" y="3520440"/>
            <a:ext cx="3703320" cy="2788920"/>
          </a:xfrm>
          <a:prstGeom prst="roundRect">
            <a:avLst>
              <a:gd name="adj" fmla="val 4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3520440"/>
            <a:ext cx="3703320" cy="5029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20" y="3520440"/>
            <a:ext cx="3154680" cy="502920"/>
          </a:xfrm>
          <a:prstGeom prst="rect">
            <a:avLst/>
          </a:prstGeom>
          <a:noFill/>
        </p:spPr>
        <p:txBody>
          <a:bodyPr wrap="square" lIns="36000" rIns="36000" tIns="18000" bIns="18000" anchor="ctr">
            <a:spAutoFit/>
          </a:bodyPr>
          <a:lstStyle/>
          <a:p>
            <a:pPr algn="l">
              <a:lnSpc>
                <a:spcPct val="120000"/>
              </a:lnSpc>
            </a:pPr>
            <a:r>
              <a:rPr sz="1300" b="1" i="0">
                <a:solidFill>
                  <a:srgbClr val="FFFFFF"/>
                </a:solidFill>
                <a:latin typeface="Calibri"/>
              </a:rPr>
              <a:t>What I'd watch</a:t>
            </a:r>
          </a:p>
        </p:txBody>
      </p:sp>
      <p:sp>
        <p:nvSpPr>
          <p:cNvPr id="17" name="TextBox 16"/>
          <p:cNvSpPr txBox="1"/>
          <p:nvPr/>
        </p:nvSpPr>
        <p:spPr>
          <a:xfrm>
            <a:off x="4617720" y="4206240"/>
            <a:ext cx="3246120" cy="1965960"/>
          </a:xfrm>
          <a:prstGeom prst="rect">
            <a:avLst/>
          </a:prstGeom>
          <a:noFill/>
        </p:spPr>
        <p:txBody>
          <a:bodyPr wrap="square" lIns="36000" rIns="36000" tIns="18000" bIns="18000">
            <a:spAutoFit/>
          </a:bodyPr>
          <a:lstStyle/>
          <a:p>
            <a:pPr algn="l">
              <a:lnSpc>
                <a:spcPct val="140000"/>
              </a:lnSpc>
              <a:spcBef>
                <a:spcPts val="300"/>
              </a:spcBef>
              <a:spcAft>
                <a:spcPts val="200"/>
              </a:spcAft>
            </a:pPr>
            <a:r>
              <a:rPr sz="1050">
                <a:solidFill>
                  <a:srgbClr val="334E68"/>
                </a:solidFill>
                <a:latin typeface="Calibri"/>
              </a:rPr>
              <a:t>•  LLM cost scaling with concurrent doctors.</a:t>
            </a:r>
          </a:p>
          <a:p>
            <a:pPr algn="l">
              <a:lnSpc>
                <a:spcPct val="140000"/>
              </a:lnSpc>
              <a:spcBef>
                <a:spcPts val="300"/>
              </a:spcBef>
              <a:spcAft>
                <a:spcPts val="200"/>
              </a:spcAft>
            </a:pPr>
            <a:r>
              <a:rPr sz="1050">
                <a:solidFill>
                  <a:srgbClr val="334E68"/>
                </a:solidFill>
                <a:latin typeface="Calibri"/>
              </a:rPr>
              <a:t>•  MySQL connection pool under load.</a:t>
            </a:r>
          </a:p>
          <a:p>
            <a:pPr algn="l">
              <a:lnSpc>
                <a:spcPct val="140000"/>
              </a:lnSpc>
              <a:spcBef>
                <a:spcPts val="300"/>
              </a:spcBef>
              <a:spcAft>
                <a:spcPts val="200"/>
              </a:spcAft>
            </a:pPr>
            <a:r>
              <a:rPr sz="1050">
                <a:solidFill>
                  <a:srgbClr val="334E68"/>
                </a:solidFill>
                <a:latin typeface="Calibri"/>
              </a:rPr>
              <a:t>•  PII safety in AI prompts — no raw history leaks.</a:t>
            </a:r>
          </a:p>
          <a:p>
            <a:pPr algn="l">
              <a:lnSpc>
                <a:spcPct val="140000"/>
              </a:lnSpc>
              <a:spcBef>
                <a:spcPts val="300"/>
              </a:spcBef>
              <a:spcAft>
                <a:spcPts val="200"/>
              </a:spcAft>
            </a:pPr>
            <a:r>
              <a:rPr sz="1050">
                <a:solidFill>
                  <a:srgbClr val="334E68"/>
                </a:solidFill>
                <a:latin typeface="Calibri"/>
              </a:rPr>
              <a:t>•  Voice latency on low-end devices.</a:t>
            </a:r>
          </a:p>
        </p:txBody>
      </p:sp>
      <p:sp>
        <p:nvSpPr>
          <p:cNvPr id="18" name="Rounded Rectangle 17"/>
          <p:cNvSpPr/>
          <p:nvPr/>
        </p:nvSpPr>
        <p:spPr>
          <a:xfrm>
            <a:off x="8183880" y="3520440"/>
            <a:ext cx="3703320" cy="2788920"/>
          </a:xfrm>
          <a:prstGeom prst="roundRect">
            <a:avLst>
              <a:gd name="adj" fmla="val 4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83880" y="3520440"/>
            <a:ext cx="3703320"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58200" y="3520440"/>
            <a:ext cx="3154680" cy="502920"/>
          </a:xfrm>
          <a:prstGeom prst="rect">
            <a:avLst/>
          </a:prstGeom>
          <a:noFill/>
        </p:spPr>
        <p:txBody>
          <a:bodyPr wrap="square" lIns="36000" rIns="36000" tIns="18000" bIns="18000" anchor="ctr">
            <a:spAutoFit/>
          </a:bodyPr>
          <a:lstStyle/>
          <a:p>
            <a:pPr algn="l">
              <a:lnSpc>
                <a:spcPct val="120000"/>
              </a:lnSpc>
            </a:pPr>
            <a:r>
              <a:rPr sz="1300" b="1" i="0">
                <a:solidFill>
                  <a:srgbClr val="FFFFFF"/>
                </a:solidFill>
                <a:latin typeface="Calibri"/>
              </a:rPr>
              <a:t>Where to look first</a:t>
            </a:r>
          </a:p>
        </p:txBody>
      </p:sp>
      <p:sp>
        <p:nvSpPr>
          <p:cNvPr id="21" name="TextBox 20"/>
          <p:cNvSpPr txBox="1"/>
          <p:nvPr/>
        </p:nvSpPr>
        <p:spPr>
          <a:xfrm>
            <a:off x="8458200" y="4206240"/>
            <a:ext cx="3246120" cy="1965960"/>
          </a:xfrm>
          <a:prstGeom prst="rect">
            <a:avLst/>
          </a:prstGeom>
          <a:noFill/>
        </p:spPr>
        <p:txBody>
          <a:bodyPr wrap="square" lIns="36000" rIns="36000" tIns="18000" bIns="18000">
            <a:spAutoFit/>
          </a:bodyPr>
          <a:lstStyle/>
          <a:p>
            <a:pPr algn="l">
              <a:lnSpc>
                <a:spcPct val="140000"/>
              </a:lnSpc>
              <a:spcBef>
                <a:spcPts val="300"/>
              </a:spcBef>
              <a:spcAft>
                <a:spcPts val="200"/>
              </a:spcAft>
            </a:pPr>
            <a:r>
              <a:rPr sz="1050">
                <a:solidFill>
                  <a:srgbClr val="334E68"/>
                </a:solidFill>
                <a:latin typeface="Calibri"/>
              </a:rPr>
              <a:t>•  app.py — the entry point &amp; theme.</a:t>
            </a:r>
          </a:p>
          <a:p>
            <a:pPr algn="l">
              <a:lnSpc>
                <a:spcPct val="140000"/>
              </a:lnSpc>
              <a:spcBef>
                <a:spcPts val="300"/>
              </a:spcBef>
              <a:spcAft>
                <a:spcPts val="200"/>
              </a:spcAft>
            </a:pPr>
            <a:r>
              <a:rPr sz="1050">
                <a:solidFill>
                  <a:srgbClr val="334E68"/>
                </a:solidFill>
                <a:latin typeface="Calibri"/>
              </a:rPr>
              <a:t>•  pages/ai_care.py — the AI brain.</a:t>
            </a:r>
          </a:p>
          <a:p>
            <a:pPr algn="l">
              <a:lnSpc>
                <a:spcPct val="140000"/>
              </a:lnSpc>
              <a:spcBef>
                <a:spcPts val="300"/>
              </a:spcBef>
              <a:spcAft>
                <a:spcPts val="200"/>
              </a:spcAft>
            </a:pPr>
            <a:r>
              <a:rPr sz="1050">
                <a:solidFill>
                  <a:srgbClr val="334E68"/>
                </a:solidFill>
                <a:latin typeface="Calibri"/>
              </a:rPr>
              <a:t>•  db.py — schema and dialect switching.</a:t>
            </a:r>
          </a:p>
          <a:p>
            <a:pPr algn="l">
              <a:lnSpc>
                <a:spcPct val="140000"/>
              </a:lnSpc>
              <a:spcBef>
                <a:spcPts val="300"/>
              </a:spcBef>
              <a:spcAft>
                <a:spcPts val="200"/>
              </a:spcAft>
            </a:pPr>
            <a:r>
              <a:rPr sz="1050">
                <a:solidFill>
                  <a:srgbClr val="334E68"/>
                </a:solidFill>
                <a:latin typeface="Calibri"/>
              </a:rPr>
              <a:t>•  .env.example — keys to bring your own.</a:t>
            </a:r>
          </a:p>
        </p:txBody>
      </p:sp>
      <p:sp>
        <p:nvSpPr>
          <p:cNvPr id="22" name="Rectangle 21"/>
          <p:cNvSpPr/>
          <p:nvPr/>
        </p:nvSpPr>
        <p:spPr>
          <a:xfrm>
            <a:off x="0" y="6565392"/>
            <a:ext cx="12191695" cy="29260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6601968"/>
            <a:ext cx="8229600" cy="228600"/>
          </a:xfrm>
          <a:prstGeom prst="rect">
            <a:avLst/>
          </a:prstGeom>
          <a:noFill/>
        </p:spPr>
        <p:txBody>
          <a:bodyPr wrap="square" lIns="36000" rIns="36000" tIns="18000" bIns="18000" anchor="t">
            <a:spAutoFit/>
          </a:bodyPr>
          <a:lstStyle/>
          <a:p>
            <a:pPr algn="l">
              <a:lnSpc>
                <a:spcPct val="120000"/>
              </a:lnSpc>
            </a:pPr>
            <a:r>
              <a:rPr sz="900" b="0" i="1">
                <a:solidFill>
                  <a:srgbClr val="64748B"/>
                </a:solidFill>
                <a:latin typeface="Calibri"/>
              </a:rPr>
              <a:t>IPCMS — Integrated Patient Care Management System</a:t>
            </a:r>
          </a:p>
        </p:txBody>
      </p:sp>
      <p:sp>
        <p:nvSpPr>
          <p:cNvPr id="24" name="TextBox 23"/>
          <p:cNvSpPr txBox="1"/>
          <p:nvPr/>
        </p:nvSpPr>
        <p:spPr>
          <a:xfrm>
            <a:off x="10607040" y="6601968"/>
            <a:ext cx="1280160" cy="228600"/>
          </a:xfrm>
          <a:prstGeom prst="rect">
            <a:avLst/>
          </a:prstGeom>
          <a:noFill/>
        </p:spPr>
        <p:txBody>
          <a:bodyPr wrap="square" lIns="36000" rIns="36000" tIns="18000" bIns="18000" anchor="t">
            <a:spAutoFit/>
          </a:bodyPr>
          <a:lstStyle/>
          <a:p>
            <a:pPr algn="r">
              <a:lnSpc>
                <a:spcPct val="120000"/>
              </a:lnSpc>
            </a:pPr>
            <a:r>
              <a:rPr sz="900" b="0" i="0">
                <a:solidFill>
                  <a:srgbClr val="64748B"/>
                </a:solidFill>
                <a:latin typeface="Calibri"/>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